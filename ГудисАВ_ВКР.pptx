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79" r:id="rId4"/>
    <p:sldId id="262" r:id="rId5"/>
    <p:sldId id="264" r:id="rId6"/>
    <p:sldId id="276" r:id="rId7"/>
    <p:sldId id="275" r:id="rId8"/>
    <p:sldId id="280" r:id="rId9"/>
    <p:sldId id="281" r:id="rId10"/>
    <p:sldId id="282" r:id="rId11"/>
    <p:sldId id="283" r:id="rId12"/>
    <p:sldId id="27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37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51191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 amt="8000"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65732" y="1676242"/>
            <a:ext cx="1026560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6000"/>
              <a:buFont typeface="Calibri"/>
              <a:buNone/>
              <a:defRPr sz="6000" b="1" i="0">
                <a:solidFill>
                  <a:srgbClr val="3B00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66114" y="4151965"/>
            <a:ext cx="8178266" cy="146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4380" y="3878981"/>
            <a:ext cx="2083725" cy="20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4400"/>
              <a:buFont typeface="Calibri"/>
              <a:buNone/>
              <a:defRPr b="1" i="0" cap="none">
                <a:solidFill>
                  <a:srgbClr val="3B00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08811" y="157569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2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B0076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20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9226617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308811" y="1127669"/>
            <a:ext cx="7718658" cy="5806"/>
          </a:xfrm>
          <a:prstGeom prst="straightConnector1">
            <a:avLst/>
          </a:prstGeom>
          <a:noFill/>
          <a:ln w="25400" cap="flat" cmpd="sng">
            <a:solidFill>
              <a:srgbClr val="3B007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49802" y="152675"/>
            <a:ext cx="920015" cy="88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4400"/>
              <a:buFont typeface="Calibri"/>
              <a:buNone/>
            </a:pPr>
            <a:r>
              <a:rPr lang="ru-RU" sz="4400" b="1" i="0" cap="none">
                <a:solidFill>
                  <a:srgbClr val="3B0076"/>
                </a:solidFill>
                <a:latin typeface="Calibri"/>
                <a:ea typeface="Calibri"/>
                <a:cs typeface="Calibri"/>
                <a:sym typeface="Calibri"/>
              </a:rPr>
              <a:t>Образец заголовка</a:t>
            </a:r>
            <a:endParaRPr sz="4400" b="1" i="0" cap="none">
              <a:solidFill>
                <a:srgbClr val="3B00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308811" y="1127669"/>
            <a:ext cx="7718658" cy="5806"/>
          </a:xfrm>
          <a:prstGeom prst="straightConnector1">
            <a:avLst/>
          </a:prstGeom>
          <a:noFill/>
          <a:ln w="25400" cap="flat" cmpd="sng">
            <a:solidFill>
              <a:srgbClr val="3B007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49802" y="152675"/>
            <a:ext cx="920015" cy="88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0076"/>
              </a:buClr>
              <a:buSzPts val="2800"/>
              <a:buFont typeface="Arial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2400"/>
              <a:buFont typeface="Arial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2000"/>
              <a:buFont typeface="Arial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1800"/>
              <a:buFont typeface="Arial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1800"/>
              <a:buFont typeface="Arial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B0076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007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4400"/>
              <a:buFont typeface="Calibri"/>
              <a:buNone/>
              <a:defRPr b="1" i="0" cap="none">
                <a:solidFill>
                  <a:srgbClr val="3B00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7" name="Google Shape;47;p6"/>
          <p:cNvCxnSpPr/>
          <p:nvPr/>
        </p:nvCxnSpPr>
        <p:spPr>
          <a:xfrm>
            <a:off x="308811" y="1127669"/>
            <a:ext cx="7718658" cy="5806"/>
          </a:xfrm>
          <a:prstGeom prst="straightConnector1">
            <a:avLst/>
          </a:prstGeom>
          <a:noFill/>
          <a:ln w="25400" cap="flat" cmpd="sng">
            <a:solidFill>
              <a:srgbClr val="3B007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49802" y="152675"/>
            <a:ext cx="920015" cy="88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 amt="8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965732" y="693019"/>
            <a:ext cx="10265607" cy="3370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4000"/>
              <a:buFont typeface="Times New Roman"/>
              <a:buNone/>
            </a:pPr>
            <a:r>
              <a:rPr lang="ru-RU" sz="4000" dirty="0">
                <a:latin typeface="Times New Roman"/>
                <a:ea typeface="Times New Roman"/>
                <a:cs typeface="Times New Roman"/>
                <a:sym typeface="Times New Roman"/>
              </a:rPr>
              <a:t>Исследование </a:t>
            </a:r>
            <a:r>
              <a:rPr lang="ru-RU" sz="4000" dirty="0" smtClean="0">
                <a:latin typeface="Times New Roman"/>
                <a:ea typeface="Times New Roman"/>
                <a:cs typeface="Times New Roman"/>
                <a:sym typeface="Times New Roman"/>
              </a:rPr>
              <a:t>модифицированного метода </a:t>
            </a:r>
            <a:r>
              <a:rPr lang="ru-RU" sz="4000" dirty="0">
                <a:latin typeface="Times New Roman"/>
                <a:ea typeface="Times New Roman"/>
                <a:cs typeface="Times New Roman"/>
                <a:sym typeface="Times New Roman"/>
              </a:rPr>
              <a:t>Отелло-хеширования для доступа к таблицам классификации в архитектуре сетевого процессорного устройства</a:t>
            </a:r>
            <a:endParaRPr sz="4000" b="1" dirty="0">
              <a:solidFill>
                <a:srgbClr val="3B007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1608309" y="4035144"/>
            <a:ext cx="8178266" cy="256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Гудис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 Вячеславович,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421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к.ф.-м.н., доцент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Волканов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Дмитрий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Юрьевич</a:t>
            </a:r>
          </a:p>
          <a:p>
            <a:pPr marL="0" lvl="0" indent="0" algn="r">
              <a:buSzPts val="20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консультант:</a:t>
            </a:r>
          </a:p>
          <a:p>
            <a:pPr marL="0" indent="0" algn="r">
              <a:buSzPts val="2000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Аспирант, Александров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Алексей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Владимирович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ru-RU" dirty="0" smtClean="0"/>
              <a:t>Постановка и описание </a:t>
            </a:r>
            <a:r>
              <a:rPr lang="ru-RU" dirty="0" smtClean="0"/>
              <a:t>задачи</a:t>
            </a:r>
            <a:endParaRPr dirty="0"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308811" y="157569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>
              <a:buSzPts val="2400"/>
              <a:buNone/>
            </a:pPr>
            <a:r>
              <a:rPr lang="ru-RU" sz="2000" b="1" dirty="0"/>
              <a:t>Дано</a:t>
            </a:r>
            <a:r>
              <a:rPr lang="ru-RU" sz="2000" dirty="0"/>
              <a:t>: имеется сетевое процессорное устройство (СПУ), производящее обработку поступающих на него сетевых пакетов по заранее заданным правилам с помощью таблицы классификации </a:t>
            </a:r>
            <a:r>
              <a:rPr lang="ru-RU" sz="2000" dirty="0" smtClean="0"/>
              <a:t>MAC-VLAN</a:t>
            </a:r>
          </a:p>
          <a:p>
            <a:pPr marL="228600" lvl="0" indent="-228600" algn="just">
              <a:buSzPts val="2400"/>
            </a:pPr>
            <a:endParaRPr lang="ru-RU" sz="2000" dirty="0"/>
          </a:p>
          <a:p>
            <a:pPr marL="0" lvl="0" indent="0" algn="just">
              <a:buSzPts val="2400"/>
              <a:buNone/>
            </a:pPr>
            <a:r>
              <a:rPr lang="ru-RU" sz="2000" b="1" dirty="0" smtClean="0"/>
              <a:t>Задача: </a:t>
            </a:r>
            <a:r>
              <a:rPr lang="ru-RU" sz="2000" dirty="0"/>
              <a:t>р</a:t>
            </a:r>
            <a:r>
              <a:rPr lang="ru-RU" sz="2000" dirty="0" smtClean="0"/>
              <a:t>азработать </a:t>
            </a:r>
            <a:r>
              <a:rPr lang="ru-RU" sz="2000" dirty="0"/>
              <a:t>и исследовать способ представления таблицы классификации MAC-VLAN в архитектуре сетевого процессорного устройства на основе модифицированного метода Отелло хеширования</a:t>
            </a:r>
            <a:r>
              <a:rPr lang="ru-RU" sz="2000" dirty="0" smtClean="0"/>
              <a:t>.</a:t>
            </a:r>
          </a:p>
          <a:p>
            <a:pPr marL="0" lvl="0" indent="0" algn="just">
              <a:buSzPts val="2400"/>
              <a:buNone/>
            </a:pPr>
            <a:endParaRPr lang="ru-RU" sz="2000" dirty="0"/>
          </a:p>
          <a:p>
            <a:pPr marL="0" lvl="0" indent="0" algn="just">
              <a:buSzPts val="2400"/>
              <a:buNone/>
            </a:pPr>
            <a:r>
              <a:rPr lang="ru-RU" sz="2000" b="1" dirty="0" smtClean="0"/>
              <a:t>Требуется:</a:t>
            </a:r>
            <a:endParaRPr lang="ru-RU" sz="2000" dirty="0"/>
          </a:p>
          <a:p>
            <a:pPr marL="342900" indent="-342900" algn="just">
              <a:buSzPts val="2400"/>
            </a:pPr>
            <a:r>
              <a:rPr lang="ru-RU" sz="2000" dirty="0" smtClean="0"/>
              <a:t>Реализовать операцию поиска </a:t>
            </a:r>
            <a:r>
              <a:rPr lang="ru-RU" sz="2000" dirty="0"/>
              <a:t>правила по ключу MAC-VLAN;</a:t>
            </a:r>
          </a:p>
          <a:p>
            <a:pPr marL="342900" indent="-342900" algn="just">
              <a:buSzPts val="2400"/>
            </a:pPr>
            <a:r>
              <a:rPr lang="ru-RU" sz="2000" dirty="0" smtClean="0"/>
              <a:t>Предоставить поддержку динамических операций </a:t>
            </a:r>
            <a:r>
              <a:rPr lang="ru-RU" sz="2000" dirty="0"/>
              <a:t>вставки, удаления и обновления правила;</a:t>
            </a:r>
          </a:p>
          <a:p>
            <a:pPr marL="342900" indent="-342900" algn="just">
              <a:buSzPts val="2400"/>
            </a:pPr>
            <a:r>
              <a:rPr lang="ru-RU" sz="2000" dirty="0" smtClean="0"/>
              <a:t>Минимизировать представление </a:t>
            </a:r>
            <a:r>
              <a:rPr lang="ru-RU" sz="2000" dirty="0"/>
              <a:t>структуры по памяти</a:t>
            </a:r>
            <a:r>
              <a:rPr lang="ru-RU" sz="2000" dirty="0" smtClean="0"/>
              <a:t>;</a:t>
            </a:r>
          </a:p>
          <a:p>
            <a:pPr marL="342900" indent="-342900" algn="just">
              <a:buSzPts val="2400"/>
            </a:pPr>
            <a:r>
              <a:rPr lang="ru-RU" sz="2000" dirty="0" smtClean="0"/>
              <a:t>Обеспечить стоимость операций в контексте вызовов хеш-функций, обращений к памяти и времени выполнения не хуже алгоритма Кукушкиного хеширования.</a:t>
            </a:r>
          </a:p>
          <a:p>
            <a:pPr marL="0" lvl="0" indent="0" algn="just">
              <a:buSzPts val="2400"/>
              <a:buNone/>
            </a:pPr>
            <a:endParaRPr lang="ru-RU" sz="2000" dirty="0" smtClean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Гудис А. В.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9226617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Мотивация к модификации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50800" indent="0" algn="just">
              <a:buNone/>
            </a:pPr>
            <a:r>
              <a:rPr lang="ru-RU" b="1" dirty="0"/>
              <a:t>В курсовой работе:</a:t>
            </a:r>
            <a:endParaRPr lang="ru-RU" dirty="0"/>
          </a:p>
          <a:p>
            <a:pPr algn="just"/>
            <a:r>
              <a:rPr lang="ru-RU" dirty="0" smtClean="0"/>
              <a:t>реализована </a:t>
            </a:r>
            <a:r>
              <a:rPr lang="ru-RU" dirty="0"/>
              <a:t>первичная версия метода Отелло для таблицы MAC-VLAN; </a:t>
            </a:r>
          </a:p>
          <a:p>
            <a:pPr algn="just"/>
            <a:r>
              <a:rPr lang="ru-RU" dirty="0" smtClean="0"/>
              <a:t>Реализована схема на </a:t>
            </a:r>
            <a:r>
              <a:rPr lang="ru-RU" dirty="0"/>
              <a:t>основе нескольких параллельных </a:t>
            </a:r>
            <a:r>
              <a:rPr lang="ru-RU" dirty="0" smtClean="0"/>
              <a:t>Отелло для </a:t>
            </a:r>
            <a:r>
              <a:rPr lang="ru-RU" dirty="0" err="1" smtClean="0"/>
              <a:t>многоклассовой</a:t>
            </a:r>
            <a:r>
              <a:rPr lang="ru-RU" dirty="0" smtClean="0"/>
              <a:t> классификации по действиям;  </a:t>
            </a:r>
            <a:endParaRPr lang="ru-RU" dirty="0"/>
          </a:p>
          <a:p>
            <a:pPr algn="just"/>
            <a:r>
              <a:rPr lang="ru-RU" dirty="0" smtClean="0"/>
              <a:t>подтверждена </a:t>
            </a:r>
            <a:r>
              <a:rPr lang="ru-RU" dirty="0"/>
              <a:t>применимость подхода и выполнено первичное сравнение с кукушкиным хешированием. </a:t>
            </a:r>
            <a:endParaRPr lang="ru-RU" dirty="0" smtClean="0"/>
          </a:p>
          <a:p>
            <a:pPr algn="just"/>
            <a:endParaRPr lang="ru-RU" dirty="0"/>
          </a:p>
          <a:p>
            <a:pPr marL="50800" indent="0" algn="just">
              <a:buNone/>
            </a:pPr>
            <a:r>
              <a:rPr lang="ru-RU" b="1" dirty="0"/>
              <a:t>Ограничения </a:t>
            </a:r>
            <a:r>
              <a:rPr lang="ru-RU" b="1" dirty="0" smtClean="0"/>
              <a:t>реализации</a:t>
            </a:r>
            <a:r>
              <a:rPr lang="ru-RU" b="1" dirty="0"/>
              <a:t>:</a:t>
            </a:r>
            <a:endParaRPr lang="ru-RU" dirty="0"/>
          </a:p>
          <a:p>
            <a:pPr algn="just"/>
            <a:r>
              <a:rPr lang="ru-RU" dirty="0"/>
              <a:t>высокая зависимость от универсальных библиотечных структур графа; </a:t>
            </a:r>
          </a:p>
          <a:p>
            <a:pPr algn="just"/>
            <a:r>
              <a:rPr lang="ru-RU" dirty="0"/>
              <a:t>недостаточно чёткое разделение между </a:t>
            </a:r>
            <a:r>
              <a:rPr lang="ru-RU" dirty="0" smtClean="0"/>
              <a:t>структурой поиска и управления Отелло; </a:t>
            </a:r>
            <a:endParaRPr lang="ru-RU" dirty="0"/>
          </a:p>
          <a:p>
            <a:pPr algn="just"/>
            <a:r>
              <a:rPr lang="ru-RU" dirty="0"/>
              <a:t>отсутствие полноценной отдельной </a:t>
            </a:r>
            <a:r>
              <a:rPr lang="ru-RU" dirty="0" smtClean="0"/>
              <a:t>операции </a:t>
            </a:r>
            <a:r>
              <a:rPr lang="en-GB" dirty="0" smtClean="0"/>
              <a:t>alter (</a:t>
            </a:r>
            <a:r>
              <a:rPr lang="ru-RU" dirty="0" smtClean="0"/>
              <a:t>обновления) существующего правила в таблице  </a:t>
            </a:r>
            <a:r>
              <a:rPr lang="en-GB" dirty="0" smtClean="0"/>
              <a:t>MAC-VLAN</a:t>
            </a:r>
            <a:r>
              <a:rPr lang="ru-RU" dirty="0" smtClean="0"/>
              <a:t>; </a:t>
            </a:r>
            <a:endParaRPr lang="en-GB" dirty="0" smtClean="0"/>
          </a:p>
          <a:p>
            <a:pPr algn="just"/>
            <a:r>
              <a:rPr lang="ru-RU" dirty="0"/>
              <a:t>н</a:t>
            </a:r>
            <a:r>
              <a:rPr lang="ru-RU" dirty="0" smtClean="0"/>
              <a:t>евозможность динамического расширения структуры при добавлении новых правил;</a:t>
            </a:r>
          </a:p>
          <a:p>
            <a:pPr algn="just"/>
            <a:r>
              <a:rPr lang="ru-RU" dirty="0"/>
              <a:t>б</a:t>
            </a:r>
            <a:r>
              <a:rPr lang="ru-RU" dirty="0" smtClean="0"/>
              <a:t>ольшие накладные расходы на работу с графом;</a:t>
            </a:r>
            <a:endParaRPr lang="ru-RU" dirty="0"/>
          </a:p>
          <a:p>
            <a:pPr algn="just"/>
            <a:r>
              <a:rPr lang="ru-RU" dirty="0"/>
              <a:t>ограниченная пригодность к </a:t>
            </a:r>
            <a:r>
              <a:rPr lang="ru-RU" dirty="0" smtClean="0"/>
              <a:t>динамическому </a:t>
            </a:r>
            <a:r>
              <a:rPr lang="ru-RU" dirty="0"/>
              <a:t>изменению </a:t>
            </a:r>
            <a:r>
              <a:rPr lang="ru-RU" dirty="0" smtClean="0"/>
              <a:t>таблицы: плохие показатели времени вставки правила. </a:t>
            </a:r>
          </a:p>
          <a:p>
            <a:pPr algn="just"/>
            <a:endParaRPr lang="ru-RU" dirty="0"/>
          </a:p>
          <a:p>
            <a:pPr marL="50800" indent="0" algn="just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46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4400"/>
              <a:buFont typeface="Calibri"/>
              <a:buNone/>
            </a:pPr>
            <a:r>
              <a:rPr lang="ru-RU" dirty="0"/>
              <a:t>Отелло </a:t>
            </a:r>
            <a:r>
              <a:rPr lang="ru-RU" dirty="0" smtClean="0"/>
              <a:t>хеширование</a:t>
            </a:r>
            <a:endParaRPr dirty="0"/>
          </a:p>
        </p:txBody>
      </p:sp>
      <p:sp>
        <p:nvSpPr>
          <p:cNvPr id="145" name="Google Shape;145;p20"/>
          <p:cNvSpPr txBox="1">
            <a:spLocks noGrp="1"/>
          </p:cNvSpPr>
          <p:nvPr>
            <p:ph type="body" idx="1"/>
          </p:nvPr>
        </p:nvSpPr>
        <p:spPr>
          <a:xfrm>
            <a:off x="308811" y="1575693"/>
            <a:ext cx="5087631" cy="81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2000"/>
              <a:buNone/>
            </a:pPr>
            <a:r>
              <a:rPr lang="ru-RU" sz="2000" b="1" dirty="0" smtClean="0"/>
              <a:t>Отелло хеширование </a:t>
            </a:r>
            <a:r>
              <a:rPr lang="ru-RU" sz="2000" dirty="0" smtClean="0"/>
              <a:t>– </a:t>
            </a:r>
            <a:r>
              <a:rPr lang="ru-RU" sz="2000" dirty="0"/>
              <a:t>структура </a:t>
            </a:r>
            <a:r>
              <a:rPr lang="ru-RU" sz="2000" dirty="0" smtClean="0"/>
              <a:t>данных, состоящая из: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ts val="2000"/>
              <a:buChar char="•"/>
            </a:pPr>
            <a:endParaRPr dirty="0"/>
          </a:p>
        </p:txBody>
      </p:sp>
      <p:sp>
        <p:nvSpPr>
          <p:cNvPr id="146" name="Google Shape;14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Гудис А.В.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9226617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298248" y="2388556"/>
            <a:ext cx="500137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ru-RU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Структура запроса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algn="just"/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Отвечает за операцию поиска, 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эффективна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 памяти и времени запроса,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не занимается обновлением.</a:t>
            </a:r>
            <a:endParaRPr lang="en-GB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С</a:t>
            </a:r>
            <a:r>
              <a:rPr lang="ru-RU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труктура управления.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ыполняет операции построения, вставки, обновления таблицы правил, а также публикации актуальной структуры поиска.</a:t>
            </a:r>
          </a:p>
        </p:txBody>
      </p:sp>
      <p:pic>
        <p:nvPicPr>
          <p:cNvPr id="1027" name="Picture 3" descr="C:\Users\Александр\OneDrive\Рабочий стол\Я\MSU\ВКР\Рисунки\Отелло (общая схема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442" y="1424515"/>
            <a:ext cx="5991225" cy="235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96442" y="3937000"/>
            <a:ext cx="6837128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>
              <a:buClr>
                <a:srgbClr val="3B0076"/>
              </a:buClr>
              <a:buSzPts val="2000"/>
            </a:pP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Ключевые параметры:</a:t>
            </a:r>
          </a:p>
          <a:p>
            <a:pPr marL="228600" lvl="0" indent="-228600" algn="just">
              <a:buClr>
                <a:srgbClr val="3B0076"/>
              </a:buClr>
              <a:buSzPts val="2000"/>
              <a:buChar char="•"/>
            </a:pP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– множество имен/набор правил таблицы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MAC-VLAN, </a:t>
            </a: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= |S|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количество правил</a:t>
            </a:r>
          </a:p>
          <a:p>
            <a:pPr marL="228600" lvl="0" indent="-228600" algn="just">
              <a:spcBef>
                <a:spcPts val="600"/>
              </a:spcBef>
              <a:buClr>
                <a:srgbClr val="3B0076"/>
              </a:buClr>
              <a:buSzPts val="2000"/>
              <a:buChar char="•"/>
            </a:pPr>
            <a:r>
              <a:rPr lang="ru-RU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Othello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кортеж из (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ma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mb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ha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a, b, G) </a:t>
            </a:r>
          </a:p>
          <a:p>
            <a:pPr marL="228600" lvl="0" indent="-228600" algn="just">
              <a:spcBef>
                <a:spcPts val="600"/>
              </a:spcBef>
              <a:buClr>
                <a:srgbClr val="3B0076"/>
              </a:buClr>
              <a:buSzPts val="200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Битовые массивы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. Длины равны </a:t>
            </a: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ma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mb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соответственно</a:t>
            </a:r>
          </a:p>
          <a:p>
            <a:pPr marL="228600" lvl="0" indent="-228600" algn="just">
              <a:spcBef>
                <a:spcPts val="600"/>
              </a:spcBef>
              <a:buClr>
                <a:srgbClr val="3B0076"/>
              </a:buClr>
              <a:buSzPts val="2000"/>
              <a:buChar char="•"/>
            </a:pP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ha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– хеш-функции со значениями {0,1,··· ,ma−1} и {0,1,··· ,mb−1} соответственно.</a:t>
            </a:r>
          </a:p>
          <a:p>
            <a:pPr marL="228600" lvl="0" indent="-228600" algn="just">
              <a:spcBef>
                <a:spcPts val="600"/>
              </a:spcBef>
              <a:buSzPts val="200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Двудольный граф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. Используется для определения значений в a и b. </a:t>
            </a:r>
            <a:endParaRPr lang="ru-R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0076"/>
              </a:buClr>
              <a:buSzPct val="100000"/>
              <a:buFont typeface="Calibri"/>
              <a:buNone/>
            </a:pPr>
            <a:r>
              <a:rPr lang="ru-RU" dirty="0"/>
              <a:t>Отелло хеширование. </a:t>
            </a:r>
            <a:r>
              <a:rPr lang="ru-RU" dirty="0"/>
              <a:t>О</a:t>
            </a:r>
            <a:r>
              <a:rPr lang="ru-RU" dirty="0" smtClean="0"/>
              <a:t>перации</a:t>
            </a:r>
            <a:endParaRPr dirty="0"/>
          </a:p>
        </p:txBody>
      </p:sp>
      <p:sp>
        <p:nvSpPr>
          <p:cNvPr id="165" name="Google Shape;16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Гудис А.В.</a:t>
            </a:r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xfrm>
            <a:off x="9226617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2" name="AutoShape 2" descr="data:image/png;base64,iVBORw0KGgoAAAANSUhEUgAAAnQAAAUECAYAAABV7I2AAAAQAElEQVR4AezdCfxtU/3/8bVpIMUtY0KkMtQvQ+aUqzLVX75JisT9/cRPJUO/EDIPmUqaVFQuJTLdQmZu5oooUmS4V2QOJXlU8j/vfe1z197fM+yzz95rr7X36z6+5549ruG5zvd7PmetvdeZx/APAQQQQAABBBBAIGgBArqgm4/CI4AAAq4EyAcBBHwWIKDzuXUoGwIIIIAAAgggkEOAgC4HEoe4ESAXBBBAAAEEECgmQEBXzI2zEEAAAQQQQKAeAXLtIUBA1wOFTQgggAACCCCAQEgCBHQhtRZlRQABNwLkggACCAQmQEAXWINRXAQQQAABBBBAICtAQJcVcbNOLggggAACCCCAQGkCBHSlUZIQAggggAACZQuQHgL5BAjo8jlxFAIIIIAAAggg4K0AAZ23TUPBEHAjQC4IIIAAAuELENCF34bUAAEEEEAAAQRaLuAgoGu5MNVHAAEEEEAAAQQqFiCgqxiY5BFAAAEEcgpwGAIIFBYgoCtMx4kIIIAAAggggIAfAgR0frQDpXAjQC4IIIAAAgg0UoCArpHNSqUQQAABBBBAoLhAeGcS0IXXZpQYAQQQQAABBBBICRDQpThYQQABBNwIkAsCCCBQpgABXZmapIUAAggggAACCNQgQEBXA7qbLMkFAQQQQAABBNoiQEDXlpamnggggAACCPQSYFsjBAjoGtGMVAIBBBBAAAEE2ixAQNfm1qfuCLgRIBcEEEAAgYoFCOgqBiZ5BBBAAAEEEECgaoFmBHRVK5E+AggggAACCCDgsQABnceNQ9EQQAABBMoVIDUEmipAQNfUlqVeCCCAAAIIINAaAQK61jQ1FXUjQC4IIIAAAgi4FyCgc29OjggggAACCCDQdoGS609AVzIoySGAAAIIIIAAAq4FCOhci5MfAggg4EaAXBBAoEUCBHQtamyqigACCCCAAALNFCCga2a7uqkVuSCAAAIIIICAFwIEdF40A4VAAAEEEECguQLUrHoBArrqjckBAQQQQAABBBCoVICArlJeEkcAATcC5IIAAgi0W4CArt3tX2Xtv9NJ/AUeBgODAb8HvAZ4DYz1GtD7SYeQn0ECBHSDdKx9LI4sMDHyGZyAAAIIIIDAZIHzJm9iS1aAgC4rwnoZApt1Elm08+AHAQQQaJsA9S1X4LFOchd1HvwMESCgGwLE7kIC9M4VYuMkBBBAAIGMAL1zGZB+qwR0/WTYPo7AB+2Tf/azn5kXXniBR1kGpMNridcAr4GGvgYWWWQR++1DyzP0H4/hAgR0w404YjSB1HDroosuajbbTJtGS4SjEUAAAQTaJXDRRReZxx9/3K40w622xpDlXgHdkFPYjcBAgdRw68TExMCD2YkAAggggIAEzjtv0ujqpA06jkdvAQK63i5sLS6QGm794AdTq8VT5UwEEPBQgCIhUJ5Aj4CO4dYReAnoRsDi0KECGlvt3t3KcOtQLw5AAAEEEOgIMNzaQRjzh4BuTEBOTwmkxlfLGG5Npc4KAggggEAjBXr0zjHcOmJLE9CNCMbhAwVS46sMtw60YicCCCCAwIsCPQK6UYdbX0ypvU8EdO1t+7JrznBr2aKkhwACCLRAgOHWchqZgK4cR1IxhuFWw79GC1A5BBCoRKBH7xzDrQWkCegKoHFKTwGGW3uysBEBBBBAYJDAjBkzsrsnbcgewPpkAQK6ySZ1bQk5X4ZbQ249yo4AAgjUJKDh1sce0/zB3QJohe9u7XLkXyCgy2/Fkf0FGG7tb8MeBBBAoGSB5iTHcGt5bUlAV55lm1NiuLXNrU/dEUAAgYICDLcWhOtxGgFdDxQ2jSTAcOtIXGEcTCkRQACBqgUYbi1XmICuXM82psZwaxtbnTojgAACYwow3DomYOb0mgK6TClYDVmA4daQW4+yI4AAAjUJMNxaLjwBXbmebUuN4da2tTj1RcC1APk1UoDh1vKblYCufNM2pchwa5tam7oigAACJQkw3FoSpJUMAZ2FweLIAk0Ybh250pyAAAIIIDCeAMOt4/n1OpuArpcK2/IIMNyaR4ljEEAAAQRSAuEOt6aq4d0KAZ13TRJMgRhuDaapKCgCCCDgjwDDrdW0BQFdNa5tSJXh1ja0MnV0KkBmCLRBgOHWalqZgK4a16anynBr01uY+iGAAAIVCDDcWgHqi0kS0L0I0Y6n0mrJcGtplCSEAAIItEeA4dbq2pqArjrbJqfMcGuTW5e6IYAAAhUJMNxaEWwnWQK6DgI/Iwkw3DoSFwcjgAACCEiA4VYpVPcgoKvOtqkpM9za1JZ1Wy9yQwCBlgkw3FptgxPQVevbxNQZbm1iq1InBBBAoGIBhlurBW5uQFetW1tTZ7i1rS1PvRFAAIExBBhuHQMv56kEdDmhOCwWYLg1ZuA/BBBokgB1qV6A4dbqjQnoqjduUg4MtzapNakLAggg4EiA4dbqoQnoqjduSg4MtxZuSU5EAAEE2ivAcKubtiegc+PchFwYbm1CK1IHBBBAwLEAw60jgI9xKAHdGHgtO5Xh1pY1ONVFAAEEyhBguLUMxeFpENANN+IIYxhu5VWAQDMEqAUCTgUYbnXHTUDnzjrknBhuDbn1KDsCCCBQkwDDre7gCejcWYecU/7h1pBrSdkRQAABBEoVYLi1VM6BiRHQDeRhZ0eA4dYOAj8IIIAAAqMJDBtuHS01jh4mQEA3TIj9DLfyGkAAAQQQGFmA4daRycY6gYBuLL5WnMxwayuauYmVpE4IIFCnAMOtbvUJ6Nx6h5Ybw62htRjlRQABBDwQYLjVfSMQ0I1h3oJTGW5tQSNTRQQQQKBsAYZbyxYdnh4B3XCjNh/BcGubW5+6I4BAWQKtS4fhVvdNTkDn3jyUHBluDaWlKCcCCCDgkQDDrfU0BgFdPe4h5MpwawitlJSRZwQQQMATAYZb62kIArp63EPIleHWEFqJMiKAAAKeCTDcWk+D5A3o6ikdudYlwHBrXfLkiwACCAQswHBrfY1HQFefvc85M9zqc+tQNgS8FqBwbRZguLW+1iegq8/e55wZbvW5dSgbAggg4KkAw631NQwBXX32vubs/XCrr3CUCwEEEGizAMOt9bY+AV29/j7mznCrj61CmRBAAAHPBTwcbvVcrNziEdCV69mE1BhubUIrUgcEEEDAsQDDrY7BM9kR0GVAWr7KcGvLXwBUf0QBDkcAgViA4daYodb/COhq5fcuc4ZbvWsSCoQAAgj4L8Bwa/1tREBXfxsMKoHrfQy3uhYnPwQQQKABAgy31t+IBHT1t4EvJWC41ZeWoBwIIIDAyAL1ncBwa332ds4EdLZGu5cZbm13+1N7BBBAoJAAw62F2Eo/iYCudNJgE2S4Ndimc1NwckEAAQR6CTDc2kvF/TYCOvfmPubIcKuPrUKZEEAAAc8FGG71p4E8Cuj8QWlhSRhubWGjU2UEEEBgXAGGW8cVLO98ArryLENOieHWkFuPsiPQNgHq640Aw63eNIUhoPOnLeoqCcOtdcmTLwIIIBCwAMOtfjUeAZ1f7VFHaRhunazOFgQQQACBIQIMtw4BcrybgM4xuIfZMdzqYaNQJAQQQMB3AYZb1UL+PAjo/GmLOkrCcGsd6uSJAAIIBC7AcKt/DUhA51+buCwRw60utckLgQICnIKAjwIMt/rXKgR0/rWJyxIx3OpSm7wQQACBhggw3OpfQxLQ+dcmrkr04nDrnOwWXXRRs9lm2jRnnf8RQAABBBDoJcBway+V+rcR0NXfBnWVgOHWuuTJFwEEEAhR4MUyM9z6IoRnTwR0njWIw+Iw3OoQm6wQQACBpggw3OpnSxLQ+dkuVZdKY6uLJpkw3JpI8FyzANkjgIDnAgy3+ttABHT+tk2VJWO4tUpd0kYAAQQaKsBwq78N266Azt92cF0yhltdi5MfAggg0AABhlv9bUQCOn/bpqqSMdxalSzpIoBAYwSoyGQBhlsnm/i0hYDOp9ZwUxaGW904kwsCCCDQKAGGW/1uTgI6v9unitIx3FqF6shpcgICCCAQlgDDrX63FwGd3+1TdukYbi1blPQQQACBFggw3FpjI+fMmoAuJ1RDDmO4tSENSTUQQAABlwIMt7rULpYXAV0xt1DPYrg11Jaj3AhUJ0DKCAwVYLh1KFHtBxDQ1d4EzgrAcKszajJCAAEEmiPAcGsYbUlAF0Y7lVHK+oZbyyg9aSCAAAII1CLAcGst7CNnSkA3MlmwJzDcGmzTUXAEEECgPgGXw6311TL8nAnowm/DPDVguDWPEscggAACCKQEGG5NcXi9QkDndfOUVjiGW0ujJKGwBSg9AgiMIsBw6yha9R5LQFevv6vcGW51JU0+CCCAQIMEGG4NpzEJ6EpuKw+TY7jVw0ahSAgggIDvAgy3+t5C6fIR0KU9mrjGcGsTW5U6IYBA6ALel5/hVu+bKFVAAroURyNXGG5tZLNSKQQQQKBaAYZbq/UtO3UCurJF/UqP4Va/2sNtacgNAQQQKCjAcGtBuBpPI6CrEd9B1gy3OkAmCwQQQKBpAgy3htei4wR04dW2fSVmuLV9bU6NEUAAgbEFGG4dm9B5AgR0zsmdZchwqzNqMkIAgcEC7A1JgOHWkFprblkJ6OZaNG2J4damtSj1QQABBBwIMNzqALmCLAjoKkD1JMlWDbd6Yk4xEEAAgeAFGG4NswkJ6MJst2GlZrh1mBD7EUAAAQQmCbRguHVSnZuygYCuKS2ZrgfDrWkP1hBAAAEEcggw3JoDydNDCOg8bZgxi8Vw65iAnI5AYQFORCBgAYZbw208Arpw265fyRlu7SfDdgQQQACBvgIMt/alCWIHAV0QzZQq5LAVhluHCbEfAQQQQGCSAMOtk0iC2kBAF1Rz5Sosw625mMI+6JlnnjFTp041URR1HzvssMPIlbrzzjvNLrvsYhZffPFuOlEUxWkrj5ET5ARnAueffz5t5kw71IxGKzfDraN5+XY0AZ1vLTJeeRhuHc+vNWf/4x//MHvttZdZccUVzbe//W3z6KOPtqbuVBQBBCYLMNw62SS0LQR0obXY4PIy3DrYh70dgaefftpsv/325rjjjuusjffD2Qgg0AwBhlvDb0cCuvDb0K4Bw622BsuTBF544YW4R+7ss8+etO+lL32pWXrppePHEkssEQ/nTTqIDQgg0EgBhlvDb1bPA7rwgR3WgOFWh9ihZnXPPfeYr3zlK6niK4i79NJLjYZh77//fqPHGWecYRZYYIHUcawggEAzBRhubUa7EtA1ox1VC4ZbpcCjr4B6577+9a+bhx56qHvMK17xCnPWWWeZjTbayMw777zd7SwgEJwABS4swHBrYTqvTiSg86o5xioMw61j8TX/5FmzZpnsUOtOO+1k1lprreZXnhoigEBfAYZb+9IEtYOALqjm6ltYhlv70pS2I/iEfvzjH5sHH3ywW49FFlnEKKCLoqi7jQUEEGiXAMOtzWlvArpmtCXDrc1ox8pq8cgjj5hTTjklenJPhgAAEABJREFUlf5HPvIRs/LKK6e2sYIAAu0SYLi1ivauJ00Cunrcy86V4dayRRuW3lVXXWX+8Ic/dGv1spe9zHzsYx8b+U7Wo48+Oj4niqKxn3XTxc0339wtk72QzUeTKOed6Pj55583119/vfnoRz9qFltssVQ5X/Oa15hNN900vm7w73//u53lpGVda/j617++e/6g8k46ubNh3PM7SZT+869//cscfPDB3TpF0Zx2fPe7323+8pe/lJ4fCfovwHCr/22Ut4QEdHml/D2O4VZ/28aLkmneua985Supsmy44YZm1VVXTW1rwsrPf/5zs8IKK5h3vOMd5swzzzSPPfZYqlpPPvmkueSSS8zWW29tllxyyfgY3SySOiiAlSJFVD2PP/54c8ghh6RO12tB11Yq2E3tYKXxAgy3NquJCejCb88JuwoTExP2KssIGH1F1C9+8YuUxLRp08z888+f2hbyioIV3cGrniZNzZKnLn/961/jXjwFOOq5ynNOqMfI59hjjzX77LNPqgrvfOc7zemnn24I5lIsrVlhuLVZTU1AF357VjDcGj4KNZgj8MADD5gjjjhizsqL/7/lLW8xCnxeXB3rSTdWKDjUzRXDHttuu63RUO9YGfY5+dxzzzW77767+c9//pM6QpMlb7HFFvHNH/p2DA2hpg7orCigU8+Vgp7OauN+VK/p06ebfffdN1U3BXO6UUaTSKd2sNIaAYZbm9XUBHRhtyfDrWG3X6WlV6/ToYceauxr55Th5z//+fjaMi2P+1Bw+LWvfc185zvfGfrQV41VETz87ne/M7vssksqmNP8eqeddprRdXJ601L5FNTMmjXL6PjscPMBBxxgrr322nE5vDxfwe6OO+6Y8lljjTXinrkq2sNLBAo1SaC04dZJKbOhLgECurrky8l3wk6G4VZbo73LTz31lPnJT34Szy930kknpSDUi6a7W1MbA17597//bdS79vjjj3drMWXKFHPZZZeZ7bbbzqiHrrvjxQXd2XvFFVeY9ddf/8Utxvzzn/80Cury3njRPdHzhXPOOSe+XtDuuVQwp6G2pZZayvPSU7wqBfQayKR/Xmad1cAECOgCa7BMcRluzYC0efXUU0+N71589atfbRTc33rrrSmOPffc05xwwgk9g5zUgX6tDCzNH//4R5N9Y1IP5HrrrTfwPF0zduSRR6aGgH/+85+bCy64YOB5Ie28/PLLzSc+8YlJPXPyIpgLqSWrKat6rjMpz8issxqYAAFdYA1mFZfhVguDxf4Cq6yyirnuuuvMl770pUbdCKEaX3311anpNlZccUUzbdo07Rr6UE+V7vC0D1TPpnr97G3Jsnrx9H23ybrPz7/85S/Nhz/8YaPe2qScGh7X3awEc4lIe58Zbm1m2xPQhduuE3bRJyYm7FWWEegK/OY3vzG6IUDBT3djAxYUeGlo1a7Ke97zntzXB+ou3w9+MNXJbRQIPfHEE3aS3WXlp2lPuhs8XVAdNtlkE5MN5i688ELT66YQT6tBsSoUUC9tJnmGWzMgIa4S0IXYanPKnHonyr4xzTmE/9sksNVWW5nbbrstHlZdfvnlU1XXVB66s1VTe+iux9TOQFf+9re/mdmzZ6dKv+6668bDzqmNA1bUa/WSl7yke8TDDz9sdGewNrzqVa8yyy23nBa7Dw3xdlc8XLjjjjvMNttskwrmlllmGfPTn/6UYK6E9mpKEgy3NqUl0/UgoEt7hLLGcGsoLeWwnLqz861vfavZbbfdzJ133mn0bQt29row/jOf+YzRfGRNCOrUW5YEX6qnArNRe6AWXnhhs+CCC+r0+PHss8+aRx99NF5+5Stfad74xjfGy8l/l156qfF12PWuu+4ym2++ubn33nuT4sbP999/f/zNGfEK/7VegOHW5r4E5mlu1Rpds9T46sTERKMr257KlVfTeeed1+y1116TgjrloPnINJWFlkN56IYF9ZhF0ZyvqoqiyKgXUj1qSR00x52GUZP1PM9TpkwxCtzsYzW0mqx/4AMfSBbjZ33LhKZp8TEg1leNJcFoXFjrv4MOOshoyhZrE4stFWC4tbkNT0AXZtsy3BpmuzktdRRFRne2aqoSO2P11Cmoyw5X2sewPEdgnXXWMRqWnbM2539928Jhhx3Wt6dO1+CdddZZ8XWL6h2bc5bb/+eZJ/2nXb12hxxyiNHchG5LQm6+CTDc6luLFCxPj9PSv/U9DmCTdwIMt3rXJP4WSPOw7b///uZNb3pTqpC6Fuzggw/mDT6lMnllscUWi7/7NBsgqcdroYUWMu9973vNzjvvHD8U/Km3T9+esfXWWxtNGzI5xeq3LL300uZXv/pV/M0Zdm6a1kbDbfY2ltsloPZ/7LHH7Epr5SJ7A8vhChDQhdd2qfHViYmJ8GpAiZ0K6Loy9ShFUZTKV2/wM2fOTG3zdUVB0rRp0+Kv8FKPox567UdRuk5VlH/LLbc0xxxzzKSk1dulCYo1ebMe+r5cfTPFpAMdblAwpxsgVl99dfN///d/qWsA1TO73377da8RHFIsdjdQgOHWBjaqVSUCOgsjkEWGWwNpKJ+KqaBEd8HaZdIbvHrvNERob/dxWcOeunZNX+GVPL75zW8aBTBJee0bGpJtw551g4Pml0uOi6Jo0lx9URSZz372s+b8889P3UCRnNPvWdf09dtXxfbXvva1RsNpq666apy8bNSTGK+8+J++9kwTKvt4DeCLReSpQgG9PjLJM5lwBiTkVQK6sFqvOcOtYbkHX1oNverNXT1ddmU0NHfKKafYm4JZnm+++SbNOTfqNWt//vOfjf21YRoyXXTRRScZRFFk/t//+39Gx5922mlm7bXXTn3jhnzf8IY3mG233dZo/4MPPhjfbaopQyYlVtGGN7/5zUYPO/kPfehDcbntbSeeeKK59tpr7U0st0CA4dbmNzIBXVhtPGEXV0NO9jrLCAwS0HeYqqcpe4y+QeLuu+/ObvZ+XXeoZgOYG2+80YzS+6QeK/uuVvVqve51r+tb9wUWWCD+jljlo5495aWHljXX3w9/+MN4/5JLLmmy1931TbTCHbrr99BDDzWySrJRWdUz+/TTTyebeG6BQMjDrS1onlKqSEBXCqOzRBhudUbdvIyiKDI77rjjpLs2Nd3FUUcdZezAJoTaR1Fk3vWud6WKqm+OmDVrVmpbvxUNt2bf5NZaay2juen6nRPidg3B7r333qmiX3PNNUZD1gpGUztYaawAw62NbdpuxQjouhTeLzDc6n0T+V9A3bV5wAEHTPo2he9///vmqquuGrkCGsLV0OfIJ5Z0ggI6fdF+kpyGOs8444xcvXQadlQAaExytjH6yqwoqv5Gi7k5Vr8URVF8F+6aa66Zykw3etx6662pbaw0U4Dh1ma2a7ZWBHRZEX/XGW71t22CKpkmy33/+9+fKrNukNCdsKMOw2kIUt/QkErM4cqKK64Yf9WVnaUClRtuuMHeNGlZQ8yf/vSnjeqd7FTAs9FGGyWrjXpWr+MRRxyRGgZ+6qmnjObUe+aZZxpVVyozWSDbE905gu9u7SA07YeAzkGLlpQFw60lQbY9GV1XdfDBBxt9VZhtoWG4H/3oR/am1LKm6dC1Y6mNNa9EUWT22GMPozs8k6IoUFFgdvrpp5vnn38+2Rw/a/3iiy826667rtFcfPHGzn+63k3BjQKfzmojf6ZOnRpPdmxXTj2UP/jBD+xNLDdQgOHWBjZqjyoR0PVA8XATw60eNkrIRdI8Zb1ukNAF9Oq9Ut10Ldruu+8eD9fp2ruVVlopnhZD+5LHKquskizW9qzvW9WUJgrKkkJoCpOPfexjRpP/6uYhTf6rZ61vttlmqTtbdY7qp55LLTf1oTtxdTOEHfyqrnaba51HrQKlZ85wa+mk3iZIQOdt06QKxnBrioOVcQWiaM51VQqG7LR0g4TuetUNEpqf7uSTTzaaNPd73/ue0V2c9rG6fk7XnNnb6lrWPHsnnHBCakhRZdFEvz/5yU/iOuhZ69puP3bZZRfzjW98IzUNib2/Sctq7wMPPDBVJbW5JhxWD2xqByuNEGC4tRHNmKsSBHS5mGo/iOHW2pugIQWwqqEpOjQ3nbUpXlTwNuwaNPWGHXvssUZTocQn1fxfFEVm1113NVdeeaVZfvnlc5VmwQUXNLqBQnd7qvcq10kNOGi77bYzGpK2q3L22Webc889197EckMEGG5tSEPmqAYBXQ6kmg9huLXmBmhy9hqGzL65a54y3QmrXrrsnGwKfHRDhb7matq0aZPulq3baoMNNjB33nmnue6668wOO+xgNB+cXSZNGqzJdvX1WJpQ+CMf+Yh3dbDLW8WyJk/WDTD2NZSavkTXVT7wwANVZEmaNQkw3FoTfE3Zlh3Q1VSNRmc7YddOb8D2OsvtFNCb8syZM+PpOfRmrMf06dNHxlA6l156aSodpaW09W0Id911V2qfgr0LLrjArLHGGiPnpWu3Zs+e3U1Pw59vf/vbe6ajGxRUjuSh8qisPQ/ObJx33nnNeuutZ0455RSjaUySNPT86KOPGvVGbb755pUPsY5S30wVcq2qDqpT8pjZeT3kNVLbyj85V8+///3vzVJLLZUrbw4KQ4Dh1jDaqaxSEtCVJVldOgy3VmdLygggUJsAGVctwHBr1cJ+pU9A51d7ZEvDcGtWhHUEEEAAgaECDLcOJWrcAQR0fjfphF08hlttjeHLHIEAAgi0VYDh1va1PAGd323OcKvf7UPpEEAAAS8FGG4dqVkacTABnb/NyHCrv21DyRBAAAFvBRhu9bZpKi0YAV2lvGMlznDrWHycjIBHAhQFAYcCDLc6xPYoKwI6jxojUxSGWzMgrCKAAAIIDBdguHW4UROPIKDzs1VHHW71sxaUCgEEEEDAqQDDrU65vcqMgM6r5ugWhuHWLgULCCCAAAJ5BYYPt+ZNieNCEyCg87PFGG71s10oFQIIIOC1AMOtXjdPpYUjoKuUt1DiDLcWYuMkXwQoBwII1CPAcGs97r7kSkDnS0vMLQfDrXMtWEIAAQQQyCnAcGtOqIYeFmBA19CWmFsthlvnWrCEAAIIIJBTgOHWnFANPYyAzq+GZbjVr/agNAggELJAi8rOcGuLGrtPVQno+sDUtJnh1prgyRYBBBAIWYDh1pBbr5yyE9CV41hWKgy3liXpJh1yQQABBLwQYLjVi2aotRAEdLXypzJnuDXFwQoCCCCAQB4BhlvzKNV9TPX5E9BVb5w3B4Zb80pxHAIIIIBAV4Dh1i5FqxcI6PxpfoZb/WkLSoJAcAIUuL0CDLe2t+3tmhPQ2Rr1LTPcWp89OSOAAALBCjDcGmzTlV5wArrSSQslGMBwa6F6cRICCCCAQIUCDLdWiBtY0gR0fjQYw61+tAOlQAABBIIS8HK4NSjB5hSWgK7+tmS4tf42oAQIIIBAcAIMtwbXZJUWmICuUt5ciTPcmouJgxDoCrCAAAIdAYZbOwj8dBKqk5IAABAASURBVAUI6LoUtS0w3FobPRkjgAAC4Qow3Bpu21VRcgK6XqrutjHc6s6anBBAAIHGCDDc2pimLK0iBHSlURZKiOHWQmychAACCPghUFcpGG6tS97ffAno6m0bhlvr9Sd3BBBAIEgBhluDbLZKC01AVynvwMQZbh3Iw845AvyPAAIIpAUYbk17sDZHgIBujkMd/zPcWoc6eSKAAAKBCzDcGngDVlT8eSpKl2SHCzDcOtyIIxBAAAEEMgIMt2ZAWI0F6KGLGZz/x3Crc3IyRACBMQU43QMBhls9aARPi0BAV0/DMNxajzu5IoAAAkELMNwadPNVWngCukp5+ybOcGsvGrYhgAACCAwUYLh1IE+rdxLQuW9+hlvdm5MjAgggELwAw61zm5ClyQIEdJNNqt7CcGvVwqSPAAIINFCA4dYGNmqJVSKgKxEzZ1IMt+aE4jAE6hMgZwT8E2C41b828alEBHRuW4PhVrfe5IYAAgg0QoDh1kY0Y6WVIKCrlHdS4t3hVu2ZmJjQEw8EEEAAAQQGCjDcOpCHnR0BAroOgsMfhlsdYpMVAggg0ACBuAoMt8YM/DdAgIBuAE7JuxhuLRmU5BBAAIE2CDDc2oZWHr+OBHTjG+ZNITW+ynBrXjaOq1yADBBAwGsBhlu9bh5vCkdA564pGG51Z01OCCCAQGMEGG5tTFNWWhEXAV2lFQgkcYZbA2koiokAAgj4JMBwq0+t4XdZCOjctA/DrW6cyQUBBIIWoPBZAYZbsyKs9xMgoOsnU+52hlvL9SQ1BBBAoBUCDLe2oplLqSQBXSmMAxNhuHUgj9ud5IYAAgiEIsBwaygt5Uc5CeiqbweGW6s3JgcEEECgcQIMt9bapMFlTkBXfZMx3Fq9MTkggAACjRNguLVxTVpphQjoKuU1DLdW60vqCIQrQMkRGCDAcOsAHHb1FCCg68lS2kaGW0ujJCEEEECgPQIMt7anrcuqKQFdWZK906lzuLV3idiKAAIIIOC9AMOt3jeRdwUkoKuuSRhurc6WlBFAAIHGCrgfbm0sZasqRkBXXXMz3FqdLSkjgAACjRVguLWxTVtpxQjoquNluLU6W1IOTIDiIoBAfgGGW/NbceRcAQK6uRZlLjHcWqYmaSGAAAItEWC4tSUNXUE1GxLQVSAzXpIMt47nx9kIIIBAKwUYbm1ls5dSaQK6UhgnJcJw6yQSNiCAAAIeCHheBIZbPW8gj4tHQFd+4zDcWr4pKSKAAAKNF2C4tfFNXGkFCejK52W4tXzTkFKkrAgggEAhAYZbC7Fx0osCBHQvQpT4xHBriZgkhQACCLRFgOHWtrR0Us9ynwnoyvVkuLVcT1JDAAEEWiHAcGsrmrnSShLQlcvLcGu5nqSGAAJjCHBqOAIMt4bTVr6WlICu3JZhuLVcT1JDAAEEWiHAcGsrmrnSShLQlcfbwuHW8vBICQEEEGirAMOtbW35cutNQFeeJ8Ot5VmSEgIIINAagVYMt7amNeurKAFdefYMt5ZnSUoIIIBAawQYbm1NU1daUQK6cngZbi3HkVQQKCrAeQgEKcBwa5DN5mWhCejKaRaGW8txJBUEEECgVQIMt7aquSutLAFdXt7BxzHcOtiHvQgggAACPQQYbu2BwqZCAgR0hdhSJzHcmuJgBQEEEGi3QN7aM9yaV4rj8ggQ0OVRGnwMw62DfdiLAAIIINBDgOHWHihsKixAQFeYrnsiw61dChbcCJALAgg0QYDh1ia0oj91IKAbry0Ybh3Pj7MRQACBVgow3NrKZq+00j0DukpzbFbiDLc2qz2pDQIIIOBEgOFWJ8ytyoSAbrzmZrh1PD/ORgCBsAUofUEBhlsLwnFaXwECur40Q3cw3DqUiAMQQAABBLICDLdmRVgvQ4CArrgiw63F7fKfyZEIIIBAwwQYbm1Yg3pSHQK64g3BcGtxO85EAAEEWivAcGs1Td/2VAnoir0CGG4t5sZZCCCAQKsFGG5tdfNXWnkCumK8DLcWc+MsBAIWoOgIjC/AcOv4hqTQW4CArrfLsK0Mtw4TYj8CCCCAwCQBhlsnkbChJAECutEhKxtuHb0onIEAAgggEIoAw62htFSY5SSgG73dGG4d3YwzEEAAgdYLlDjc2npLACYLENBNNhm2heHWYULsRwABBBCYJMBw6yQSNpQoQEA3GibDraN5cXSoApQbAQRKFWC4tVROEushQEDXA2XAJoZbB+CwCwEEEECgtwDDrb1d2FqeQF0BXXk1cJsSw61uvckNAQQQaIQAw62NaEavK0FAl795GG7Nb8WRCCCAQEkC4SfDcGv4bRhCDQjo8rcSw635rTgSAQQQQOBFAYZbX4TgqVIBArr8vAy35rcK6kgKiwACCFQpwHBrlbqknQgQ0CUSg58Zbh3sw14EEEAAgR4CDLf2QAl3k9clJ6DL1zwMt+Zz4igEEEAAAUuA4VYLg8VKBQjo8vEy3JrPiaMQQGAcAc5tnADDrY1rUm8rREA3vGkYbh1uxBEIIIAAAhkBhlszIKxWKkBAN5y3ScOtw2vLEQgggAACpQgw3FoKI4nkFCCgGw7FcOtwI45AAAEEEMgIhD3cmqkMq94LENANbqLUcOsiiyxiNttMmwafxF4EEEAAgXYLMNza7vavo/YEdIPVU8OtH/xgqrNu8JnsRQCBgQLsRKDJAgy3Nrl1/awbAd3gdklFcAR0g7HYiwACCCAwR4Dh1jkO/O9OoMEB3diIGltdNEmF4dZEgmcEEEAAgUECDLcO0mFfVQIEdP1lU8Otjz/+uImiiAcGvAZ4DfAaaNproOT6vO9978u+s5yX3cA6AmULEND1F00Nt/Y/jD0IIIAAAggMFJgxcC87EShBgICuN2JquLX3IWxFILcAByKAQHsFHutU/aLOgx8EKhUgoOvNS+9cbxe2IoAAAgiMJkDv3GheLT+6ePUJ6Hrb7dzZHPEwGBgMjAnSwGT+8Vo2QbZjE9pN7yeGfwhULUBAV7Uw6SOAAAIeCVAUBBBopgABXTPblVohgAACCCCAQIsECOha1NhuqkouCCCAAAIIIOBagIDOtTj5IYAAAggggIAxGJQqQEBXKieJIYAAAggggAAC7gUI6NybkyMCCLgRIBcEEECgNQIEdK1paiqKAAIIIIAAAk0VIKAbp2U5FwEEEEAAAQQQ8ECAgM6DRqAICCCAAALNFqB2CFQtQEBXtTDpI4AAAggggAACFQsQ0FUMTPIIuBEgFwQQQACBNgsQ0LW59ak7AggggAACCDRCIHdA14jaUgkEEEAAAQQQQKCBAgR0DWxUqoQAAgjUKEDWCCBQgwABXQ3oZIkAAggggAACCJQpQEBXpiZpuREgFwQQQAABBBBICRDQpThYQQABBBBAAIGmCLSpHgR0bWpt6ooAAggggAACjRQgoGtks1IpBBBwI0AuCCCAgB8CBHR+tAOlQAABBBBAAAEECgsQ0BWmc3MiuSCAAAIIIIAAAsMECOiGCbEfAQQQQAAB/wUoYcsFCOha/gKg+ggggAACCCAQvgABXfhtSA0QcCNALggggAAC3goQ0HnbNBQMAQQQQAABBBDIJ+BTQJevxByFAAIIIIAAAgggkBIgoEtxsIIAAggg4L8AJUQAgawAAV1WhHUEEEAAAQQQQCAwAQK6wBqM4roRIBcEEEAAAQRCEiCgC6m1KCsCCCCAAAII+CTgTVkI6LxpCgqCAAIIIIAAAggUEyCgK+bGWQgggIAbAXJBAAEEcggQ0OVA4hAEEEAAAQQQQMBnAQI6n1vHTdnIBQEEEEAAAQQCFyCgC7wBKT4CCCCAAAJuBMjFZwECOp9bh7IhgAACCCCAAAI5BAjociBxCAIIuBEgFwQQQACBYgIEdMXcOAsBBBBAAAEEEPBGoGUBnTfuFAQBBBBAAAEEEChNgICuNEoSQgABBBBojAAVQSAwAQK6wBqM4iKAAAIIIIAAAlkBArqsCOsIuBEgFwQQQAABBEoTIKArjZKEEEAAAQQQQACBsgXypUdAl8+JoxBAAAEEEEAAAW8FCOi8bRoKhgACCLgRIBcEEAhfgIAu/DakBggggAACCCDQcgECupa/ANxUn1wQQAABBBBAoEoBAroqdUkbAQQQQAABBPILcGRhAQK6wnSciAACCCCAAAII+CFAQOdHO1AKBBBwI0AuCCCAQCMFCOga2axUCgEEEEAAAQTaJEBAV3Zrkx4CCCCAAAIIIOBYgIDOMTjZIYAAAgggIAEeCJQpQEBXpiZpIYAAAggggAACNQgQ0NWATpYIuBEgFwQQQACBtggQ0LWlpaknAggggAACCDRWYKyArrEqVAwBBBBAAAEEEAhIgIAuoMaiqAgggECgAhQbAQQqFiCgqxiY5BFAAAEEEEAAgaoFCOiqFiZ9NwLkggACCCCAQIsFCOha3PhUHQEEEEAAgbYJNLW+BHRNbVnqhQACCCCAAAKtESCga01TU1EEEHAjQC4IIICAewECOvfm5IgAAggggAACCJQqQEBXKqebxMgFAQQQQAABBBCwBQjobA2WEUAAAQQQaI4ANWmRAAFdixqbqiKAAAIIIIBAMwUI6JrZrtQKATcC5IIAAggg4IUAAZ0XzUAhEEAAAQQQQACB4gK+B3TFa8aZCCCAAAIIIIBASwQI6FrS0FQTAQQQaLYAtUOg3QIEdO1uf2qPAAIIIIAAAg0QIKBrQCNSBTcC5IIAAggggICvAgR0vrYM5UIAAQQQQACBEAVqKTMBXS3sZIoAAggggAACCJQnQEBXniUpIYAAAm4EyAUBBBDICBDQZUBYRQABBBBAAAEEQhMgoAutxdyUl1wQQAABBBBAICABArqAGouiIoAAAggg4JcApfFFgIDOl5agHAgggAACCCCAQEEBArqCcJyGAAJuBMgFAQQQQGC4AAHdcCOOQAABBBBAAAEEvBYgoDNetw+FQwABBBBAAAEEhgoQ0A0l4gAEEEAAAQSMMSAg4LEAAZ3HjUPREEAAAQQQQACBPAIEdHmUOAYBNwLkggACCCCAQCEBArpCbJyEAAIIIIAAAgjUJTA5XwK6ySZsQQABBBBAAAEEghIgoAuquSgsAggg4EaAXBBAICwBArqw2ovSIoAAAggggAACkwQI6CaRsMGNALkggAACCCCAQFkCBHRlSZIOAggggAACCJQvQIq5BAjocjFxEAIIIIAAAggg4K8AAZ2/bUPJEEDAjQC5IIAAAsELENAF34RUAAEEEEAAAQTaLkBA5+IVQB4IIIAAAggggECFAgR0FeKSNAIIIIAAAqMIcCwCRQUI6IrKcR4CCCCAAAIIIOCJAAGdJw1BMRBwI0AuCCCAAAJNFCCga2KrUicEEEAAAQQQaJVA6QFdq/SoLAIIIIAAAggg4IEAAZ0HjUAREEAAgRYKUGUEEChRgICuREySQgABBBBAAAEE6hAgoKtDnTzdCJALAggggAACLREgoGtJQ1NNBBBAAAEEEOgt0IStBHRnYuUnAAAQAElEQVRNaEXqgAACCCCAAAKtFiCga3XzU3kEEHAjQC4IIIBAtQIEdNX6kjoCCCCAAAIIIFC5AAFd5cRuMiAXBBBAAAEEEGivAAFde9uemiOAAAIItE+AGjdUgICuoQ1LtRBAAAEEEECgPQIEdO1pa2qKgBsBckEAAQQQcC5AQOecnAwRQAABBBBAAIFyBUIM6MoVIDUEEEAAAQQQQCBwAQK6wBuQ4iOAAAII9BNgOwLtESCga09bU1MEEEAAAQQQaKgAAV1DG5ZquREgFwQQQAABBHwQIKDzoRUoAwIIIIAAAgg0WaDyuhHQVU5MBggggAACCCCAQLUCBHTV+pI6Aggg4EaAXBBAoNUCBHStbn4qjwACCCCAAAJNECCga0IruqkDuSCAAAIIIICApwIEdJ42DMVCAAEEEEAgTAFKXYcAAV0d6uSJAAIIIIAAAgiUKEBAVyImSSGAgBsBckEAAQQQSAsQ0KU9WEMAAQQQQAABBIITIKDr2WRsRAABBBBAAAEEwhEgoAunrSgpAggggIBvApQHAU8ECOg8aQiKgQACCCCAAAIIFBUgoCsqx3kIuBEgFwQQQAABBIYKENANJeIABBBAAAEEEEDAb4F5jN/lo3QIIIAAAggggAACQwTooRsCxG4EEEAAgTkC/I8AAv4KEND52zaUDAEEEEAAAQQQyCVAQJeLiYPcCJALAggggAACCBQRIKArosY5CCCAAAIIIFCfADlPEiCgm0TCBgQQQAABBBBAICwBArqw2ovSIoCAGwFyQQABBIISIKALqrkoLAIIIIAAAgggMFmAgG6yiZst5IIAAggggAACCJQkQEBXEiTJIIAAAgggUIUAaSKQR4CALo8SxyCAAAIIIIAAAh4LENB53DgUDQE3AuSCAAIIIBC6AAFd6C1I+RFAAAEEEECg9QJOArrWKwOAAAIIIIAAAghUKEBAVyEuSSOAAAIIjCTAwQggUFCAgK4gHKchgAACCCCAAAK+CBDQ+dISlMONALkggAACCCDQQAECugY2KlVCAAEEEEAAgfEEQjubgC60FqO8CCCAAAIIIIBARoCALgPCKgIIIOBGgFwQQACB8gQI6MqzJCUEEEAAAQQQQKAWAQK6WtjdZEouCCCAAAIIINAOAQK6drQztUQAAQQQQKCfANsbIEBA14BGpAoIIIAAAggg0G4BArp2tz+1R8CNALkggAACCFQqQEBXKS+JI4AAAggggAAC1Qs0JaCrXoocEEAAAQQQQAABTwUI6DxtGIqFAAIIIFCFAGki0EwBArpmtiu1QgABBBBAAIEWCRDQtaixqaobAXJBAAEEEEDAtQABnWtx8kMAAQQQQAABBIwp1YCArlROEkMAAQQQQAABBNwLENC5NydHBBBAwI0AuSCAQGsECOha09RUFAEEEEAAAQSaKkBA19SWdVMvckEAAQQQQAABDwQI6DxoBIqAAAIIIIBAswWoXdUCBHRVC5M+AggggAACCCBQsQABXcXAJI8AAm4EyAUBBBBoswABXZtbn7ojgAACCCCAQCMECOhyNyMHIoAAAggggAACfgoQ0PnZLpQKAQQQQCBUAcqNQA0CBHQ1oJMlAggggAACCCBQpgABXZmapIWAGwFyQQABBBBAICVAQJfiYAUBBBBAAAEEEAhPoHdAF149KDECCCCAAAIIINBaAQK61jY9FUcAAQTGFyAFBBDwQ4CAzo92oBQIIIAAAggggEBhAQK6wnSc6EaAXBBAAAEEEEBgmAAB3TAh9iOAAAIIIICA/wItLyEBXctfAFQfAQQQQAABBMIXIKALvw2pAQIIuBEgFwQQQMBbAQI6b5uGgiGAAAIIIIAAAvkECOjyObk5ilwQQAABBBBAAIECAgR0BdA4BQEEEEAAgToFyBuBrAABXVaEdQQQQAABBBBAIDABArrAGoziIuBGgFwQQAABBEISIKALqbUoKwIIIIAAAggg0EOgtoCuR1nYhAACCCCAAAIIIFBAgICuABqnIIAAAgg4EyAjBBDIIUBAlwOJQxBAAAEEEEAAAZ8FCOh8bh3K5kaAXBBAAAEEEAhcgIAu8Aak+AgggAACCCDgRsDnXAjofG4dyoYAAggggAACCOQQIKDLgcQhCCCAgBsBckEAAQSKCRDQFXPjLAQQQAABBBBAwBsBAjpvmsJNQcgFAQQQQAABBJonQEDXvDalRggggAACCIwrwPmBCRDQBdZgFBcBBBBAAAEEEMgKENBlRVhHAAE3AuSCAAIIIFCaAAFdaZQkhAACJQms3Enn0M5jSudR94/KcFinECpT54kfBBBAwE+BJgd0fopTKgQQGCZwR+eAtTuPWZ3HwZ3Hgp2H6x8Fcod0Mp3deazZeahMnSd+EEAAAT8FCOj8bBdKhUDbBQ7qACzUeehZQdWBnWUXgZ3yUJ4KJpM8FVR2suenuQLUDIHwBQjowm9DaoBAEwVu7FTq0s5DP0lvmYKsL3Q2KOjqPJX6ozSVtoJHBXAKJpXBJZ3/VJbOEz8IIICAvwIEdP62DSVrkABVKSSgwMo+8dWdFV3Pdn/neb/O45Wdx7g/SkM9cUpTaSt4tNPMlsHexzICCCDgjQABnTdNQUEQQCAjcENn/YrOI/uj3rMjOhvVY7dv51lBWedppB+do6BQPXK6Vk5pZhNQDyG9c1kV1hFAoEqBwmkT0BWm40QEEHAgoN6zftks3NlxZOehwG7vzvMrOo9hP0kgp3MUFL5mwAm6lm7AbnYhgAAC/ggQ0PnTFpQEAQQmC1zf2XRl5zHoR4Hd0Z0DFKTt1XnuFdhp2z6dffd1HgrkdE5nse9Pc3vn+laZHQggELIAAV3IrUfZEWiHwKBeOltg0c7KMZ2HArvOU+pHQ6tHdbYs0nnk+aF3Lo8SxyCAgDcCBHTeNEVjCkJFEChb4LpOgr2upets7vmjwC67I28gp/O4s1UKPBBAICgBArqgmovCItBaAU0p4qry3NnqSpp8Wi5A9csUIKArU5O0EECgKgHdbXpVVYlb6XLtnIXBIgIIhCNAQBdOW1FSBNouoO93HcmgwMFcO1cAjVMQQKB+AQK6+tuAEiCAQD6BmZ3Druk8qvrh2rmqZEkXAQQqFyCgG4uYkxFAwLFAlT1oXDvnuDHJDgEEyhMgoCvPkpQQQKB6AV1Hp+vpys7p8k6CVaTbSZYfBIwxICBQsQABXcXAJI8AAqUL7F96isYcUEGaJIkAAgg4EyCgc0ZNRghUKtCmxPXNEWX2ptE716ZXD3VFoKECBHQNbViqhUDDBcrsUSszrYazUz0EEPBVIH9A52sNKBcCCLRRoKxeNX0DRZm9fW1sC+qMAAIeCBDQedAIFAEBBAoJ5P2O10GJu/wGikHlaNQ+KoMAAu4FCOjcm5MjAgiUI3BZJ5lxetfonesA8oMAAs0QIKBrRju2rBZUF4GuwDjz0tE712VkAQEEQhcgoAu9BSk/Au0WKPrdq2XfKdvuVqD2CPgq0KJyEdC1qLGpKgINFSjyDQ9VzGXXUF6qhQACIQgQ0IXQSpQRAQQGCeg7WG8ZdEBmX5m9c5mkWUUAAQTqESCgq8edXBFAoFyB/UZIjt65EbA4FAEEwhAgoPO9nSgfAgjkEbi4c1CeXrqrOseNc2ds53R+EEAAAf8ECOj8axNKhAACxQTy9LxxZ2sxW84KQIAitluAgK7d7U/tEWiSwEWdygzqpVPv3PWdY/hBAAEEGidAQNe4JqVCCFQlEES6Bwwo5SjX2Q1Ihl0IIICAfwIEdP61CSVCAIHiAhd2Tr2p88j+cGdrVoR1BBBolIBXAV2jZKkMAgjUJXBIj4wH9dz1OJxNCCCAQFgCBHRhtRelRQCB4QIXdA6xe+m4dq4D0rAfqoMAAhkBAroMCKsIINAIAftuVq6da0STUgkEEBgkQEDXX+eFzi4exrTTgHqH3u6al67zKxz/3ND5P/T6UH5+J9v8Guj8CvMzTICAbpgQ+xFAAAEEEEAAgT4CvmwmoPOlJSgHAggggAACCCBQUICAriAcpyGAAAJuBMgFAQQQGC5AQDfcKD7ihRdeMDww4DXAa4DXAK8BXgPVvgbiN13+G1mAgG5ksuadQI0QQAABBBBAIGwBArqw24/SI4AAAggg4EqAfDwWIKDzuHEoGgIIIIAAAgggkEeAgC6PEscggIAbAXJBAAEEECgkQEBXiI2TEEAAAQQQQAABfwTaFtD5I09JEEAAAQQQQACBkgQI6EqCJBkEEEAAgSYJUBcEwhIgoAurvSgtAggggAACCCAwSYCAbhIJGxBwI0AuCCCAAAIIlCVAQFeWJOkggAACCCCAAALlC+RKkYAuFxMHIYAAAggggAAC/goQ0PnbNpQMAQQQcCNALgggELwAAV3wTUgFEEAAAQQQQKDtAgR0bX8FuKk/uSCAAAIIIIBAhQIEdBXikjQCCCCAAAIIjCLAsUUFCOiKynEeAggggAACCCDgiQABnScNQTEQQMCNALkggAACTRQgoGtiq1InBBBAAAEEEGiVAAFd6c1NgggggAACCCCAgFsBAjq33uSGAAIIIIDAHAH+R6BEAQK6EjFJCgEEEEAAAQQQqEOAgK4OdfJEwI0AuSCAAAIItESAgK4lDU01EUAAAQQQQKC5AuMFdM11oWYIIIAAAggggEAwAgR0wTQVBUUAAQTCFaDkCCBQrQABXbW+pI4AAggggAACCFQuQEBXOTEZuBEgFwQQQAABBNorQEDX3ran5ggggAACCLRPoKE1JqBraMNSLQQQQAABBBBojwABXXvampoigIAbAXJBAAEEnAsQ0DknJ0MEEEAAAQQQQKBcAQK6cj3dpEYuCCCAAAIIIICAJUBAZ2GwiAACCCCAQJMEqEt7BAjo2tPW1BQBBBBAAAEEGipAQNfQhqVaCLgRIBcEEEAAAR8ECOh8aAXKgAACCCCAAAIIjCHgfUA3Rt04FQEEEEAAAQQQaIUAAV0rmplKIoAAAo0XoIIItFqAgK7VzU/lEUAAAQQQQKAJAgR0TWhF6uBGgFwQQAABBBDwVICAztOGoVgIIIAAAgggEKZAHaUmoKtDnTwRQAABBBBAAIESBQjoSsQkKQQQQMCNALkggAACaQECurQHawgggAACCCCAQHACBHTBNZmbApMLAggggAACCIQjQEAXTltRUgQQQAABBHwToDyeCBDQedIQFAMBBBBAAAEEECgqQEBXVI7zEEDAjQC5IIAAAggMFSCgG0rEAQgggAACCCCAgN8CBHTG+N1ClA4BBBBAAAEEEBgiQEA3BIjdCCCAAAIIzBHgfwT8FSCg87dtKBkCCCCAAAIIIJBLgIAuFxMHIeBGgFwQQAABBBAoIkBAV0SNcxBAAAEEEEAAgfoEJuVMQDeJhA0IIIAAAggggEBYAgR0YbUXpUUAAQTcCJALAggEJUBAF1RzUVgEEEAAAQQQQGCyAAHdZBO2uBEgFwQQQAABBBAoSYCAriRIkkEAAQQQhEiIZQAAEABJREFUQACBKgRIM48AAV0eJY5BAAEEEEAAAQQ8FiCg87hxKBoCCLgRIBcEEEAgdAECutBbkPIjgAACCCCAQOsFCOicvATIBAEEEEAAAQQQqE6AgK46W1JGAAEEEEBgNAGORqCgAAFdQThOQwABBBBAAAEEfBEgoPOlJSgHAm4EyAUBBBBAoIECBHQNbFSqhAACCCCAAALtEig/oGuXH7VFAAEEEEAAAQRqFyCgq70JKAACCCDQTgFqjQAC5QkQ0JVnSUoIIIAAAggggEAtAgR0tbD3zvToo482URQVerzsZS8zyy+/vJk2bZq5+OKLzXPPPdc7k1ZtpbIIhCWQ/Ruwww47hFWBAqU955xzzLzzzhv/3dt8883NP/7xj1QqDz30kHn9618f74+iyCywwALm5ptvTh0zzsoDDzxgVlpppTj9V7/61eaXv/zlOMk16tzzzz8/domiOe9LU6dONc8880yj6tikyhDQNaQ1//Wvf5l7773XTJ8+3Wy22WZmwQUXNMccc8ykP44NqS7VQACBBgjMnj3b7LvvvuY///mP0YfSvffe28w///xOa7bUUkuZ/fffP87zqaeeMvvtt595+umn43X+a5FAA6o6TwPqQBV6CCjA22effcwmm2xiHn744R5HsAkBBBCoT0B/ow4++GDzxz/+MS7Exz/+cbPuuuvGy67/m5iYMBtssEGc7RVXXGG++c1vmhdeeCFe5z8EQhEgoAulpQqW85prrjHbbbcdnzgL+nEaAiUJkExG4Nxzz41HFLR5kUUWMXvuuad5yUteolXnj1e+8pVxL90888x5Szz88MMZenXeCmQ4rsCcV++4qXB+JQLLLLOM+fOf/xx/UtSnxX6Pf/7zn3Ev3GWXXWb0KTdbGH3i/Na3vpXdzDoCCCBQi4CuW1PvnP6mqQC77LKLWXnllbVY20PXh33oQx+K83/22WfNAQccwPVisQb/hSJAQBdKSw0o50tf+lKz+OKLm/e+973m1FNPNdddd52ZMmVK6oyvfe1r5r777kttYwUBBBBwLaAg7tvf/rb5wx/+EGf9ute9zvzP//xPfPF9vKGm//R39DOf+Ux8LZ+KoA/IM2bM0GJrH7pJRe2VPGbOnGnUm9laEM8rTkDneQMVKd56661nvvjFL6ZOffDBB83111+f2sYKAggg4FrgjjvuMPaIwSc+8Qmz3HLLuS5Gz/x0Dd+WW27Z3XfUUUeZRx99tLvelAXq0UwBArpmtqvRJyvd6m9X76qrrrJXWUYAAQScCqin56STTjKPP/54nK9GErbaaqt42Yf/dA2fpoqJoiguzu9+9zuja/3iFf5DwHMBAjrPG6ho8RZeeGHzlre8JXX6rFmzzN///vfUNlYQKF+AFBHoLaDeuR/+8IfdnZtuuqlZccUVu+s+LKiXbq211uoW5etf/zq9dF0NFnwWIKDzuXXGKNt8881ndOeYncS///3v+AYLe5u9nHwyjaIovp5Fk5za+8dZ1kSgmhA0iuakrd5DTRhqp6kJK3VhchTNOSaKIqOJLe1jBi2Pcr7SjaK5+ShfnT8o/WSfplvYeuutY6MompOG6qY6JscMe1Yal156aTwRtCyiaE46URSZxRZbzKjXQmXUccPSSvarvaJobjpRVHx5UH2y+eh1k5Rh2PMTTzxh9GYZRXPLpvrbrwU5Kv8omntMFBVfVlpKMymb2lntHUVz05R1st/X5+eff95cfvnl5qMf/ah5zWte0339aVLet73tbfG8k7bjqPXQa+3GG280n/3sZ82qq64aXysVRXONlI+GRqdNm2b02tXxo+Zx1llndXvnoigyeu2oV2zUdPIcLytNFBxFc+ug9WGXniy00ELmgx/8YDcL9dJdeeWV3fU2Lej3Iorm+k1lYmGvm38er0vXp3BsHi6g4C3bG6c3Ti5oHW437AhdGKzZ7Ycd12u/3pR/9KMfGV0IrjkCp0+fbu6///7UoY899phR+h/4wAfi4y644IKBgXjqZM9X9Ib+q1/9yvNS+le8n//852aFFVYwG220kTnzzDPNk08+2S2kJuW97bbbjOadXHLJJc1ee+010oTi+mYG3TSlD4DqnTr++OPNb37zm0m9+cpnVqeXX69ZvXZ1vF7Lek13CzNg4ZFHHonLnhyi+qy22mrJaqnP+raHD3/4w0YTBScJT5kyxVx44YVG1xgn2/o96wazV7ziFd3dp5xyykim3RNZQMChAAGdQ2yXWaknRJ8s7Tzz/CGzj2d5soBcNau83twm7x285S9/+Yt53/veZ7bddlujoG3w0XP26jhdD3nIIYeYIj0ic1Lx4/+7777bHHrooX4UJpBS6JozDfm9+93vNvfcc0+uUh933HFGF/bn+bYDTR/yrne9y+y2227mr3/9a670k4N0vF7Lu+66a67X5i9+8QuT3NmqNNZZZ524N1rLZT4UzCngfDGYi5NWMKcPE3n/BirYXHPNNeNz9Z+uP7711lu1WMoj2/MVRXN7waJovGWlXUohSSQ4AQK64JosX4F1y739x1M9QhtvvHG+kzmqr4DeFIr0MOnNVcO0GqrKJq4hwS222MLstNNORsdoyDV7jAK6r371q9nNA9fVg6LhMaU77KE3Zn310sAEx9iZBCZ5hgR1/afufOxX5omJiXi4MSlOFEVG2/odr7SUZnJ8SM/qqd19993jr8ZKyq3Xh14nqu973vMeo+k2kn3J88UXXzz02w70mpw2bZq56aabktO6z4suuqhJXpPKR8saruweYC1oCpJhQYRGDNSbZ50WT7MURZG9aezl3//+92abbbYxvYI59brlzUAjGe94xzu6h2uuz0suuaS7zgICPgoQ0PnYKmOWSdeOaD4lO5lPf/rTZtlll7U3sTyiQM8ephxp6M3s85//vNEEz/bhyy+/fHwtkt5YZ8yYYb7zne/EQ1KaTPq8884zCy64oH240RQK2V7X1AGZFd0Uo6E0pTvsoV6dJZZYIpNCeavXXnutOfHEE3MlqNfpCSecEHv0KvcXvvAFM//883fT0rK29TpW25SW0uyeENCCJrhNeoPVY6T2T4YuVTf9ruv1o2mKkm85SKr3jW98w2iINFnPPmvqkOxrUsP89957b3wTQPKaVD5aVg+zPiSqR89OS8G6jtHQrb3dXlaZb7jhhu6mV73qVeatb31rd72MhdmzZ8dBqMqfpKdh0x/84Adx8Jhsy/u89tprpw6dOXMmEw2nRFjxTYCAzrcWKVAeXcOiuZL0qXyzzTaLr7OxP6HqU/ynPvWpVK9GgWxafYretDT0laeHKQulHr3vfe97qc0bbrhh/NVCuiZKF5vbO7U+MTFh1Ms6ZcqU7i5N9aCgSGXpbgxgQW/0xxxzjFEvRwDF9bKI6iXThOG9vk1BAa2un1NQZxdec0/q2jp7W7KsAEvXhSXretY1Z2efffbAOeE0FKm/M8k3Kug8PXTN3aDfDfWc2deKKh19E47OLeOhYE6/S8n3wipNBXM//vGPzfvf/36tjvx405veFN98kpwoyz/96U/JKs8IjCxQ9QkEdFULj5G+/gDqIucoiuJgLIp6P+suscUXX9womNMfWzvLaZ0hlZ/85CdGd27Z21keTSDbw/T2t7891UvULzUFX5qmwQ5m3vCGNxgFeLpTsd952q67QT/f6dnTcvJQT8mgXpfkOJ+eNWyoGzuSMm2wwQbJIs85BN75zneaY489tufQanJ6FM25YzQ7Bcjtt9+eHJJ6VnBy5513drfpg8OBBx44MI/kYAWQe+yxR+p7V9VLqOtLk2Oyz7quTb8LyXbdoKVeumR9nOeHH344/srDMoM5lUc91vpd1bIe6qFUYKrlcR+6LlYeVTyU9rjl4/wwBQjowmy3oaVWL496lE4++WSja7SGnuDpAbrwuu6iZXuYXvva15rPfe5zcZA9rGwaPrWDGR2/8847m7xDgLpWStc/6jw91OuiYS8th/BQz7GGipOyathQU1Uk6zwPF1Dvep4PZIsttphZffXVUwnaQZu9Q9fI6WYGDStqWb1b2WDQPj67rMsF9GEz2a7fEQVWybr9rEsOfv3rX9ub4nLqg2hqY4EVBZLbbbedueaaa7pn65rC0047rXDPXJKQAk4Fnsm6nkP63VN5ebRLgICuoe2tYVj9wV5jjTXM1VdfHey0F7oLr+4m+ulPfxpPd5CUQz0ZGo5J1gc96xO9elqTY9QTMsoQ0NJLL210cbaCSF2YrrzzBoOm5n/qffjud79rdN2XiqJrvI444ohJ8yNqH4/eAuolUk9t773prVEUGc1HZ29VMKV2sLdpeZVVVjG6yUbzzino1tBkGQGW0s4+FOxpiNfeng2U7H15lxXMaejXvg5QwdwZZ5wR3+WbN51+x8lDQ8P2fr2We3nax7CMQF0CBHR1yTvKV7faa4hLc1ONO+1F1UXWnWXZP/T2MErV+fdKX292hx12WDcgVg+TrjXqdWyvbb/97W+752q/LgTP1lHb+z30pqJ5x9TTN2PGDKO7XVdaaaV+h3u1Xd8K8OUvf7lbJr35Tp06tbvOwnCBN77xjUY9aMOP7H2EenSz81H2PrK6rZrI2f5Qo5yGXW6gYwY9lKY+sNrBXBRF5tRTTy0lmEvyzt4d7YNnUjaeEcgKENBlRTxa10XDeiPXJ8Jhj7/97W9G11ZpqEFBR7YaX/rSl8zhhx+eCi6yx/iwrp4Duxy6EDz76d7eX+WyzHv1MGX/yA8qgy4Wt/erTRW42tuauKwPD7pzVjdyqH6aQuWggw7KdY2Wjnf90N2dUdT7GlVdvrDccsuZj33sY0bT1qhnyFX5lHcURa6yG5iP2lQ9VEceeaTRTT3ZIK3fyfoblrwOdIxuVtDUK1ou8tD1qJ/85CeN7l61z9fvq753VeW0t4+znO2J100RdQfI49TH4blkVYMAAV0N6FVkqSBBPT+6nkQTeOpGCP3htPNSQKdpDuxtg5Z1QX4URfG1YlE0+VnX0GhuJwWL+kM3KK28+9SbaJdb16wccMABuSYuNSX/y/Ywbb/99maUHia9wWjIyy6WLiiPosje1MhlTfGg3pKkcvo6qV53aCb7fX7WtCH6sHT66afH8wRq2FzTArm4vlO/0/rdduWj16xubtBNDBq63HvvveMpP9SjpnkK1cOsibX7XZvnopz6ndKlDL3y0l26Cup67Stjm/LW66GMtEgDgbIFCOjKFvUgvSiKjHoc9Iaq65aSIukPkYIvXdOSbBvnWdMUaMhDNwio50lfG6QgaJw09aavWfHtNE466SSjyWH7vYFq+EV39+64446pi6PtNEZd1qf8bA+T6qlrdPKmpU/yGqKxj89+4rf3NWVZPVgaptbrTXXSfHhqmygqMZBVwjU+dMORghtd0lBjMUrJWq91TQy8/vrrx3euqjdVN0togl7dXavfcfurxkbNVH9v1Ks26nl5j7f/xikg3W+//eLRirznDzquqg9g8o6iqO+H5WiJGzsAABAASURBVCgqvk9pD6oT+5orME9zq0bNFNTpuiVb4vrrrzd33XWXvam0ZV1grTdvzTmmmzKKJKw/oOqRUy+Ifb6CU81Urzca3SWqh3oH1XOgu9E0ZYsu7E6CCPvcIstN6mEqUv9xztE3AiR3HUZRZNSe4wyxjVOWvOfqLk/N9dbroXkce13Hpl5pnadhyLz5+HScgp8rr7zS6JpM/a3Q5Q15f3/UO28HUoPqpWBQPVuDjimyT/lr4uyf/exnRstJGppY+OijjzZl5Km/OfqblKTNMwI+CxDQ9W6dRmxVb5LujLQro2vt8l77ornWer3BaZvS1Z2XdtrJsiY5/cpXvpKsjvysu/p07ZrKb5+sNxsNBanHTo9xew7stO3lsnqY5ptvvkl3dNZ9k4ddzyqWZ82aFc+ZlqStO3oVLCTrvj5rCFXfdtDrocsUdHOMrgPTtVt2HbRNN6qol8ve7vuygjl9k4QC0nvuuWdgcfV7rt93BUm6nEM9bvq6sKWWWmrgeclOBUW6uSdZL+NZAZy+AUTfgKOA+7//+79Tyaod9f2rqY0FVtTu+raOAqdyCgLOBeZxniMZOhXIfn2UMs87LKq7OfWHsddDd1zqYmcNpehGDPu6N+Vx/PHHm/vuu0+LhR5bbrmlUY+B5rvKm4AuINcf+rzH9zuurB4mvYll5wDUm6HeTPvlHfJ21UuBvHpIVA+9JvSVXE3p4dDNMAoi9IFG9UseF154odHdzMl6CM/6YKQPXvqQZJd31VVXNQr0NPGwPvypTfV7rt93XU+nD1v6oGKfM2xZ7a/r74Ydl3d/FEVGd08rmIuiKB4m1vW+CjyTNFSvPffcM/4Ks2Rbked8vXxFUuYcBMoXIKAr37RVKaoXTTdiaEjUDqZ07dill146loXu1tXFz5oHbpNNNklNkKy8NOGueg70nZR333230cXcmlV/nEzL7mHKzmOl3lFd8zdKGXVNjC6M18SvmpRX3zLh4xuNggT1nCZ1U+CjACBZb8KzXu+77babsS8JUA+Obt4JpX567SjwVrmTMqteumRBEwBrImNdH6jXXLJ/nGd9sNGHrXHSsM9VgKjr/aIo6m7W9C6ao7G7obOgoXANySoo7ayW8qO66G/PuInp2xxUrioeSnvc8nF+mAIEdGG2W+5S97qRQDce5E4g54EKuLLBlL7DNOfpfQ/TG43+QOmmBwVCyR9AXaOnSYfVc/C///u/Rj15475p6FO93ujK7GFabbXVUnVT76jKndo4ZEXXJuoGC91ZqMBZ1wwNOcX5bvU86i7qJEjQVybp66GiaO6brvNCVZSh7jxVwGMnP2qb2ue6XtaHCl0jauer3rqtttoqvkjf3t5vWfV97LHH+u1Obdf1kxp2TTbqNaJev2S9rGd9sNQQsp2eevL0QcPeNsqyfl/t4zXRd7bX3d7PMgJ1ChDQ1alfcd76JJ792ikNg+mC5rKz1qd5vdHZ6YZ2XZF6J8ruYVKvmnoSExd9H6Su/UvWhz3rer7s8XrTUk/BsHNd7r/oootS36ahiayXXXZZl0VwllcURWbcDw+mxn8KpnTtX1KEKIqMpguKovzBd3ItXZLGoGf9bdBd8PYxKoO9Xsay8tHd1fobl6Sn4FGvRf0eJdtGedZIg328/sYpH3sbywj4IjCPMb4UhXKULaCLgjWMYqf7X//1X0bDE/a2Mpafe+45Y79JKE31ruk5hId6/zRkozcAlbesHiZ9os/2XOr6Qg3tKp9hDwVzdg+Dhvr0VWDDztN+TT8x6vVOOm/Uh970ZKfeU52r+mrKCy038aEL5dVbatct7w0C9jl1Let3VT3cSf5qt1E+fOnyBk0unJw/7FkBUDagUy/hsPOK7NcQv+Y8tM/VHdcnn3yyvSnXsj4QZwPP7CUUuRLiIAQcCdBD5wjadTY33HCD2XbbbY2GEe28p02bZhZaaCF7UynLmg5FdwPaiekaOHvd5+Wbb745NYedPtWX0cOknjRdc2VfFK4hXc2rN6zXQG+cuthbb7iJnaahUa9fsj7oWUNDyn/QMWXsU9Cp65WUlq4v0jQlVbzGlH7dDwVC6sW1v4hePUJ526Tu8it/TcGiIEvLyUMf/PIEdXfffbeZmJgwmoMyOTd57nd+FEVGd8wnx+lZ8/cpsNRymY8oiozuWNb0SXa6uhzglltusTcNXX7qqaeMruG1D8xeQmHvYxmBugUI6OpugZLy15u+bgrQtWaak2299dab1GOmAEt3rpaUZZyMgpKjjjrKbLrppkZ3vMYbO/9pmHHjjTfuLIX3U3YP0zrrrGOy010oCJo6dWp8d6TazlZS0KB21ETN9jQn6nHTnXu9gjS9mepaOzudOpZH/TaNOspYJE+1kQJs/f7o9W6noYmwq7gu1c6jzGV9UMmW95RTTjG777676XXNrfLW35ZDDz3U6LwkeNd2+2G/Vu3tWlbPmf261U0k+tuhfWU/dM2ePlRE0dwhZAVn6kXWtZ5581PPs+YaTI5fYoklDD10iQbPPgoQ0PnYKi+WScMSut4tiqL4YuUo6v+snhG94SuYUzDwYhLdpylTphjNbq+pF7obhyzoeys1gW+vh4IUTeqrdPfdd99JX82lwGO55ZYbksOk3bVvkKPeDMrsYYqiyGiuMs2XZVdQvRSrrLKK0RvFRz7yESNn9X4ob7WjPYStculu3qTnQUO2egPWOfoWBk0OqxtE7PSVtr1e9bJef6N+m0bVZcqbvu6GlGX2obuK1fv28pe/3OhbPs4777xUknr96/WiOy9TOzxe0etr1113nVTCE0880ejmhbe97W1GrylZ6HWpD2dq24MOOqj7e67LKXQ9mZ2IPojY6/ayDN/85jd3N+lv26AAsHtgwQVNe6SbPOzTdT3xOeecY28auKz5+TR1S3LQ6quvbvT3OFnnGQHfBObxrUCUp3wB/THWHzJ9Sh4ldQ1Danip10MXRWsG+F7p7bLLLkbDjL32+b5NE5RuuOGGpRdTb6Jqg+ybjDLSNVka8pKzvoNXd7Rqe/JQMKeJlvUmlWxTj4muC9I5msZEbz7JPj2rzXXnsZZdPRTMJQGnqzzLyueyyy4zssw+dFexrpdTD2g2L7WL2mDU36tsOnWsK1DT72k2b12ioTno9JqShV6X2evIdEe55ojM/o6r5049mdk0ta4PkraTrk/T8dpXxUMBpwJQ/R7Y6WsuPfW02tv6Lc+cOTO1Sx+y5ptvvtQ2VuoUIO+sAAFdVqRB6/qjpjdZvdlrWKjqqqmXQj0d6glU3lXnV3b6+uOvnkV7aKjMPBTUnXHGGeb00083vSZ87pWXhsn1Bjtt2rS4l7bXMdltCjT0HZwaHsvuq2pdgZyC4arS9y1dBTX62ixd0+hb2fKUR7+fX/3qV42+pk/Lec7Ra1bn6PWo16V68qIo6p6qIC8b/CU7oygyCiKjaO7xml+yiuvokjz1mtQ1qMm6nnXt3xFHHNHtadS2Xg/1juuyiGSfemKnTp2arPKMgJcCBHReNkuxQuliZw2zKSjRHyP19OiNXX+Ii6U4+CwFDhqO0ZuaPslrXioN5YQ6pYOCX70JDK71eHtloztA9YahNzTZqd3sVDWso6E+vUHq5pZegZluspC9fZ7emPVVW+o9HSUAtNMoshxFkdH1Vbp2qcj5vp5jl0u2un5KvVK6VlG9dprqwz4mtGXVSTf/KMjR/Itrr712avJu1Ud3p+q1eMkll8TX5OqGA31w0z7dMS8TLesxe/ZsozvrtdzrscYaaxhdGpDs0zRB/QLA5Jhxn3Xzka6JtdNRr6um2bG3ZZd1jd9dd93V3axrhDVs3N3AAgIeChDQedQomtxTQxZFHxq603VZmkxTPXL6gz1K9aZPn25GyVvXzGiC0bPPPtvoYnHdVdkvP93lpgAzSV9//O2v6ul33ijbdeeehkmSPPSsSYl7paHt2m8/5N/r2F7bsvVR3bSt17G9tqltVAbZqd3scuhibF2krhtbFAD2Ol9vpnrDsc/TTSm6TkhvnL3OGbRNbaE2SdIbVB85JcfpWcN09nDwoHy0T/XWeclD+Sp/7cvzkLPKl5yvZW3Lc66O6fU6SdLq9yxbvcnrq78U+PRrF6U/ziNrq9/JUdLLnq/fB9V3UBoaDtX1mApUNX2PbaC20WtRNzjpNWuns/jii8d3gdrHa3Jf+xh7WT3g+juRbNOdwhrqTtb7Peu1oXIk+YzS3uoVv/rqq1N/1/R3a9j3Cyvg07CwyhRFkVFQW1XPvfLw9ZH9Xc3zevK1Lm0oFwFdba1MxggggEC7BBQY2T3LuslklDtPXWg98sgj5txzz+1mpWv/dMd5dwMLCHgqQEDnacNQLAQQQKBpApoyxb4xSEO0GlXwqZ4qk3pjkzLpMhL19CXrtTyTKQI5BAjociBxCAIIIIDA+AJRFJmddtrJaPhVqWko+4c//GE8JKr1uh/qLdQQc1IO3fyhu1uTdZ4R8FmAgM7n1qFsCLgRIBcEnAnoJh97yhQNb+pOfGcFGJDRTTfdlLqxQzfB6BrDAaewCwFvBAjovGkKCoIAAgg0XyCKongS7eQ7pXWXrW7+0E0PddZecw1q2iX1GqocG220Ufw1Z1rmgUAIAm4CuhAkKCMCCCCAgBOBpZde2mji3yQzTZxddy+d7vLVxN4qk6YF0jeADLtDWMfyQMAXAQI6X1qCciCAAAItEtBEw8k0Juql04Tk6qWrg0DXzmmS5aR3Tt8osf7669dRFPJEoLAAAV1hOk5EAAEEECgqoHntjjzySKN55pSGvmpMkw1r2fVDk3xfeOGFcbaaiFiTjEfR3G+1iHfwHwKeCxDQed5AFK9sAdJDAAFfBHQdna5b07fOPPvss+bggw826i1zWT5N7H3YYYfFd9rqK76OO+44wzQlLluAvMoSIKArS5J0EEAAAQRGFtDX3+nbGzTcev7555vkq8VGTqjgCfrKuttvvz0O6J588kmjiYQLJsVpTRMIrD4EdIE1GMVFAAEEEEAAAQSyAgR0WRHWEUAAATcC5IIAAgiUJkBAVxolCSGAAAIIIIAAAvUIENDV4+4mV3JBAAEEEEAAgVYIENC1opmpJAIIIIAAAv0F2BO+AAFd+G1IDRBAAAEEEECg5QIEdC1/AVB9BNwIkAsCCCCAQJUCBHRV6pI2AggggAACCCDgQKAxAZ0DK7JAAAEEEEAAAQS8FCCg87JZKBQCCCCAQEUCJItAIwUI6BrZrFQKAQQQQAABBNokQEDXptamrm4EyAUBBBBAAAHHAgR0jsHJDgEEEEAAAQQQkECZDwK6MjVJCwEEEEAAAQQQqEGAgK4G9H5ZHn300SaKokKPl73sZWb55Zc306ZNMxdffLF57rnn+mXDdgQQ8FQg+zdghx12GLOkvU9/5plnzNSpU1N/a84///zeB1e89ZxzzjHzzjtvXJbNN9/c/OMf/0jl+NBDD5nXv/718f4oiswCCyxgbr755tQx46z7/x3UAAAQAElEQVQ88MADZqWVVorTf/WrX21++ctfjpNco87VayKK5r4n6TWj106jKtmgyhDQNaQx//Wvf5l7773XTJ8+3Wy22WZmwQUXNMccc8ykP44NqS7VQACBBgjMnj3b7LvvvuY///mP0YfSvffe28w///xOa7bUUkuZ/fffP87zqaeeMvvtt595+umn43X+QyAkgXlCKixlzS+gAG+fffYxm2yyiXn44YfznzjikRyOAAIIFBHQ36iDDz7Y/PGPf4xP//jHP27WXXfdeNn1fxMTE2aDDTaIs73iiivMN7/5TfPCCy/E6/yHQCgCBHShtFTBcl5zzTVmu+224xNnQT9OQwCBagTOPffceERBqS+yyCJmzz33NC95yUu06vzxyle+Mu6lm2eeOW+Jhx9+OEOv5bcCKVYsMOfVW3EmJF9MYJllljF//vOf40+K+rTY7/HPf/4z7oW77LLLjD7lZnPTJ85vfetb2c2sI4AAArUI6Lo19c7pb5oKsMsuu5iVV15Zi7U9dH3Yhz70oTj/Z5991hxwwAGG68ViDv4LRICALpCGGlTMl770pWbxxRc3733ve82pp55qrrvuOjNlypTUKV/72tfMfffdl9rGCgKNEqAyQQgoiPv2t79t/vCHP8Tlfd3rXmf+53/+J74pId5Q03/6O/qZz3wmvpZPRdAH5BkzZmixtQ/dpKL2Sh4zZ8406s1sLYjnFSeg87yBihRvvfXWM1/84hdTpz744IPm+uuvT21jBQEEEHAtcMcddxh7xOATn/iEWW655VwXo2d+uoZvyy237O476qijzKOPPtpdZwEBnwUI6PK3TlBH6pOVbvW3C33VVVfZqywjgAACTgXU03PSSSeZxx9/PM5XIwlbbbVVvOzDf7qGT1PFRFEUF+d3v/ud0bV+8Qr/IeC5AAGd5w1UtHgLL7ywectb3pI6fdasWebvf/97ahsrCCCAgCsB9c798Ic/7Ga36aabmhVXXLG77sOCeunWWmutblG+/vWvF+il657OAgLOBAjonFG7zWi++eYzunPMzvXf//53fIOFvc1eTj6ZRlEUX8+iSU7t/eMsayJQTQgaRXPSVu+hJgy109QFyLowOYrmHBNFkdHElvYxg5ZHOV/pRtHcfJSvzh+UfrJP0y1svfXWsVEUzUlDdVMdk2OGPSuNSy+9NJ4IWhZRNCedKIrMYostZtRroTLquGFpJfvVXlE0N50oKr48qD7ZfPS6Scow7PmJJ54werOMorllU/3t14IclX8UzT0mioovKy2lmZRN7az2jqK5aco62e/r8/PPP28uv/xy89GPftS85jWv6b7+NCnv2972tnjeSdtxnHroettPf/rTRte3RdEcJ80Tt84665gTTjjBqB2LpH/WWWd1e+eiKDJ67ahXrEhaw86RlSYKjqI55Y+iyGh92KUnCy20kPngBz/YTV69dFdeeWV3vU0L+r2Iorl++r3R70+bDEKq6zwhFZay5hdQ8JbtjdMbJxe05jfsd6QuDNbs9v32D9quN+Uf/ehH8Rul5gicPn26uf/++1OnPPbYY0bpf+ADH4iPu+CCCyYF4qkTAlrRG/qvfvWrgErsR1F//vOfmxVWWMFstNFG5swzzzRPPvlkt2CalPe2224zmndyySWXNHvttVfhCcX1LQ06/w1veEM8F5vusk8y0oeLX/ziF2aPPfaIP3ToOfs3Jjm21/MjjzwSlz3Zp/qsttpqyWqpz/q2hw9/+MNGEwUnCWt498ILLzS6xjjZ1u9ZN5i94hWv6O4+5ZRTCpt2E2EBgYoFCOgqBq4reX2C1idLO/88f8js41meLCBXzSqvN9HJewdv+ctf/mLe9773mW233dYoaBt89Jy9Ok7XQx5yyCFGb6hztob5/913320OPfTQMAtfU6l1zZmG/N797nebe+65J1cpjjvuOKML+0f9tgMFPzpP5w/LSK9/9dSpx0ZTkAw7XvsVDCZ3tmpdvX3qjdZymQ8Fc/qwpPok6SqY04eJvH8DFWyuueaayelG1x/feuut3fVxF7I9X1E0txcsisZbVtrjlo/zwxToE9CFWRlKPVdAt9zbfzw1dLLxxhvPPYClQgJ6UyjSw6Q3Vw3Tapg1m7GGBLfYYguz0047GR3T601OAd1Xv/rV7KkD1zXkPm3atDhdpT3ooSBTQ2oDExxjZxKY5BkS1PWfuvOxX3knJibi4cakOFEUGW3rd7zSUprJ8SE9q6d29913j78aKym3Xh96nai+73nPe4ym20j2Jc8XX3xx3MMm92TbsGf1uOk8+7g11lgjfv1sv/32Rr1/9j4t33TTTfFlA3p9a73fQyMG6pm296sXLIoie9PYy7///e/NNttsY3oFc8ovbwYayXjHO97RPVxzfV5yySXddRYQ8FGAgM7HVhmzTLp2RPMp2cnoephll13W3sTyiAJFe5j0Zvb5z3/eaIJnO8vll1/eKMDTm+GMGTPMd77znXhISsNc5513Xvx9vPbxmkIh2+tq788u66YYzT+odIc91CuzxBJLZJMobf3aa681J554Yq709DpV70+/Mn/hC19Ifd+nvvtT2/odr7SUZq7MPTtIE9yqN0zFUo+R2j8ZulR99buu14+mKUq+5UDH6vGNb3zDzJo1S4u5HupBTg785Cc/GX+7jD68KB9dGqCeuFtuucVkb2K44oorzEEHHWQGBY8q8w033GCSf6961avMW9/61mS1lOfZs2cbfTC69957u+lp2PQHP/hBPEdnd2POhbXXXjt15MyZM5loOCXCim8CBHS+tUiB8ui6LM2VpE/Xm222WXydjf0JVZ/iP/WpT6V6NQpk0+pT9Galoa88PUxZKL0pfu9730tt3nDDDeOvFtI1Ubqo3d6p9YmJCaNe1ilTpnR3aaoHBUUqS3djAAu6LuuYY44x6uUIoLheFlG9cZowvNe3KSig1fVzCurswmvuSV1bZ2/Ls6ybXhQMLrjggqnDoygyq666ajxxuV6/9k5NRfLrX//a3pRaVs+Zfa2ohjT1TTipg8ZYUTCn36Xke2GVlIK5H//4x+b973+/Vkd+vOlNb4pvPklOlOWf/vSnZJVnBLwTIKDzrknmFkh/ADXMEUVRHIxFUe9n3SWmb4pQMKegbm4KxkzrDLn95Cc/Mbpzy94e0LIXRc32ML397W9P9RL1K6SCL03TYAczuuBcAZ7uVOx3nrbrblD17Gk5eagnb5Rel+S8Op81bKgbO5IybLDBBskizzkE3vnOd5pjjz2259BqcnoUzbljNNt7dvvttyeH5HpW4LjnnnvGf2/6naDXrXrtXvva13YPUU/i97///b69dLquTb8LyQm6QUu9dMn6OM8PP/xw/JWHZQZzKs8SnR5r/a5qWQ/1YCow1fK4D10XK48qHkp73PJxfpgCBHRhttvQUquXRz1KJ598stE1WkNP8PSAv/71r7WXLNvDpDeyz33ucwPf9JJCa/jUDma0feeddzbLLrusFoc+dK2Urn9MDlSvi31tZLLd12f1HGuoOCmfhg01VUWyzvNwAfWu5/lApmvrVl999VSCd955Z2p90IpeZ/vuu+/AwDE5/41vfKPR6zhZ17MuKVB7a9l+6JKDbO+dyqkPovZxRZY13LzddtuZa665pnu6rik87bTTCvfMJQkp4FTgmazrOaTfPZW3fY9215iArqHtr2HYXXfd1eii5quvvrrvJ2ffq6/rduou409/+lOj6Q6Schx44IFGwzHJ+qBnfaJXT2tyzJQpU0Z6o1l66aWNLs5WEKnrg5R33mDQ1PxPvQ/f/e53ja77UlF0jdcRRxwxaX5E7ePRW0C9ROqp7b03vTWKIqP56OytCqbUDva2fssTExNmlNeWeoI0rJmkp2tM7V6yZLs+EOkaumRdz9lASdtGfSiY+9CHPpS6NlXB3BlnnBHf5TtqetnjFXBqaNjertdyXk/7PJYRcCFAQOdCucY8dKu9hrg0t5Tv017ozrLsH/pebxAuOdXjcNhhh3UDYvUwaX6rvGX47W9/2z1X5+hC8Gwdtb3fQ28qmndMPX0zZswwutt1pZVW6ne4V9v1rQBf/vKXu2XSm+/UqVO76yEuuC6zesIWXXTRwtmqRzfvXHGaGiWKotx5aTjSvqZPwaOGVrMJaCJa+0ON9mvYVs9FH0pTH1jVK5ikEUWROfXUU0sJ5pI0s3dHj+KZpMEzAq4ECOhcSRfIRxcN641cnwiHPf72t7/Fd7RpqEFBRza7L33pS+bwww9PBRfZY3xYX2WVVVLF0IXg2U/3qQMqXJF5rx6m7B/5QUX4zW9+k9qtNlXgmtrYwBV9eNCds7qRQ9XTFCq6E1I9KFr37aFJnKMoiofRoyj9rMsXlltuOfOxj33MaNoa9Qy5Kr/yjqKo8uzU0zbKBw0VqNeQpIJ47bMf+huWvA60XXlpeFjLRR66HlV34eruVft8/b7qe1f12rO3j7Oc7YnXTRF5A+Rx8uVcBIoIENAVUavsnOIJK0jQH2RdT6IJPHUjhP5w2ikqoNM0B/a2Qcu6ID+Kop5vclEUxfNSaW4nBYv6Qzcorbz71Jtol1vXrBxwwAG1TKqrNye7h0lzcY3Sw6Q3GPVaGOuf7kiMosja0sxFTfGg3pKkdp/97GeN3ZuTbA/hWdOG6EaU008/PZ4nUMPmmhbIxfWd+p3W73bVTvpKLN1YNUo+6j3OXp9bZjDVryz6ndKlDL32n3322UZBXa99ZWxT3no9lJEWaSBQtgABXdmiHqQXRZFRj4PeUHXdUlIk/SFS8KVrWpJt4zxrCg8NeegGAfU8rbvuukZB0Dhp6k1fQz92GpoSQZPD9nsD1fCL7u7dcccdUxdH22mMuqw3pmwPk+o5Sg+TPslriMbOO/uJ397XlGX1YGmYWq831Unz4altoqg5gaxuONLwuS5pUB1Df6gnUI9R65G9xqzX+fp7o161XvvK2Gb/jdOHqP322y8erSgj7ao+gOnbHKIo6vthOYpy7OtzjNIuo+6kEZ7APOEVmRLnFVBQp+uW7OOvv/56c9ddd9mbSlu+8cYbjd68NeeYbsookrD+gKpHTr0g9vkKTtWLoMk+dXedHuod1LU4GvrRlC2acyoJIuxziyw3qYepSP3HOUffCJDcdRhFkVF7jjPENk5Z8p6rOcw0ZUevh+Zx7HUdm3qldZ4ulM+bT9OO04eWYXXS986qZ2vYcaPuVyCnibN/9rOfGS0n52tiYc2lV0ae+pujv0lJ2jwj4LMAAZ3PrTNm2dSbpDsj7WR0rV32AmV7v72sudZ6vcFpm9LVnZf28cmyJjn9yle+kqyO/Ky7+nTtmspvn6xgTRddq8dOD/UO6s3CPqaM5bJ6mOabb75Jd3TWfZPHCD6FDp01a1Y8Z1pysiZ11QeLZN3XZw2ham61Xg9dpqCbY3QdmK7dsuugbbpRRT269vbQlvUBTI9Ry53nLnQFRRqeHTXtQccrgNM3gOgbcBRw//d/mmLergAAEABJREFU/3fqcLXjVVddldpWZEXtrjn2ipzLOQi4FpjHdYbk51YgO9u7cs87LKq7OfWHsddDd1zqYmcNpehGDPu6N+Vx/PHHm/vuu0+LhR5bbrllPCO9vh4rbwIaMtIf+rzH9zuurB4mvYllrzHS8JOGhfrlHfJ21UuBvHpIVA+9JvSVXE3p4dDNMAoi9IFG9UsemtJGdzMn6yE+64PRqDcfqQcs20O31FJLTaq+2r/M7wmOosjo2lYFc1EUGf2e6Xpf+wOmPvxpgmQFZJMKNMIG1XGEwzkUgVoF6gvoaq02mZcloF403YihIVE7mNK1Y5deeulY2ehuXV38rHngNtlkk9QEycpLE6Gqp/Bb3/qW0RxYTzzxhNGs+uNkWnYPU/YaI/WO6pq/Ucqoa2J0Yby+BUCT8upbJnx8o0l6T5O6KfBRb2uy3oRnvd532203Y18SoB4c3bwTcv1Uh1GDH329oH4/7XrrGlh7XcsKuPRhS8tlPBQgrr/++vH1Z0l6mt5FczQm63rWULiGZPVBQ+tlPFQX/e0ZNy3N4adyVfFQ2uOWj/PDFCCgC7Pdcpe6140Evf7o5k6wz4EKuLLBlL7DtM/huTfrDVR/oHTTgwKh5A+ghoc03KOewv/93/816skb901Dn+rL7mFabbXVUnVV76jKndo4ZEXXJqonRLP+K3DWNUNDTnG+Wz2PuotagYEy1xxle+yxR+pNV9ub8NCdp7ohwq7LqG1qn+vLsr7ebpSy6PIBfZBKzlGPrD50JOvJs66f1LBrsq7XiHr3k/U8z3mO0QdLXdNoH6uePH3QsLeNsqzfV/t4TfSd7XW397OMQJ0CBHR16lect3pxsl87pT+6Sy65ZOk5qwdJb3R2wqFdV6SvJ9K1eUkdyuhh0hucehKTNPV9kLr2L1kf9qzr+bLH601LPQXDznW5/6KLLkp9m4Ymsl522WVdFsFZXlEUmXE/PBgP/+l1ptdbnqLpg1X2O4r/67/+y6inLHu+/jboLnh7exUBnfLR3dX6G5fkpeBRr8W89UrOS5410pAs61l/45SPlnkg4JsAAZ1vLVJieXRRsO78tJPs90fXPqbI8nPPPWd0gbh9rnrX7HV/l41R75+GbPQGoHKW1cOkT/TZnktdX6ihXeUz7KE3WbuHQUN9+iqwYedpvybz1Y0ZWq7yoTc92elNXvmovttss40WG/nQ0KR6S+3K9bp2zN4fwrLmr9T1o3nKqtfk97///dSh6iFbaKGFUtu0ogAoG9Dp0gPtK/uhIX7NeWinqzuuTz75ZHtTrmV9IM4GntlLKHIlxEEIOBIgoHME7TqbG264wWy77bZGw4h23tOmTTO9/ujaxxRZ1nQouhvQPlfXwNnrPi/ffPPNqTns9Km+jB4m9aTpmiv7onDdNKB59Yb1Gmg4Sxd7J4GS/DQNjXr9tDzsoaEh5T/suHH3K+jU9UpKR9cXaZqSKl5jSr/uh4b61Yv78MMPd4uiHqG8bdI9ydOFfffd1+h3eVDx9Lr8+Mc/bpIPPzpWPXO6nlXL2UcURUZ3zNvbNX+fPgTa28pYjqLI6I5lTZ9kp6fLAW655RZ709DlXtcIZi+hGJoIBzRPwOMaEdB53DijFE1v+ropQNeaaU629dZbb1KPmQIs3bk6SrrDjlVQctRRR5lNN93U6I7X5HgNM2688cbJalDPZfcwrbPOOiY73YWCoKlTpxrdHam2s4EUNKgdNVGzrlNK9qnHTXfu9QrSNLyta+2SY+t6HvXbNOoq56j5qo0UyOj3R693+3xNhF3Fdal2Hq6WFcTodalpg/SasvPt97qMoij+WkH1RtvH28vqObNft7qJRH877GPKWtY1e/pQEUVRN0nVS73Iutazu3HIgnqeNddgctgSSyxh6KFLNHj2UYCAzsdWebFMGpbQ9W5RFMUXl0dR/2f1jOgNX8GcgoEXk+g+TZkyxWh2e0290N04ZEHfW6kJfHs9FKRoUl+lq0/12T/+CjyWW265ITn4t1uOejMos4cpiiKjuco0X5ZdY/VS6Ltr9UbxkY98xMh5YmIi7kFVO9pD2CqX7uZNeh40ZLv77rvH5+hbGFZaaSUzY8YMO3mjtFMbKl7R62/Ub9OouEi5k9fdkPLPPnRXsXrfXv7ylxt9y8d5552XSlOvf71edOdlakfxlVrO1MTJG264YZy3fpfVg6weXr0eZaLXp9o3+7rUCRri1DRDWu73kOGb3/zm7m79bbM/rHR3lLSg8my11Vap1HQ98TnnnJPaNmjlnnvuMZq3Mzlm9dVXj7/uMFnnGQHfBAjofGuRCsqjP8T6Q6ZPyaMkr2FIDS/1euh6G81d1Su9XXbZxWiYsdc+37dpgtLkja3MsipAVBtk32SUh67J0rWOctZ38OqOVm1PHgrm1GOiN6lkm3pjdV2QztE0JnrzSfbpWW2uO4+17OqhYC4JOF3lWVY+l112mZFl9qG7inW9nIKcbF5qF7XBqL9X2XR8WFdAqm9XWGONNbrFUZ31epSJXp/q5erufHFBNyF88YtfNMOul9UHSdtJ16clw/QvJlXqk8pz0EEHTZrYe++9946nOMqTmb4txj5OwayLa1LtPFlGYBQBArpRtAI7Vn/U9CarN3sNC8XFr/A/vSmop0M9gcq7wqwqSVpBkHoW7aGhMjNSUHfGGWeY008/3fSa8LlXXhomv+2228y0adPiXtpex2S3KdA49thjjcthQAVyCoazZWnquqbJufLKK42uaWxKHXVjxyWXXGI0rDysTqq/LhvYf//9hwZzSiuKIqNeviiKtBo/NL9kFdfRxYl3/tNrUtegdha7Pw899JA54ogjjILV7sYeC+odV/2SXVM6IxxTp05NVnlGwEsBAjovm6VYoTRsomE2BSX6Y6SeHr2x5w0eRs1VgYOuldObmj7BP/bYY2bXXXcNdkoHBb96ExjVYZTjNd2F7gDVG4be0GSndrPT0DC7hvquu+46o5tbegVmuslC9vZ5CqL1VVvqPR0lALTTKLIcRZE59NBDja5dKnJ+COfIVtdPqedZ1yqq126DDTYIoegjlVGXUZx55plGdVQAZs8fpyFY9frqdasJhfUhMYrmBmjDMlLvny4NSI7TNEHZu0iTfWU9a+hY18Ta6anXVdPs2Nuyy7rGz/7Oa10jrGHj7HFNX6d+YQkQ0HnUXvvss4/RxddFHxq603VZmkxTf2z1JjRK9aZPnz5S/rpIWhOqnn322fGnev3B75ef7nJTgJnUbfbs2cb+qp5+542yXdMjaJgkyUPPmpS4Vxrarv32Q/69ju21LVsf1U3beh3ba5vaRmWQndrNLocuxj7llFOMbmxRANjrfE0/ozcc+zzdlKLrhPTG2eucQdvUFmqTJL1B9ZFTcpyedSe1PRw8KB/tU711XvJQvspf+/I85KzyJedrWdvynKtjer1OkrT6PctWb/L66q+11167sg8tWVv9TqrMeR/Z82fOnGlU3+z52qZ9SX3tNoiiyKiO6k3WvInJMZraR9fnqv30+s2mOWxdPeB275/uFNZQ97Dz9NpQ+ZJyjNLe6hW/+uqrU3/X9Hdr2PcLK+DTsLDKFkWR0QesqnrulQcPBMoQIKArQ5E0EECggACntE1AgZHds6ybTEa589SF1yOPPGLOPffcbla69k93nHc3sICApwIEdJ42DMVCAAEEmiaw7LLLGvvGIE1+rlEFn+qpMqk3NimTLiNRT1+yzjMCvgo0OqDzFZ1yIYAAAm0UiKLI6Cv1NPyq+msoW18hpuFUrdf9UG+hLndIyqGbknR3a7Letufsd9nqshqGnv19FRDQ+ds2lAwBBBBonIBu8tHURknFNLypO/GT9Zqe42xvuukmox66eKXzn26C0ZQrncVW/uh6XrviCsSZusUW8WuZgM6v9qA0CCCAQKMFoiiKJ8TW14WpoppKRDd/1N1Lp6lMNO2Seg1Vro022shoYmUtt/GhycsvvPDCVNU1i0JqAyteCRDQedUcFKaxAlQMAQS6AvqaME38m2zQxNl199JpqhZNpKwyaVogfQOI7gbWehseCqw1FY+mq9FDPan33ntvt+oy4eaQLoeXCwR0XjYLhUIAAQSaLaCgIZnGRMGEJiSvq5dO184dc8wx3e+j1jdKrL/++s1ugEztFFBff/31RnOK6iET+5AtttjCFJkSyU6D5XwCRY8ioCsqx3kIIIAAAoUFNJfdkUce2Z2PUl8xpsmGCyc4xomaLDkZXtRExJpkPIryT5o8RtbenKqvYkvm3ssWSoGc5jdVm2X3se6PAAGdP21BSRBAAAEHAv5koevodN2avnXm2WefNQcffLDJ9gxVXVpN7H3YYYfFkw/rK76OO+4408ZpSuS/zDLLpLj1zTm6vlGTM+ur4VI7WfFOgIDOuyahQAgggEB7BPT1d/r2Bg23nn/++UbfCe2y9vrKuttvvz0O6J588kmjiYRd5u9LXvrKSPsbOdQectl+++2dt4kvJqGVg4AutBYLoLwUEQEEEEAAAQTcChDQufUmNwQQQAABBBCYI8D/JQoQ0JWISVIIIIAAAggggEAdAgR0daiTJwIIuBEgFwQQQKAlAgR0LWloqokAAggggAACzRUgoBuvbTkbAQQQQAABBBCoXYCArvYmoAAIIIAAAs0XoIYIVCtAQFetL6kjgAACCCCAAAKVCxDQVU5MBgi4ESAXBBBAAIH2ChDQtbftqTkCCCCAAAIINERghICuITWmGggggAACCCCAQMMECOga1qBUBwEEEKhdgAIggIBzAQI65+RkiAACCCCAAAIIlCtAQFeuJ6m5ESAXBBBAAAEEELAECOgsDBYRQAABBBBAoEkC7akLAV172pqaIoAAAggggEBDBQjoGtqwVAsBBNwIkAsCCCDggwABnQ+tQBkQQAABBBBAAIExBAjoxsBzcyq5IIAAAggggAACgwUI6Ab7sBcBBBBAAIEwBChlqwUI6Frd/FQeAQQQQAABBJogQEDXhFakDgi4ESAXBBBAAAFPBQjoPG0YioUAAggggAACCOQV8Cugy1tqjkMAAQQQQAABBBDoChDQdSlYQAABBBAIRYByIoBAWoCALu3BGgIIIIAAAgggEJwAAV1wTUaB3QiQCwIIIIAAAuEIENCF01aUFAEEEEAAAQR8E/CkPAR0njQExUAAAQQQQAABBIoKENAVleM8BBBAwI0AuSCAAAJDBQjohhJxAAIIIIAAAggg4LcAAZ3f7eOmdOSCAAIIIIAAAkELENAF3XwUHgEEEEAAAXcC5OSvAAGdv21DyRBAAAEEEEAAgVwCBHS5mDgIAQTcCJALAggggEARAQK6ImqcgwACCCCAAAIIeCTQuoDOI3uKggACCCCAAAIIlCJAQFcKI4kggAACCDRMgOogEJQAAV1QzUVhEUAAAQQQQACByQIEdJNN2IKAGwFyQQABBBBAoCQBArqSIEkGAQQQQAABBBCoQiBPmgR0eZQ4Btf8MmMAABAASURBVAEEEEAAAQQQ8FiAgM7jxqFoCCCAgBsBckEAgdAFCOhCb0HKjwACCCCAAAKtFyCga/1LwA0AuSCAAAIIIIBAdQIEdNXZkjICCCCAAAIIjCbA0QUFCOgKwnEaAggggAACCCDgiwABnS8tQTkQQMCNALkggAACDRQgoGtgo1IlBBBAAAEEEGiXAAFd+e1NiggggAACCCCAgFMBAjqn3GSGAAIIIIBAIsAzAuUJENCVZ0lKCCCAAAIIIIBALQIEdLWwkykCbgTIBQEEEECgHQIEdO1oZ2qJAAIIIIAAAg0WGDOga7AMVUMAAQQQQAABBAIRIKALpKEoJgIIIBC0AIVHAIFKBQjoKuUlcQQQQAABBBBAoHoBArrqjcnBjQC5IIAAAggg0FoBArrWNj0VRwABBBBAoI0CzawzAV3Odo2iyEQRjyjCIIowiCIMogiDKMIgijCIonINcr4tc1hGgIAuA8IqAgggMK4A5yOAAAKuBQjoXIuTHwIIIIAAAgggULIAAV3JoG6SIxcEEEAAAQQQQGCuAAHdXIvsUtTZwMMYDDAI8TVgMv9CrANlNvz9MWZMg2acb/g3XICAbrgRRyCAAAIIIIAAAl4LENB53TwUDgHvBSggAggggIAHAgR0HjQCRUAAAQQQQAABBMYR8D+gG6d2nIsAAggggAACCLRAgICuBY1MFRFAAIE2CFBHBNosQEDX5tan7ggggAACCCDQCAECukY0I5VwI0AuCCCAAAII+ClAQOdnu1AqBBBAAAEEEAhVoIZyE9DVgE6WCCCAAAIIIIBAmQIEdGVqkhYCCCDgRoBcEEAAgZQAAV2KgxUEEEAAAQQQQCA8AQK68NrMTYnJBQEEEEAAAQSCESCgC6apKCgCCCCAAAL+CVAiPwQI6PxoB0qBAAIIIIAAAggUFiCgK0zHiQgg4EaAXBBAAAEEhgkQ0A0TYj8CCCCAAAIIIOC5AAGdMcbzNqJ4CCCAAAIIIIDAQAECuoE87EQAAQQQQKArwAIC3goQ0HnbNBQMAQQQQAABBBDIJ0BAl8+JoxBwI0AuCCCAAAIIFBAgoCuAxikIIIAAAggggECdAtm8CeiyIqwjgAACCCCAAAKBCRDQBdZgFBcBBBBwI0AuCCAQkgABXUitRVkRQAABBBBAAIEeAgR0PVDY5EaAXBBAAAEEEECgHAECunIcSQUBBBBAAAEEqhEg1RwCBHQ5kDgEAQQQQAABBBDwWYCAzufWoWwIIOBGgFwQQACBwAUI6AJvQIqPAAIIIIAAAggQ0Ll5DZALAggggAACCCBQmQABXWW0JIwAAggggMCoAhyPQDEBArpibpyFAAIIIIAAAgh4I0BA501TUBAE3AiQCwIIIIBA8wQI6JrXptQIAQQQQAABBFomUEFA1zJBqosAAggggAACCNQsQEBXcwOQPQIIINBaASqOAAKlCRDQlUZJQggggAACCCCAQD0CBHT1uJOrGwFyQQABBBBAoBUCBHStaGYqiQACCCCAAAL9BcLfQ0AXfhtSAwQQQAABBBBouQABXctfAFQfAQTcCJALAgggUKUAAV2VuqSNAAIIIIAAAgg4ECCgc4DsJgtyQQABBBBAAIG2ChDQtbXlqTcCCCCAQDsFqHUjBQjoGtmsVAoBBBBAAAEE2iRAQNem1qauCLgRIBcEEEAAAccCBHSOwckOAQQQQAABBBAoWyDMgK5sBdJDAAEEEEAAAQQCFiCgC7jxKDoCCCCAwGAB9iLQFgECura0NPVEAAEEEEAAgcYKENA1tmmpmBsBckEAAQQQQKB+AQK6+tuAEiCAAAIIIIBA0wUqrh8BXcXAJI8AAggggAACCFQtQEBXtTDpI4AAAm4EyAUBBFosQEDX4san6ggggAACCCDQDAECuma0o5takAsCCCCAAAIIeClAQOdls1AoBBBAAAEEwhWg5O4FCOjcm5MjAggggAACCCBQqgABXamcJIYAAm4EyAUBBBBAwBYgoLM1WEYAAQQQQAABBAIUIKDr02hsRgABBBBAAAEEQhEgoAulpSgnAggggICPApQJAS8ECOi8aAYKgQACCCCAAAIIFBcgoCtux5kIuBEgFwQQQAABBIYIENANAWI3AggggAACCCDgu4ACOt/LSPkQQAABBBBAAAEEBggQ0A3AYRcCCCCAgC3AMgII+CpAQOdry1AuBBBAAAEEEEAgpwABXU4oDnMjQC4IIIAAAgggMLoAAd3oZpyBAAIIIIAAAvUKkHtGgIAuA8IqAggggAACCCAQmgABXWgtRnkRQMCNALkggAACAQkQ0AXUWBQVAQQQQAABBBDoJUBA10vFzTZyQQABBBBAAAEEShEgoCuFkUQQQAABBBCoSoB0ERguQEA33IgjEEAAAQQQQAABrwUI6LxuHgqHgBsBckEAAQQQCFuAgC7s9qP0CCCAAAIIIICAcRTQIY0AAggggAACCCBQlQABXVWypIsAAgggMLoAZyCAQCEBArpCbJyEAAIIIIAAAgj4I0BA509bUBI3AuSCAAIIIIBA4wQI6BrXpFQIAQQQQAABBMYXCCsFArqw2ovSIoAAAggggAACkwQI6CaRsAEBBBBwI0AuCCCAQFkCBHRlSZIOAggggAACCCBQkwABXU3wbrIlFwQQQAABBBBogwABXRtamToigAACCCAwSIB9wQsQ0AXfhFQAAQQQQAABBNouQEDX9lcA9UfAjQC5IIAAAghUKEBAVyEuSSOAAAIIIIAAAi4EmhPQudAiDwQQQAABBBBAwEMBAjoPG4UiIYAAAghUJ0DKCDRRgICuia1KnRBAAAEEEECgVQIEdK1qbirrRoBcEEAAAQQQcCtAQOfWm9wQQAABBBBAAIE5AiX+T0BXIiZJIYAAAggggAACdQgQ0NWhTp4IIICAGwFyQQCBlggQ0LWkoakmAggggAACCDRXgICuuW3rpmbkggACCCCAAAK1CxDQ1d4EFAABBBBAAIHmC1DDagUI6Kr1JXUEEEAAAQQQQKByAQK6yonJAAEE3AiQCwIIINBeAQK69rY9NUcAAQQQQACBhggQ0I3QkByKAAIIIIAAAgj4KEBA52OrUCYEEEAAgZAFKDsCzgUI6JyTkyECCCCAAAIIIFCuAAFduZ6khoAbAXJBAAEEEEDAEiCgszBYRAABBBBAAAEEQhToF9CFWBfKjAACCCCAAAIItFKAgK6VzU6lEUAAgbIESAcBBHwQIKDzoRUoAwIIIIAAAgggMIYAAd0YeJzqRoBcEEAAAQQQQGCwAAHdYB/2IoAAAggggEAYAq0uJQFdq5ufyiOAAAIIIIBAEwQI6JrQitQBAQTcCJALAggg4KkAAZ2nDUOxEEAAAQQQQACBvAIEdHml3BxHLggggAACCCCAwMgCBHQjk3ECAggggAACdQuQPwJpAQK6tAdrCCCAAAIIIIBAcAIEdME1GQVGwI0AuSCAAAIIhCNAQBdOW1FSBBBAAAEEEECgp0CNAV3P8rARAQQQQAABBBBAYEQBAroRwTgcAQQQQMCxANkhgMBQAQK6oUQcgAACCCCAAAII+C1AQOd3+1A6NwLkggACCCCAQNACBHRBNx+FRwABBBBAAAF3Av7mREDnb9tQMgQQQAABBBBAIJcAAV0uJg5CAAEE3AiQCwIIIFBEgICuiBrnIIAAAggggAACHgkQ0HnUGG6KQi4IIIAAAggg0DQBArqmtSj1QQABBBBAoAwB0ghKgIAuqOaisAgggAACCCCAwGQBArrJJmxBAAE3AuSCAAIIIFCSAAFdSZAkgwACCCCAAAII1CXQ7ICuLlXyRQABBBBAAAEEHAoQ0DnEJisEEEAAAT8FKBUCoQsQ0IXegpQfAQQQQAABBFovQEDX+pcAAG4EyAUBBBBAAIHqBAjoqrMlZQQQQAABBBBAYDSBgkcT0BWE4zQEEEAAAQQQQMAXAQI6X1qCciCAAAJuBMgFAQQaKEBA18BGpUoIIIAAAggg0C4BArp2tbeb2pILAggggAACCDgVIKBzyk1mCCCAAAIIIJAI8FyeAAFdeZakhAACCCCAAAII1CJAQFcLO5kigIAbAXJBAAEE2iFAQNeOdqaWCCCAAAIIINBgAQK6MRuX0xFAAAEEEEAAgboFCOjqbgHyRwABBBBogwB1RKBSAQK6SnlJHAEEEEAAAQQQqF6AgK56Y3JAwI0AuSCAAAIItFaAgK61TU/FEUAAAQQQQKApAqMEdE2pM/VAAAEEEEAAAQQaJUBA16jmpDIIIICADwKUAQEEXAsQ0LkWJz8EEEAAAQQQQKBkAQK6kkFJzo0AuSCAAAIIIIDAXAECurkWLCGAAAIIIIBAswRaUxsCutY0NRVFAAEEEEAAgaYKENA1tWWpFwIIuBEgFwQQQMADAQI6DxqBIiCAAAIIIIAAAuMIENCNo+fmXHJBAAEEEEAAAQQGChDQDeRhJwIIIIAAAqEIUM42CxDQtbn1qTsCCCCAAAIINEKAgK4RzUglEHAjQC4IIIAAAn4KEND52S6UCgEEEEAAAQQQyC3gWUCXu9wciAACCCCAAAIIIPCiAAHdixA8IYAAAggEJEBREUAgJUBAl+JgBQEEEEAAAQQQCE+AgC68NqPEbgTIBQEEEEAAgWAECOiCaSoKigACCCCAAAL+CfhRIgI6P9qBUiCAAAIIIIAAAoUFCOgK03EiAggg4EaAXBBAAIFhAgR0w4TYjwACCCCAAAIIeC5AQOd5A7kpHrkggAACCCCAQMgCBHQhtx5lRwABBBBAwKUAeXkrQEDnbdNQMAQQQAABBBBAIJ8AAV0+J45CAAE3AuSCAAIIIFBAgICuABqnIIAAAggggAACPgm0L6DzSZ+yIIAAAggggAACJQgQ0JWASBIIIIAAAs0ToEYIhCRAQBdSa1FWBBBAAAEEEECghwABXQ8UNiHgRoBcEEAAAQQQKEeAgK4cR1JBAAEEEEAAAQSqEciRKgFdDiQOQQABBBBAAAEEfBYgoPO5dSgbAggg4EaAXBBAIHABArrAG5DiI4AAAggggAACBHS8BtwIkAsCCCCAAAIIVCZAQFcZLQkjgAACCCCAwKgCHF9MgICumBtnIYAAAggggAAC3ggQ0HnTFBQEAQTcCJALAggg0DwBArrmtSk1QgABBBBAAIGWCRDQVdDgJIkAAggggAACCLgUIKBzqU1eCCCAAAIIzBVgCYHSBAjoSqMkIQQQQAABBBBAoB4BArp63MkVATcC5IIAAggg0AoBArpWNDOVRAABBBBAAIEmC4wb0DXZhrohgAACCCCAAAJBCBDQBdFMFBIBBBAIXYDyI4BAlQIEdFXqkjYCCCCAAAIIIOBAgIDOATJZuBEgl8YIrNypyaGdx5TOo+4fleGwTiFUps4TPwgggICfAgR0frYLpUKgzQJ3dCq/ducxq/M4uPNYsPNw/aNA7pBOprM7jzU7D5Wp88QPAgg0QKCRVSCga2SzUikEghc4qFPVVYfBAAAQAElEQVSDhToPPSuoOrCz7CKwUx7KU8FkkqeCyk72/CCAAAL+ChDQ+ds2lAyBNgvc2Kn8pZ2HfpLeMgVZX+hsUNDVeSr1R2kqbQWPCuAUTCqDSzr/qSydpxF+OBQBBBBwLEBA5xic7BBAILeAAiv74Fd3VnQ92/2d5/06j1d2HuP+KA31xClNpa3g0U4zWwZ7H8sIIICANwIEdN40xUgF4WAE2iBwQ6eSV3Qe2R/1nh3R2ageu307zwrKOk8j/egcBYXqkdO1ckozm4B6COmdy6qwjgACXgoQ0HnZLBQKAQReFFDv2YuLk54W7mw5svNQYLd35/kVncewnySQ0zkKCl8z4ARdSzdgN7sQCEGAMrZFgICuLS1NPREIU+D6TrGv7DwG/SiwO7pzgIK0vTrPvQI7bduns+++zkOBnM7pLPb9oXeuLw07EEDARwECOh9bhTIhEJCAg6IO6qWzs1+0s3JM56HArvOU+tHQ6lGdLYt0Hnl+6J3Lo8QxCCDgjQABnTdNQUEQQKCPwHWd7b2upets7vmjwC67I28gp/O4s1UKPBBAICiBAAK6oDwpLAIIVCOgKUWqSXlyqtzZOtmELQgg4LkAAZ3nDUTxEEAgFtDdplfFS9X+x7Vz1fpWmzqpI9BiAQK6Fjc+VUcgMAF9v2vVRebauaqFSR8BBCoRIKCrhJVEGypAteoVmNnJ/prOo6ofrp2rSpZ0EUCgcgECusqJyQABBEoUqLIHjWvnSmwokkKg3QLua09A596cHBFAoLiArqPT9XTFU+h95uWdzVWk20mWHwQQQKB6AQK66o3JAQEEyhXYv9zk4tQOiP8P6D+KigACCNgCBHS2BssIIBCCgL45oszeNHrnQmh1yogAAgMFCOgG8rR5J3VHwGuBMnvUykzLazQKhwACzRUgoGtu21IzBJosUFavmr6BoszeviabUzcEeguw1QsBAjovmoFCIIBAAYG83/E6KGmX30AxqBzsQwABBMYSIKAbi4+TEUDAgUC/LC7r7Bind43euQ4gPwgg0AwBArpmtCO1QKCtAuPMS0fvXFtfNdQbgQYKENCpUXkggECoApd2Cl6kl67sO2U7xeAHAQQQqE+AgK4+e3JGAIFyBIp8w0MVc9mVUxtS8VqAwiHgqwABna8tQ7kQQCCvgL6D9Za8B3eOo3eug8APAgg0S4CArlntSW2CF6ACBQX2G+E8eudGwOJQBBAIQ4CALox2opQIIDBY4OLO7jy9dFV9F2wne34QQAABhwKZrAjoMiCsIoBAsAJ5et64szXY5qXgCCAwSICAbpAO+xBAICSBizqFHdRLp9656zvH8JNPgKMQQCAgAQK6gBqLoiKAwFCBQd/LOsp1dkMz4gAEEEDAJwECOp9ao21lob4IlC9wYSfJmzqP7A93tmZFWEcAgUYJENA1qjmpDAIIdAQO6TyyP4N67rLHso4AAp4JUJzhAgR0w404AgEEwhK4oFNcu5eOa+c6IPwggECzBQjomt2+1A6BtgrYd7PmuHaurUzUGwEEmiLgc0D3QgeZhzEYYMBrYPTXgOal6/wJiX9u6PyP4eiGmGHGa2DOa6DzJ8T/H58DOv/1RighhyKAAAIIIIAAAlUJENBVJUu6CCCAAAIIjC7AGQgUEiCgK8TGSQgggAACCCCAgD8CwQR0L7zwguGBAa+BEl4D/C7xt4TXAK8BXgN9XwP+hGijlSSYgG60anE0AggggAACCCDQHoEqArr26FFTBBBAAAEEEEDAAwECOg8agSIggAAC7RSg1gggUJYAAV1ZkqSDAAIIIIAAAgjUJEBAVxM82boRIBcEEEAAAQTaIEBA14ZWpo4IIIAAAgggMEgg+H0EdME3IRVAAAEEEEAAgbYLENC1/RVA/RFAwI0AuSCAAAIVChDQVYhL0ggggAACCCCAgAsBAjoXym7yIBcEEEAAAQQQaKkAAV1LG55qI4AAAgi0VYB6N1GAgK6JrUqdEEAAAQQQQKBVAgR0rWpuKouAGwFyQQABBBBwK0BA59ab3BBAAAEEEEAAgdIFAg3oSncgQQQQQAABBBBAIFgBArpgm46CI4AAAggMFeAABFoiQEDXkoammggggAACCCDQXAECuua2LTVzI0AuCCCAAAII1C5AQFd7E1AABBBAAAEEEGi+QLU1JKCr1pfUEUAAAQQQQACBygUI6ConJgMEEEDAjQC5IIBAewUI6Nrb9tQcAQQQQAABBBoiQEDXkIZ0Uw1yQQABBBBAAAEfBQjofGwVyoQAAggggEDIApTduQABnXNyMkQAAQQQQAABBMoVIKAr15PUEEDAjQC5IIAAAghYAgR0FgaLCCCAAAIIIIBAiAIEdP1aje0IIIAAAggggEAgAgR0gTQUxUQAAQQQ8FOAUiHggwABnQ+tQBkQQAABBBBAAIExBAjoxsDjVATcCJALAggggAACgwUI6Ab7sBcBBBBAAAEEEPBeIA7ovC8lBUQAAQQQQAABBBDoK0BA15eGHQgggAACGQFWEUDAUwECOk8bhmIhgAACCCCAAAJ5BQjo8kpxnBsBckEAAQQQQACBkQUI6EYm4wQEEEAAAQQQqFuA/NMCBHRpD9YQQAABBBBAAIHgBAjogmsyCowAAm4EyAUBBBAIR4CALpy2oqQIIIAAAggggEBPAQK6nixuNpILAggggAACCCBQhgABXRmKpIEAAggggEB1AqSMwFABArqhRByAAAIIIIAAAgj4LUBA53f7UDoE3AiQCwIIIIBA0AIEdEE3H4VHAAEEEEAAAQSMcRXQYY0AAggggAACCCBQkQABXUWwJIsAAgggUESAcxBAoIgAAV0RNc5BAAEEEEAAAQQ8EiCg86gxKIobAXJBAAEEEECgaQIEdE1rUeqDAAIIIIAAAmUIBJUGAV1QzUVhEUAAAQQQQACByQIEdJNN2IIAAgi4ESAXBBBAoCQBArqSIEkGAQQQQAABBBCoS4CAri55N/mSCwIIIIAAAgi0QICArgWNTBURQAABBBAYLMDe0AUI6EJvQcqPAAIIIIAAAq0XIKBr/UsAAATcCJALAggggEB1AgR01dmSMgIIIIAAAggg4ESgQQGdEy8yQQABBBBAAAEEvBMgoPOuSSgQAggggEClAiSOQAMFCOga2KhUCQEEEEAAAQTaJUBA1672prZuBMgFAQQQQAABpwIEdE65yQwBBBBAAAEEEEgEynsmoCvPkpQQQAABBBBAAIFaBAjoamEnUwQQQMCNALkggEA7BAjo2tHO1BIBBBBAAAEEGixAQNfgxnVTNXJBAAEEEEAAgboFCOjqbgHyRwABBBBAoA0C1LFSAQK6SnlJHAEEEEAAAQQQqF6AgK56Y3JAAAE3AuSCAAIItFaAgK61TU/FEUAAAQQQQKApAgR0o7QkxyKAAAIIIIAAAh4KENB52CgUCQEEEEAgbAFKj4BrAQI61+LkhwACCCCAAAIIlCxAQFcyKMkh4EaAXBBAAAEEEJgrQEA314IlBBBAAAEEEEAgSIG+AV2QtaHQCCCAAAIIIIBACwUI6FrY6FQZAQQQKFGApBBAwAMBAjoPGoEiIIAAAggggAAC4wgQ0I2jx7luBMgFAQQQQAABBAYKENAN5GEnAggggAACCIQi0OZyEtC1ufWpOwIIIIAAAgg0QoCArhHNSCUQQMCNALkggAACfgoQ0PnZLpQKAQQQQAABBBDILUBAl5vKzYHkggACCCCAAAIIjCpAQDeqGMcjgAACCCBQvwAlQCAlQECX4mAFAQQQQAABBBAIT4CALrw2o8QIuBEgFwQQQACBYAQI6IJpKgqKAAIIIIAAAgj0FqgzoOtdIrYigAACCCCAAAIIjCRAQDcSFwcjgAACCLgXIEcEEBgmQEA3TIj9CCCAAAIIIICA5wIEdJ43EMVzI0AuCCCAAAIIhCxAQBdy61F2BBBAAAEEEHAp4G1eBHTeNg0FQwABBBBAAAEE8gkQ0OVz4igEEEDAjQC5IIAAAgUECOgKoHEKAggggAACCCDgkwABnU+t4aYs5IIAAggggAACDRNoRUB39NFHmyiKCj1e9rKXmeWXX95MmzbNXHzxxea5555r2EuA6iCAQJkCO+yww9C/NfqbZOd5/vnnp86ZOnWqeeaZZ7qHPPTQQ+b1r3996pgoSv9NW2CBBczNN9/cPWechVmzZsV/96Jobh7zzDOPOfPMM8dJNj73X//6l9l5551TdXn5y19urrnmmnj/qP8pvRtvvNF89rOfNauuuqp55StfmUpb6yuuuKLZfffdzeWXXz7233AZyzqK5tpE0ejL8847r1lqqaXMe9/7XnPQQQeZ3//+9+b5558ftfojHa/XlF5bUTS3vHrt9U+k+J5eeUXR3HyjaM6ynX+vc+z9Kk0ef/2u6HdGx7fp0YqAbpwG1R+Le++910yfPt1sttlmZsEFFzTHHHOM+cc//jFOspyLAAIIeCuw7LLLxn/nFMQlhXzhhRfMrrvuan73u98lm0Z+VhrHH3+8Oemkk1LnHnbYYWb99ddPbRu2ojfs//u//zMLLbSQWXfddY3S/c1vfmP+/ve/p07V+p133mm++tWvmo022sgoGNtxxx3NfffdlzrO9cp//vMf8+CDD5orrrjCHHrooWbllVc2K6ywgrnyyiuNnFyXh/zCFyCgG7ENFeDts88+ZpNNNjEPP/zwiGdzOAII2AIs+yvwgQ98wCjwsUv4+OOPxz1dTz/9tL059/Ivf/lLc8ghh6SOV5D1qU99Ku5VS+3os6IP0/pQrV6YL3/5yyN/uFYg9b3vfc+84Q1vMLvtttukALBPtk4233PPPeY973mPUb0I6pyQNyoTArqCzanhge22284U/cNWMFtOQwCBwATe/va3m5122in1eNvb3jZSLeaff36zzTbbpNLYdtttjS4JGSmhEQ5+6Utfag4//HDzlre8JXWWepS+/e1vj9yLNHv2bPPxj3/cPPvss930FFR95zvfiYdJuxsHLOhD9Oabb270oVofrvsd+trXvtYsvfTS5nWve52xexmzx3/ta18za6yxRjzcmd03yvqrX/3qOD/lmeeh8g1Kf++99zbnnnvuoEOC3KfgPfu7IK9RKrPwwgubT3ziE6nfhYmJidwfCEbJK7RjGx7Q9W6OZZZZxvz5z3+O/yDpU1C/xz//+c+4F+6yyy6L/xBlU9Mftm9961vZzawjgAACXYEPf/jDRkGL/dDlG90DcixMmTLFHHXUUal0jjvuOLPEEkvkOLv4IYsttpg58cQTJwWO6mVTb1velNWrpuHaP/7xj91TFGipp03Du92NAxYUEOp6M/3dzR626KKLGl2XqCFM9cDp7/v9999vHnjggfi6NPUsfv/734+vC8ye+4c//MG8613vMjfddFN2V+716dOnG+WX96HyqZwa9t1zzz2Ngmc7M+3TNX/ab28Pffkzn/lM6jWs3wld9zhKvfR6OeGEE1LpfOELXzD60DNKeFI63wAAEABJREFUOk08tpUBXd6G1C/Z4osvHl+0euqpp5rrrrvOTOn8YbXP1ye8pv3S2fVjGQEEqhdQr5P9wXLmzJm5e62qLp2ubTv44INT2aiXTcOxjz76aGp7rxXVS38nL7jggtRuvblvueWWqW39VjQSovyy1++94hWvMKeddlp8LZp6tZZccsmePTXq1Zk2bZrRtXQXXXSRWWSRRVJZKeDbttPjObvTi5jaUeFKFEVGwYmGV3Xtn3or7ewUnCpQtLc1fVk3sOi1r9dM8tDvRtPrXVb9COhGkFxvvfXMF7/4xdQZ+qW7/vrrU9tYQQABBJoiEEWR0TVuurbLrpOCK/WMDBr61PG6S3HffffVYvehtNTLF0VRd1u/BaW/1157xTcP2MdoqFRl0KUv+vBt7+u3rDtLN910U3PbbbeZd77znanD1HuooFHBY2qHg5WVVlrJnHLKKZN6QjWzQh3lcVBlsqhAgIBuRFR9WtDFuPZpV111lb3KMgK9BNiGQLACupP0yCOPnDRC8d3vftf89Kc/7Vsv9Xh97nOfMxpCTA7SKIfSUprJtkHP6lFTPvYxCsYUKKqHy96ed1lD1TpfgaV9joZzTz75ZHuTs2Xdqav3FztDBZkanrW3sYxAPwECun4yfbar6z57kfCsWbO8ulOqT9HZjAACCBQWWGuttYx65OwEFKhpqFN/A+3tWlbPknq8FJRoXY8oioyuO1ZaWh/2UBoK/pRPcqwCQl1DpaAs2VbkWQGl0skOv2r6kzouo3nJS15i1lxzzVRVNO+phrdTG1lpgUCxKhLQjeg233zzTbr+4t///nd8g0W/pLITjeri3X7Hjro9O8mieg81P5OdTp7JGu3js8ujnK9PvVEUxdexRFFkpk5NT5CaTdte19DK1ltv3T03iqJ4zijV0T5u0LLSuPTSS820adOMLKJobll0gfdWW21lVEYdNygde5/aK4rmphNFxZc1B1a/+mTz0evGLseg5SeeeMLoTTKK5pZN9bdfC8pX+UfR3GOiqPiy0lKaSblGeZ0k59T1rOtzFIR86Utfiq+R1WsjitIW2qaL8NU7JN8qy6rXZBTNzX/qCL83VZYrm7am+dBNHvZ2zdOp6+F040OyXb66E1Y9Xsk2PevuxLzXzen4G264wWRvvvj85z9vVlttNe0e+6EP5+pBtBPSZTQXXnihvak1ywpkP/3pT8d3B0fRnNej7qReZ511jILfqn8PQvob4uOLYh4fC+VzmRS8aaJKu4x649TFnPY2lkcXmDlzpjnnnHNGP7FzhmZY/9GPfhT/IdIcgbqYWHecdXZ1fx577LE4fc2vpekMdJG23ni6BwS8cNZZZ5lf/epXAdfATdHV3ldffbVZffXVzXLLLWf0Zq6gQ6+NbAm0TfsUhKgXR0HLX//61+xhQa4XLbSuVdOdqdkL+PW7pN+5JF0FqNnr5hQ8aRoUpZEcN+hZf2uVptosOU6/t/rQl6yX8azpX974xjemkvrBD35Qy5RUdb2+FIzrOkW16ze/+c14FogERB9+f/GLX5g99tjD6EOOnrPvgcmxPNcrQEA3or8+oehCXPs03Sxhr7M8uoBc999//9S1NnlT+ctf/mLe9773Gf1h1ptwnvN0nK5X0YXZ+oOV5xxfj7n77rvjmeZ9LZ8v5VI7601rgw02MLfeeuvIxfr6179u9Luu68JGPrlBJyy77ORvkVD1DjjggPhbJDRViOaJyw6TajJfBQQ6Ns/jT3/606SvA9O1c6POWzYsL6WXnUbmlltuMXfcccewU0vdr7+BmiLLTlTDyvp6MHtb2ctPPfWUUa+ppsEZlrbaVD11Uzs9yGrnYcez360AAd2I3vqF07xFyWn6xLjxxhsnqzzHAqP/V7SHSdfY6BO7hlmzuWpIcIsttognoNQxvd5MFNDpK4Gy5w5aV2+NhnSzE2T2WleQqSGLQemNs0+9Fwo07KHVfunp+k/1NvUqp7ZNTEzEw93J+VEUGW3Tvl4PpaU0k+N9fpaTro3SEGu2nHqdrL322vHrRPXcfvvte85XpvP0YU5fU6XeI6239aFebl0fZ9dfU3/oGruDDjrI2H8jdYx667LXh2n7oIe+NSF7Q4ACCV1rNui8IvtUnyiKuqdqDtLf/va33fWqF/T61NB+tpdd8+P1+rtVZnnU46a7ae00dQdx8rugqWDsfVrWnH3Tpk2rpRdT+fPoLUBA19ul59bLL7/caNjF3qnrDfSJ1d7G8mgCRXuY9Kaq62k0LGbnuPzyyxsFeAr2ZsyYEU9AeeaZZ8bDCOedd178fbz28ZqwVW/U9rZByxo60rxamhRz2EOfevUpe1B64+y79tpr44lf86Sh16k+Xfcrs96M7ck5taxt/Y5XWkozT951H/PrX/960ldOqWcmeZ3ceOON8etEddUwn16Tev2opylbdl0WkA1Yssc0fV3DpgceeKBZccUVU1XV75t64uyNuuZOk+dG0dyAyd7fb1kBlQKdZL8COf3uJetlPmuoUXOO2mm6mo5Kl4voQ6WCXjt/fRDceeedUx+y7P1lLWuEI0nrk5/8ZBykKbBMfhfUE6cey2xb6++ugne7jZJ0Rnrm4NIECOgGUOoXTRNn6tOLuuT1tSXqnk5O0S3vmp8pikb7Q5Wcz7Mx+mOQt4cp66U/Otk3jw033DC+iFptpTmn7HO0rh4n9bJOmTKlu0s9C5oNX2XpbgxgQde96Hom9SYEUNzaiqh21bcE2HcL6quXrrzyStPrdZIUdMEFF4znndS5yTY962+AJoLVcpsfGgpUIKJvfOjn8KY3vckce+yxk74Jod/x9vbskKd6xnv1FtnnFF3WN01kr6PT0Lou0i+a5qDz9Bq6/fbbje7gXWGFFeLr0zScaZ+jnmDdjGBvq3JZN2V94xvfmPSBN4ois+qqq8YT6+vvq12Gk046yejDkr2N5foEWhnQ6WJ5/WH4/+ydS8wlQxuAuzbYSMTKSsbGwjVYEEMyYyESFm6JuCUzNiSEIEHYIJGxITaEFXEnyIjERCRCZGKDjYRkEsxyxMLCxvL3nF99X52aPud0n9P383yZnlNdXdenuqvfeuut6hDCbPQTQvkvI0JGbQhzCHVpM6Fu/vTTTwuWvqf+uusRyDVMl112WaVPuPCSfuedd4pUmGGUjYB35plnLi0Eq0HR7KWB0Cyw6jH1G7obTRHG6LGc2IZFt7+7BLBNyveKfPLJJ4v8Bb4bY9cVQiiYtmcKate3KHjZp+fb6mYVMAsdyuqPoIeAwKKxsuvL/NC+I/SkYdBYoTVO/Zpyo3FEgE/Tw86WbUNSv0XuOGUbQvm7JIR5f779euGFFxbYDTO1nKd73333FetoNfN0qp4zvboqP/pVtHYMhmK6DJIY8NAfRz9/+yOwlQLdJrjR8qBRYvNJbG82SavPuH2tpkrrnGuY6ChYdRhCSIOVurGtSYUZAjE9sWfPHpwrD2zqsH+MAdmqYEzTaGiOmSqO5cc+qc42JzHeNvwiWNx+++0zwYw2R8BgEU3VuvPyPe+88+aC8wmpOY8tPQkhFAgfbIqbI7jnnnuKa665JveudI4gheY8Dcyq5NNPPz31asxdth0V2jkW0vyXSSc/CKyYc/COQcjsIlOeCaZ7q+THIIh+Ni0XU6/0R6mf7n4IKNDV5M407AMPPFAwYmf7g7GOTLCLqFn1xoOzw3y63xM2OUzRVMnol19+KdC0xrBnnHFGcf3118fTlb/YT+3du7dAiEQDQ95VhcGVibccgHsOA+po94fA8txzz520P2LLxRhN8mgWsAVEC8t9jyYWbe5oKjDwgrJxMM9jXsw333yz6MoOLc97bOdMu2Jve+LEiYL3C4qDruqAGUqdvo/dAfiGbiwf9qbcA/Hc3/4IKNCtyZ5tD5jiYhuErkdxdYvMHnloJdJ4fT+AjOiwEUE4oVxomDCexl3lyA2mL7jggtlGwlXiEobp9LhQghc9q135niLXejlqZIpt0YsvvrgT45Zbbin27du3c65DAl0R4DlGE5dPj5I/5hBocxCiOZ/ygRaXQWLZwbWyuiNEff7558Xff/89WxX86KOPnmS/VhavaT+0qCGsnhWJ+TIYSjXWTI/nmz/HsP52S2ArBbqzzz57tuIRYWLVwcPGiP6tt9466bMsNBXbIGBDQjqcD/W4+OKL54p29OjR4o8//pjz6+oEVmUapjpbYORG6bQpgmtXdegrHwYPjOTjdBSG4qw0qzJd0keZl9kWoYVgGu3OO+8s2LaGVaV9lLEsT+5RpvXZYJaNqvktC7fNftyLaD6jpriMBWYMzz77bEHYsuuL/EIIBYOu9DqzI7RL6teUG6Ek3yyX/NF+V8mDldHMGJQdrCLleWXQmD6nvFf4cg2mI23Va1XZ0bTlg/1VcZj2zuMwyFwVz+vNEViU0lYKdItglPkjJHDz3nXXXQW7ZbMQgocgDYtAx5Ymqd8yNwb5IYSFCzJYsIGxMcIim2suS6vqNbSJabnpaNkItG5HWzW/ZeF4+FMNE/t+1dEw0fnRAad5YHsSQki9JunmaxpMZcXKPfLII0U6Wo7+Y/hlVR8vtXfffbfAppFpc7YF6tK+EzsptNVoaVkxfNttt800vbzIsS26++67Z1vgUNbCvzkCn3zySYEtcerJlkFpP8M1Bm+YV+CuemCfDP80PMIS7ZX6NeXGnjcf4KJtoxxN5MFgFbMONFmkG9NkUQH2nQh7ffTFaA9Z+BfLU+UXQTfn0kfZq5R128Io0NVo8RBCgcaBFyodfoxKZ4/wRacQ/Tb5ZZNYDE1ZIIDmCYNjhKBN0uSlj2o9TYMl52wOu+gFSufJ6l42EP3222/TqGu7efBzDRP1TEeuqxJnJM0ihjRcVdu7NM7Y3GiwmKbmfqPs7MlF24QwHUEWY3CmzzFpoI5NHwwGeJYOHjxYMFhD23DuuecWN910U8Gecx9++OGcbWbT+Y8jvdWlZF8yFkPAM4ZGW4xgzCAj+vHL/frYY48VCO+cVz3os9Kwf/31V8EUb+rXlJtn6/fff59LDoEyF1zmAqxxwvYfH330UcHgJY2OQMfG1ynP9HpbbrTkHHXTx+avbhzDt09AgW4Nxgh12C2lUTH+PXbsWOrVmJtNT3l5o0Fg2mGdhNFgoZHLOxKEU0Zp7JSPvQsH2kEMyXnZsWULLzk65XXyzeNMScOU163tc75VGwXrEEJBe7a9i/ymdWKfN7ZEKDvYx5H9v/I80EoTb9lUXh6nyjm2XDy3PEtvvPFGwcCgSjyemXxLiyrxphoG4Qfb4dxujpkHhHG+PIBNbFr/3377bbYpe51BL1sYhbA7WMH8hb3b0nSbcjNjwRR7ml6ef3ptEzfbJrGSNU+DlaZoPXP/IZ5XfXaGWPYpl0mBbo3WRZvEysg0Kp0NUwKp3yI3HUXZCw4/0mXlZVlcNAgvvfRS2aVKfnQkTH9Q/jQCwhpTAWjsONAOMhpOwzTh5kWAhon8SF/3gNcAABAASURBVI8X6zoaprItBpg2I82pHsePH59t0Brrx4peBhbxfKi/TKGyd1XZgZkCGhfsi9ihPq0Dfmgt0Oim/uu60fhdeeWVBV8KWZZGHNwgsGCwTjl4FlgJuCzetlxDg4SGnT4irTMC+L333jvzYnoRTSuC8Mzjv/+wFXvllVf+O1v9wyIlZijSkKSRm1uk19d1s08hdYvxmVakv4znTf8ytX/gwIG5ZOkXEeq63OMQBQHHXEEqnDA4qhDMIB0TUKBbE3jZiJ2pnCrJsZqz7AWH3+HDh2cLNlghxkKM3B4FtXw+NVAlzxjm5ptvnu34ja1L9Fv1i0o+nWJeFX7R9aY0THS2+VQII/+0Q15UhjH6Uy8EebQclJ97AmN0tK6cj/1AAOAzYgxo0rqwpQ2rmVO/ddwMJB588MECzV8aH+0gU4G8zBHceKFiwI5GHG042mnKlsbZdjcaJL5ukHJgAIqgxhR29EdDh3ASz+Mv9sYMHuP5sl9suzA3ScN88803tadu0/hlbmznqFd6jUE3G/+mfk26GVSzmIkVo2m6DEyffvrp2otI0jTquBmsUP86cRCocw0dXw2pk0aNsAatQUCBrgasLoPywLMQgynRVJjCdozvT25SFjpb9o3CUJkVfKlwRF7YjqApfPXVVwv2GGKn/auvvnqTLGedMJ8AiolsqmHKbTjQjmLzF9Ov8vvZZ5/N7Kj4RiGb8vKVCTqrKnG7DMMLEM1pzBPBp03tQcyny1/ud4SuVKuDwThTYZuW48iRI0Wcqo5poU1CE8Lnjvbt21cguIWwO70Xw/m7SwBeCGkIvtGX/oLpQzacjX78hhAKPouI5o7zeDBNi80sQnb0W/TLwI3nMoTddsG+mBWlDHIWxavrj9Y2v8+wqWz7K0B79uw56fvClJ0+n3sWd9sHzxha8jr50Ia8P9I4ub1jek13dwQU6NZkXbaQoI2bGoErF6b4humaxd6JxguUDSJZ9IAgRAfJgfoddTqaQl56aPLQ0O1EXMPBC6BpDdMll1wyVxK0o5R7znPFCZoYRprs+k8nyhTbiiidX0bziFaDjpfMGdFjoxTC7ksO/ykcrCbHBiutS902TePiRkDHCB13PBjQsBHzTMMZPZf8Yk4RtaNLgk36EvchG96iQUoris0tg7/UL7rR2KG5Q4MX/fhFuGbalv6G82UHq/OvvfbauSCskGeQM+e55gkDVrZVSaMzoGXVderXlhubzhtuuGEuefpLPk1XV9CaS6TGCZ9frBG84B6AW4zDjAGD4njub38EFOjWYM9LAluONCo3NduNpH5NuOkUedGlaTVlV5Sm2ab7xx9/LJrWMNGB0PHGcjNVltv1xGtlv2gI8vBoE9AKlIXvy4+ROlOPMX9suxjZx/Mp/YYQik0HD0X2hzCGZin1vuKKK2YaudRvmZv4bRnjL8t3KNcQvNDC5X0egjGDjWXPDJo7zERCmB+AMG2LDeWqOiJ0s+EumsAYlsEN28nQLtFvnV/6AFbqovVL42P3ec4556RerbmpHwJlqpkmMxYEYe8Me87bPOgHYVElD8qTf0ObqWnauUp8w7RLQIFuDb7Y3LDyM4264KZOg6zl/ueffwrse9LIaNfS8yG70f6x/xKdMOVsSsPEXk655pIXB4sHyGfVQSeWjvLpUPkU2Kp4XGd7BhZm4G7zYHoddnSi5EN92bMK9xQPNBJoS9O6bWqbg8Y53nsx3fw8+pf9Mnjihcs0U9n1bfDjOXnmmWfmqsrzwsIHpqrnLpScYLfL9kjpJbRQ999/f1FFKNu/f3+BJjCNj5aIbZjyqb80zDI3n9hihoJ+IA3HymuEvNSvbTdbmaD9zPPBjpPFPLl/0+fsr4p9c5V0uRdef/31uaCYBrU9PT2XoScLCSjQLURTfuG7774r7rjjjoIOKQ3BiqU2bmq2Q8lHsoyM07yH7P7hhx/m7Jea0jChFcDm6pRTTtmpPtNivDhWjTaZLmCLhSgokQBTH2j9cK86sDkk/1XhNr3Oy4aROumgoWCbkjbuMdLv+0DwQovLizaWBa131TaJcfJfNCD5lB8DsiqCP9OMaGv4ikWeLlr69P7Jr0/lnClv+rZcCMaWrmo/xACUgUnelghlTH0jNC/jxbP2/PPPFwhbaTied76pzcbU3D/ptUVu2uyrr74qsEFl6jcNh5CK5rDrZyyEMNvS5fzzz0+LUzCIOHToUCcLJGhP3jVzBchO6DfRjKb3Apq5RVPuWXRPOyCgQLcCMh0AiwKwNWPVG1sf5BozOjZWrq5IqtZlhBI6seuuu65gxWuMzDRjblMSrw39t2kNE1Nn+XYXCEH79u0rWB1J26VM6PRpR1bO8TKJ19C4Pfzwwyd9aojrvGywtcPd51H3axp9lrVO3rQRLwqeH+73NC4amE3tUhG+r7rqqjTZAkEAo3fsLucu/HdCm2NDitb9tdde+893/gftKfaX877TOoMD2sl8wQBtxfMSwvw06rLao2llFX86ACM8X5rIV5jinx8IWewdiACXXkO44NNxaP5pK/aS455Kw+CmD0cwv/TSS2eCYb7iGWEO0wYEPcJ3fbCfJAO2EOaZYv9Zhc+m5UV4pN9kmpd2T9Nb1G+GEAqm3JktScPr7o/AVgp0rIjE3i2EsPDzWyH8/xqaEV74CHMIA3lT0RFUnXqIcelYmEIoOxBS2NSXdBk15Q8XHWlX9h2xvE38wpEOi465ifRII4QwWyWWj9yZpuDbtWeddVbBfk9wvvHGGwvyph1TgZxysZqXPfFIE83NQw89NJviYY889sLi5c61eJB2dHfxy/3HykA0HZvk10dcbK/gnx+sXkRjc+qppxZ85YOVhmn5uP+5X9Cwpf7ruJkSyrV03CO0OQOkeI/Q3hdddFHBdDoC36+//rqTHZqIEMLOOS+5MsFhJ8AEHB988MGc7StVoq1Yrb7OvYhgzZYcpBMPGDLdGDXR0b/sF6Hwiy++KJjCza/TpzNVSnvyTNO/s4cdB0IkzxALHWj3PC73IdopBuv5tS7P2VeS1f9pnvBh707MEVL/ptxs3cOUNunxrmGGg0EQ/SXPLM8G7PJ+k/B8EaSsLbjm0Q+BrRTomkLNjf7xxx/P1Pd10mQakumlsgN7BvYGKkuPDotpxrJrQ/c7ePBgsX///saLiZBGG9x6660npU0niK0jnPkGb65RoeNnRJp2Sozk0RoQh21M0pc6GdDmrDzG3dWBMIfw0VV+Tebz5ZdfzoQCeKYHq4qxl+MlkudHu9AGTWlLEMYYdJUJIWh04j1Ce//0009z5hTEYY88hBsWKMWyshckWvR4PrVfbKWYbk7rRbswBZgv0krDLHOH8P+tTPIBGAMsBqrY2y6LzzUGu7QX06xle4EShoOFDmjhOMruMcJwIEzS5zJw47zPg8ELGlEGM2k5EHYZGCHcpf5NuMmTrXtSzSe86C95XmGN9i7PCyGTe4HnI7/meX8EGhTo+qtE1zlzE/OS5WXPtFDb+fPQ8UAveim1nf+m6SME0WFjC7NpWmXxEeref//9YlUnn8ZlmpyX94EDB2Za2vTaIjcvNLQTm04DLkq/zB9BDmG47NoU/dgmBxsnbBqbrB9CO8Il6VdNl3uD6VkGUWh60qklplxZvV01rTGFQ1Bl24z8RY6AB8dN6sKzyjOUCy20DVucVBFaWAnN4iCENQQL+sc6ZeI5Zo88hHn61WWCYZ10mwi7aIEEfX+ZdrGJPKPmk6n0Venx/GDW8tRTTxW8B1eF93q3BBToKvBGLc00G0IJNzOaHjqltjoCOhymDnipMUL6888/C0aSdGQViju4IAi/CCZtFgw2dPKM9tkwGXa0W5on0zBM9R09erRgcUuZYMb0DOzTeHRcTIUwkuclH8Lu1Fsarml3CKFgxI59TdNpDyU92LJJNEITtopo7dh7rI3ykS6rIhfdH3z2C+0R2kHuI1bz8bKjLKzmzDXMb7/9dicG6+Tf1YFAxRcM6OfSPOHCStcQNr/32UPy0KFDafIzN+mjGZydVPiP/pcvprA1zffff18ghNJP045pdKYQ8af/5rln54CXX365yKfh0zh9uUNYvECChSUs1GmjbGg+0ULzDDLNmjKEH7MSPDc8PygxQtj8PmijHtue5lYIdI8//nhBR7XuwdQdoyM2tORm5iVU58aJO5tXzR/7HFaXYRDLqIkHalF+fKIGATOmzTYATXdUTDV9/fXXcwxZ8l9WJvxjWeIv/MvClvnl9aFu+JWFLfOjbSgD7Gi3WAZ+0apgWI2tDAJgWXwM4Y8dOzZXVxalsAdXOi1RFrfMj7agTcifY1l94ESYeLCSuo5GhHrHuPySL/mXlavMD86Uj7gcuPErC1vmV3afkM6yA7YY3TOtefnllze+D11ezmX3B3sZsqIcWzoEuDRuCKFAS5LWhcEW6aXh1nXnbcfzBs9101s3XgihYBPwtJ644YJ2bd1083iYj5BuenC/cQ/kYVed8yxzn7Jiln6adkzTZSoXf/pvbJQ3bTPyoqxpHrTfqnJWvc4Ajn0P0/Rx82WbutrIPE/uKe4t0uNI+4gQQgF/ZjtShvDDfpw6bsouL4/nzRLYCoGuWWSmNgICFlECEpCABCSwVQQU6Laqua2sBCQgAQlIQAK7BKbjUqCbTltaEwlIQAISkMBoCWAPyQryWIEQQrHpNHNMaxt+Fei2oZWtowQk0BsBM5aABKoRYGU1NnsxNMJcukAj+vtbTkCBrpyLvhKQgAQkIAEJdESARRps4s6CjJglm8PHlebRz9/FBBToFrMZyRWLKQEJDJlA2Zdhjhw5UqvIaC6eeOKJ2RdM2MGfg+2ATpw4USsdA0ugTwLs+8e9G4+9e/cWfJ2Fcz7LxtYzafnYXDxfcX78+PEifs2HeBx8gqytLV3S8gzdrUA39BayfBKQwKgJlH0Zhm8N16kUL6v33ntv7qsbbKTNti910jHslhPoufpsIM0XKOLBJ9fY4J1ztpZJi8eeoGwAnW9In37Nh3gchw8fnm01lcbfRrcC3Ta2unWWgAQkIAEJDJQAm+u/8MILBd//HWgRB1ksBbpBNouFksAoCVhoCUhAArUInHbaaTvh2USfr/H8/PPPs68jheAXKXbgVHAo0FWAZBAJSEACVQlU+TIMXwWpmh7h+OIHu/pjOL7o4OsFfMWA8B4S6JtA/lWKRfct5gTxGitc+eQenwNcVH7uce71GKfsl2eFZ2ZRGlP1H5dAN9VWsF4SkIAEJCABCUhgAwIKdBvAM6oEJCABCQyTgKWSwLYRUKDbtha3vhKQgAQkIAEJTI6AAt3kmtQKdUPAXCQgAQlIQALDIaBAN5y2sCQSkIAEJCABCUyNQEf1UaDrCLTZSEACEpCABCQggbYIKNC1RdZ0JSABCXRDwFwkIAEJFAp03gQSkIAEJCABCUhg5AQU6EbegJ0U30wkIAEJSEACEhg0AQW6QTePhZOABCQgAQmMh4Al7Y9rck0GAAAJhUlEQVSAAl1/7M1ZAhKQgAQkIAEJNEJAga4RjCYiAQl0Q8BcJCABCUigjIACXRkV/SQgAQlIQAISkMCICCjQZY3lqQQkIAEJSEACEhgbAQW6sbWY5ZWABCQggSEQsAwSGBQBBbpBNYeFkYAEJCABCUhAAvUJKNDVZ2YMCXRDwFwkIAEJSEACFQko0FUEZTAJSEACEpCABCQwRAKUSYEOCh4SkIAEJCABCUhgxAQU6EbceBZdAhKQQDcEzEUCEhg6AQW6obeQ5ZOABCQgAQlIQAIrCCjQrQDk5W4ImIsEJCABCUhAAusTUKBbn50xJSABCUhAAhLoloC5LSCgQLcAjN4SkIAEJCABCUhgLAQU6MbSUpZTAhLohoC5SEACEhghAQW6ETaaRZaABCQgAQlIQAIpAQW6lEY3bnORgAQkIAEJSEACjRJQoGsUp4lJQAISkIAEmiJgOhKoTkCBrjorQ0pAAhKQgAQkIIFBElCgG2SzWCgJdEPAXCQgAQlIYBoEFOim0Y7WQgISkIAEJCCBLSbQskC3xWStugQkIAEJSEACEuiIgAJdR6DNRgISkIAElhDwkgQksBEBBbqN8BlZAhKQgAQkIAEJ9E9Aga7/NrAE3RAwFwlIQAISkMBkCSjQTbZprZgEJCABCUhAAvUJjDOGAt04281SS0ACEpCABCQggR0CCnQ7KHRIQAIS6IaAuUhAAhJomoACXdNETU8CEpCABCQgAQl0TECBrmPg3WRnLhKQgAQkIAEJbBMBBbptam3rKgEJSEACEkgJ6J4MAQW6yTSlFZGABCQgAQlIYFsJKNBta8tbbwl0Q8BcJCABCUigAwIKdB1ANgsJSEACEpCABCTQJoHxC3Rt0jFtCUhAAhKQgAQkMAICCnQjaCSLKAEJSEACmxMwBQlMmYAC3ZRb17pJQAISkIAEJLAVBBTotqKZrWQ3BMxFAhKQgAQk0A8BBbp+uJurBCQgAQlIQALbSqCFeivQtQDVJCUgAQlIQAISkECXBBTouqRtXhKQgAS6IWAuEpDAlhFQoNuyBre6EpCABCQgAQlMj4AC3fTatJsamYsEJCABCUhAAoMhoEA3mKawIBKQgAQkIIHpEbBG3RBQoOuGs7lIQAISkIAEJCCB1ggo0LWG1oQlIIFuCJiLBCQgAQko0HkPSEACEpCABCQggZETUKCr0IAGkYAEJCABCUhAAkMmoEA35NaxbBKQgAQkMCYCllUCvRFQoOsNvRlLQAISkIAEJCCBZggo0DXD0VQk0A0Bc5GABCQgAQmUEFCgK4GilwQkIAEJSEACEhgTgVygG1PZLasEJCABCUhAAhKQwL8EFOj+heA/CUhAAhKoS8DwEpDAkAgo0A2pNSyLBCQgAQlIQAISWIOAAt0a0IzSDQFzkYAEJCABCUigGgEFumqcDCUBCUhAAhKQwDAJWKp/CSjQ/QvBfxKQgAQkIAEJSGDMBBToxtx6ll0CEuiGgLlIQAISGDgBBbqBN5DFk4AEJCABCUhAAqsIKNCtItTNdXORgAQkIAEJSEACaxNQoFsbnRElIAEJSEACXRMwPwmUE1CgK+eirwQkIAEJSEACEhgNAQW60TSVBZVANwTMRQISkIAExkdAgW58bWaJJSABCUhAAhKQwByBHgS6ufw9kYAEJCABCUhAAhLYkIAC3YYAjS4BCUhAAi0RMFkJSKAyAQW6yqgMKAEJSEACEpCABIZJQIFumO1iqbohYC4SkIAEJCCBSRBQoJtEM1oJCUhAAhKQgATaIzD8lBXoht9GllACEpCABCQgAQksJaBAtxSPFyUgAQl0Q8BcJCABCWxCQIFuE3rGlYAEJCABCUhAAgMgoEA3gEbopgjmIgEJSEACEpDAVAko0E21Za2XBCQgAQlIYB0CxhklAQW6UTabhZaABCQgAQlIQAK7BBTodlnokoAEuiFgLhKQgAQk0DABBbqGgZqcBCQgAQlIQAIS6JrANAW6rimanwQkIAEJSEACEuiRgAJdj/DNWgISkIAE+iVg7hKYCgEFuqm0pPWQgAQkIAEJSGBrCYxGoAshFCF4hCCDEMbEwLKGIIMQZBCCDEKQQQjDZzBWiXA0At1YAVtuCUhAAhKQgAQksJLAhgEU6DYEaHQJSEACEpCABCTQNwEFur5bwPwlIAEJdEPAXCQggQkTGLJAF/7l7lEUMpCB94D3gPeA94D3QH/3QDGGvyELdGPgZxlTArolIAEJSEACEuiFgAJdL9jNVAISkIAEJLC9BKx58wQU6JpnaooSkIAEJCABCUigUwIKdJ3iNjMJSKAbAuYiAQlIYLsIKNBtV3tbWwlIQAISkIAEJkhAgW7NRjWaBCQgAQlIQAISGAoBBbqhtITlkIAEJCCBKRKwThLohIACXSeYzUQCEpCABCQgAQm0R0CBrj22piyBbgiYiwQkIAEJbD0BBbqtvwUEIAEJSEACEpDA2AlUEejGXkfLLwEJSEACEpCABCZNQIFu0s1r5SQgAQl0ScC8JCCBvggo0PVF3nwlIAEJSEACEpBAQwQU6BoCaTLdEDAXCUhAAhKQgAROJqBAdzITfSQgAQlIQAISGDeBrSu9At3WNbkVloAEJCABCUhgagQU6KbWotZHAhLohoC5SEACEhgQAQW6ATWGRZGABCQgAQlIQALrEFCgW4daN3HMRQISkIAEJCABCVQioEBXCZOBJCABCUhAAkMlYLkkUBQKdN4FEpCABCQgAQlIYOQEFOhG3oAWXwJdEDAPCUhAAhIYNgEFumG3j6WTgAQkIAEJSEACKwkMRKBbWU4DSEACEpCABCQgAQksIKBAtwCM3hKQgAQkMEACFkkCEigloEBXikVPCUhAAhKQgAQkMB4CCnTjaStL2g0Bc5GABCQgAQmMjoAC3eiazAJLQAISkIAEJNA/gWGVQIFuWO1haSQgAQlIQAISkEBtAgp0tZEZQQISkEA3BMxFAhKQQFUCCnRVSRlOAhKQgAQkIAEJDJSAAt1AG6abYpmLBCQgAQlIQAJTIKBAN4VWtA4SkIAEJCCBNgmY9uAJKNANvoksoAQkIAEJSEACElhOQIFuOR+vSkAC3RAwFwlIQAIS2ICAAt0G8IwqAQlIQAISkIAEhkBgewS6IdC2DBKQgAQkIAEJSKAFAgp0LUA1SQlIQAISGC8BSy6BMRJQoBtjq1lmCUhAAhKQgAQkkBBQoEtg6JRANwTMRQISkIAEJNAsAQW6ZnmamgQkIAEJSEACEmiGQI1U/gcAAP//KxRGWgAAAAZJREFUAwATVtdu+IzemgAAAABJRU5ErkJggg=="/>
          <p:cNvSpPr>
            <a:spLocks noChangeAspect="1" noChangeArrowheads="1"/>
          </p:cNvSpPr>
          <p:nvPr/>
        </p:nvSpPr>
        <p:spPr bwMode="auto">
          <a:xfrm>
            <a:off x="155575" y="-365125"/>
            <a:ext cx="3714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data:image/png;base64,iVBORw0KGgoAAAANSUhEUgAAAnQAAAUECAYAAABV7I2AAAAQAElEQVR4AezdCfxtU/3/8bVpIMUtY0KkMtQvQ+aUqzLVX75JisT9/cRPJUO/EDIPmUqaVFQuJTLdQmZu5oooUmS4V2QOJXlU8j/vfe1z197fM+yzz95rr7X36z6+5549ruG5zvd7PmetvdeZx/APAQQQQAABBBBAIGgBArqgm4/CI4AAAq4EyAcBBHwWIKDzuXUoGwIIIIAAAgggkEOAgC4HEoe4ESAXBBBAAAEEECgmQEBXzI2zEEAAAQQQQKAeAXLtIUBA1wOFTQgggAACCCCAQEgCBHQhtRZlRQABNwLkggACCAQmQEAXWINRXAQQQAABBBBAICtAQJcVcbNOLggggAACCCCAQGkCBHSlUZIQAggggAACZQuQHgL5BAjo8jlxFAIIIIAAAggg4K0AAZ23TUPBEHAjQC4IIIAAAuELENCF34bUAAEEEEAAAQRaLuAgoGu5MNVHAAEEEEAAAQQqFiCgqxiY5BFAAAEEcgpwGAIIFBYgoCtMx4kIIIAAAggggIAfAgR0frQDpXAjQC4IIIAAAgg0UoCArpHNSqUQQAABBBBAoLhAeGcS0IXXZpQYAQQQQAABBBBICRDQpThYQQABBNwIkAsCCCBQpgABXZmapIUAAggggAACCNQgQEBXA7qbLMkFAQQQQAABBNoiQEDXlpamnggggAACCPQSYFsjBAjoGtGMVAIBBBBAAAEE2ixAQNfm1qfuCLgRIBcEEEAAgYoFCOgqBiZ5BBBAAAEEEECgaoFmBHRVK5E+AggggAACCCDgsQABnceNQ9EQQAABBMoVIDUEmipAQNfUlqVeCCCAAAIIINAaAQK61jQ1FXUjQC4IIIAAAgi4FyCgc29OjggggAACCCDQdoGS609AVzIoySGAAAIIIIAAAq4FCOhci5MfAggg4EaAXBBAoEUCBHQtamyqigACCCCAAALNFCCga2a7uqkVuSCAAAIIIICAFwIEdF40A4VAAAEEEECguQLUrHoBArrqjckBAQQQQAABBBCoVICArlJeEkcAATcC5IIAAgi0W4CArt3tX2Xtv9NJ/AUeBgODAb8HvAZ4DYz1GtD7SYeQn0ECBHSDdKx9LI4sMDHyGZyAAAIIIIDAZIHzJm9iS1aAgC4rwnoZApt1Elm08+AHAQQQaJsA9S1X4LFOchd1HvwMESCgGwLE7kIC9M4VYuMkBBBAAIGMAL1zGZB+qwR0/WTYPo7AB+2Tf/azn5kXXniBR1kGpMNridcAr4GGvgYWWWQR++1DyzP0H4/hAgR0w404YjSB1HDroosuajbbTJtGS4SjEUAAAQTaJXDRRReZxx9/3K40w622xpDlXgHdkFPYjcBAgdRw68TExMCD2YkAAggggIAEzjtv0ujqpA06jkdvAQK63i5sLS6QGm794AdTq8VT5UwEEPBQgCIhUJ5Aj4CO4dYReAnoRsDi0KECGlvt3t3KcOtQLw5AAAEEEOgIMNzaQRjzh4BuTEBOTwmkxlfLGG5Npc4KAggggEAjBXr0zjHcOmJLE9CNCMbhAwVS46sMtw60YicCCCCAwIsCPQK6UYdbX0ypvU8EdO1t+7JrznBr2aKkhwACCLRAgOHWchqZgK4cR1IxhuFWw79GC1A5BBCoRKBH7xzDrQWkCegKoHFKTwGGW3uysBEBBBBAYJDAjBkzsrsnbcgewPpkAQK6ySZ1bQk5X4ZbQ249yo4AAgjUJKDh1sce0/zB3QJohe9u7XLkXyCgy2/Fkf0FGG7tb8MeBBBAoGSB5iTHcGt5bUlAV55lm1NiuLXNrU/dEUAAgYICDLcWhOtxGgFdDxQ2jSTAcOtIXGEcTCkRQACBqgUYbi1XmICuXM82psZwaxtbnTojgAACYwow3DomYOb0mgK6TClYDVmA4daQW4+yI4AAAjUJMNxaLjwBXbmebUuN4da2tTj1RcC1APk1UoDh1vKblYCufNM2pchwa5tam7oigAACJQkw3FoSpJUMAZ2FweLIAk0Ybh250pyAAAIIIDCeAMOt4/n1OpuArpcK2/IIMNyaR4ljEEAAAQRSAuEOt6aq4d0KAZ13TRJMgRhuDaapKCgCCCDgjwDDrdW0BQFdNa5tSJXh1ja0MnV0KkBmCLRBgOHWalqZgK4a16anynBr01uY+iGAAAIVCDDcWgHqi0kS0L0I0Y6n0mrJcGtplCSEAAIItEeA4dbq2pqArjrbJqfMcGuTW5e6IYAAAhUJMNxaEWwnWQK6DgI/Iwkw3DoSFwcjgAACCEiA4VYpVPcgoKvOtqkpM9za1JZ1Wy9yQwCBlgkw3FptgxPQVevbxNQZbm1iq1InBBBAoGIBhlurBW5uQFetW1tTZ7i1rS1PvRFAAIExBBhuHQMv56kEdDmhOCwWYLg1ZuA/BBBokgB1qV6A4dbqjQnoqjduUg4MtzapNakLAggg4EiA4dbqoQnoqjduSg4MtxZuSU5EAAEE2ivAcKubtiegc+PchFwYbm1CK1IHBBBAwLEAw60jgI9xKAHdGHgtO5Xh1pY1ONVFAAEEyhBguLUMxeFpENANN+IIYxhu5VWAQDMEqAUCTgUYbnXHTUDnzjrknBhuDbn1KDsCCCBQkwDDre7gCejcWYecU/7h1pBrSdkRQAABBEoVYLi1VM6BiRHQDeRhZ0eA4dYOAj8IIIAAAqMJDBtuHS01jh4mQEA3TIj9DLfyGkAAAQQQGFmA4daRycY6gYBuLL5WnMxwayuauYmVpE4IIFCnAMOtbvUJ6Nx6h5Ybw62htRjlRQABBDwQYLjVfSMQ0I1h3oJTGW5tQSNTRQQQQKBsAYZbyxYdnh4B3XCjNh/BcGubW5+6I4BAWQKtS4fhVvdNTkDn3jyUHBluDaWlKCcCCCDgkQDDrfU0BgFdPe4h5MpwawitlJSRZwQQQMATAYZb62kIArp63EPIleHWEFqJMiKAAAKeCTDcWk+D5A3o6ikdudYlwHBrXfLkiwACCAQswHBrfY1HQFefvc85M9zqc+tQNgS8FqBwbRZguLW+1iegq8/e55wZbvW5dSgbAggg4KkAw631NQwBXX32vubs/XCrr3CUCwEEEGizAMOt9bY+AV29/j7mznCrj61CmRBAAAHPBTwcbvVcrNziEdCV69mE1BhubUIrUgcEEEDAsQDDrY7BM9kR0GVAWr7KcGvLXwBUf0QBDkcAgViA4daYodb/COhq5fcuc4ZbvWsSCoQAAgj4L8Bwa/1tREBXfxsMKoHrfQy3uhYnPwQQQKABAgy31t+IBHT1t4EvJWC41ZeWoBwIIIDAyAL1ncBwa332ds4EdLZGu5cZbm13+1N7BBBAoJAAw62F2Eo/iYCudNJgE2S4Ndimc1NwckEAAQR6CTDc2kvF/TYCOvfmPubIcKuPrUKZEEAAAc8FGG71p4E8Cuj8QWlhSRhubWGjU2UEEEBgXAGGW8cVLO98ArryLENOieHWkFuPsiPQNgHq640Aw63eNIUhoPOnLeoqCcOtdcmTLwIIIBCwAMOtfjUeAZ1f7VFHaRhunazOFgQQQACBIQIMtw4BcrybgM4xuIfZMdzqYaNQJAQQQMB3AYZb1UL+PAjo/GmLOkrCcGsd6uSJAAIIBC7AcKt/DUhA51+buCwRw60utckLgQICnIKAjwIMt/rXKgR0/rWJyxIx3OpSm7wQQACBhggw3OpfQxLQ+dcmrkr04nDrnOwWXXRRs9lm2jRnnf8RQAABBBDoJcBway+V+rcR0NXfBnWVgOHWuuTJFwEEEAhR4MUyM9z6IoRnTwR0njWIw+Iw3OoQm6wQQACBpggw3OpnSxLQ+dkuVZdKY6uLJpkw3JpI8FyzANkjgIDnAgy3+ttABHT+tk2VJWO4tUpd0kYAAQQaKsBwq78N266Azt92cF0yhltdi5MfAggg0AABhlv9bUQCOn/bpqqSMdxalSzpIoBAYwSoyGQBhlsnm/i0hYDOp9ZwUxaGW904kwsCCCDQKAGGW/1uTgI6v9unitIx3FqF6shpcgICCCAQlgDDrX63FwGd3+1TdukYbi1blPQQQACBFggw3FpjI+fMmoAuJ1RDDmO4tSENSTUQQAABlwIMt7rULpYXAV0xt1DPYrg11Jaj3AhUJ0DKCAwVYLh1KFHtBxDQ1d4EzgrAcKszajJCAAEEmiPAcGsYbUlAF0Y7lVHK+oZbyyg9aSCAAAII1CLAcGst7CNnSkA3MlmwJzDcGmzTUXAEEECgPgGXw6311TL8nAnowm/DPDVguDWPEscggAACCKQEGG5NcXi9QkDndfOUVjiGW0ujJKGwBSg9AgiMIsBw6yha9R5LQFevv6vcGW51JU0+CCCAQIMEGG4NpzEJ6EpuKw+TY7jVw0ahSAgggIDvAgy3+t5C6fIR0KU9mrjGcGsTW5U6IYBA6ALel5/hVu+bKFVAAroURyNXGG5tZLNSKQQQQKBaAYZbq/UtO3UCurJF/UqP4Va/2sNtacgNAQQQKCjAcGtBuBpPI6CrEd9B1gy3OkAmCwQQQKBpAgy3htei4wR04dW2fSVmuLV9bU6NEUAAgbEFGG4dm9B5AgR0zsmdZchwqzNqMkIAgcEC7A1JgOHWkFprblkJ6OZaNG2J4damtSj1QQABBBwIMNzqALmCLAjoKkD1JMlWDbd6Yk4xEEAAgeAFGG4NswkJ6MJst2GlZrh1mBD7EUAAAQQmCbRguHVSnZuygYCuKS2ZrgfDrWkP1hBAAAEEcggw3JoDydNDCOg8bZgxi8Vw65iAnI5AYQFORCBgAYZbw208Arpw265fyRlu7SfDdgQQQACBvgIMt/alCWIHAV0QzZQq5LAVhluHCbEfAQQQQGCSAMOtk0iC2kBAF1Rz5Sosw625mMI+6JlnnjFTp041URR1HzvssMPIlbrzzjvNLrvsYhZffPFuOlEUxWkrj5ET5ARnAueffz5t5kw71IxGKzfDraN5+XY0AZ1vLTJeeRhuHc+vNWf/4x//MHvttZdZccUVzbe//W3z6KOPtqbuVBQBBCYLMNw62SS0LQR0obXY4PIy3DrYh70dgaefftpsv/325rjjjuusjffD2Qgg0AwBhlvDb0cCuvDb0K4Bw622BsuTBF544YW4R+7ss8+etO+lL32pWXrppePHEkssEQ/nTTqIDQgg0EgBhlvDb1bPA7rwgR3WgOFWh9ihZnXPPfeYr3zlK6niK4i79NJLjYZh77//fqPHGWecYRZYYIHUcawggEAzBRhubUa7EtA1ox1VC4ZbpcCjr4B6577+9a+bhx56qHvMK17xCnPWWWeZjTbayMw777zd7SwgEJwABS4swHBrYTqvTiSg86o5xioMw61j8TX/5FmzZpnsUOtOO+1k1lprreZXnhoigEBfAYZb+9IEtYOALqjm6ltYhlv70pS2I/iEfvzjH5sHH3ywW49FFlnEKKCLoqi7jQUEEGiXAMOtzWlvArpmtCXDrc1ox8pq8cgjj5hTTjklenJPhgAAEABJREFUlf5HPvIRs/LKK6e2sYIAAu0SYLi1ivauJ00Cunrcy86V4dayRRuW3lVXXWX+8Ic/dGv1spe9zHzsYx8b+U7Wo48+Oj4niqKxn3XTxc0339wtk72QzUeTKOed6Pj55583119/vfnoRz9qFltssVQ5X/Oa15hNN900vm7w73//u53lpGVda/j617++e/6g8k46ubNh3PM7SZT+869//cscfPDB3TpF0Zx2fPe7323+8pe/lJ4fCfovwHCr/22Ut4QEdHml/D2O4VZ/28aLkmneua985Supsmy44YZm1VVXTW1rwsrPf/5zs8IKK5h3vOMd5swzzzSPPfZYqlpPPvmkueSSS8zWW29tllxyyfgY3SySOiiAlSJFVD2PP/54c8ghh6RO12tB11Yq2E3tYKXxAgy3NquJCejCb88JuwoTExP2KssIGH1F1C9+8YuUxLRp08z888+f2hbyioIV3cGrniZNzZKnLn/961/jXjwFOOq5ynNOqMfI59hjjzX77LNPqgrvfOc7zemnn24I5lIsrVlhuLVZTU1AF357VjDcGj4KNZgj8MADD5gjjjhizsqL/7/lLW8xCnxeXB3rSTdWKDjUzRXDHttuu63RUO9YGfY5+dxzzzW77767+c9//pM6QpMlb7HFFvHNH/p2DA2hpg7orCigU8+Vgp7OauN+VK/p06ebfffdN1U3BXO6UUaTSKd2sNIaAYZbm9XUBHRhtyfDrWG3X6WlV6/ToYceauxr55Th5z//+fjaMi2P+1Bw+LWvfc185zvfGfrQV41VETz87ne/M7vssksqmNP8eqeddprRdXJ601L5FNTMmjXL6PjscPMBBxxgrr322nE5vDxfwe6OO+6Y8lljjTXinrkq2sNLBAo1SaC04dZJKbOhLgECurrky8l3wk6G4VZbo73LTz31lPnJT34Szy930kknpSDUi6a7W1MbA17597//bdS79vjjj3drMWXKFHPZZZeZ7bbbzqiHrrvjxQXd2XvFFVeY9ddf/8Utxvzzn/80Cury3njRPdHzhXPOOSe+XtDuuVQwp6G2pZZayvPSU7wqBfQayKR/Xmad1cAECOgCa7BMcRluzYC0efXUU0+N71589atfbRTc33rrrSmOPffc05xwwgk9g5zUgX6tDCzNH//4R5N9Y1IP5HrrrTfwPF0zduSRR6aGgH/+85+bCy64YOB5Ie28/PLLzSc+8YlJPXPyIpgLqSWrKat6rjMpz8issxqYAAFdYA1mFZfhVguDxf4Cq6yyirnuuuvMl770pUbdCKEaX3311anpNlZccUUzbdo07Rr6UE+V7vC0D1TPpnr97G3Jsnrx9H23ybrPz7/85S/Nhz/8YaPe2qScGh7X3awEc4lIe58Zbm1m2xPQhduuE3bRJyYm7FWWEegK/OY3vzG6IUDBT3djAxYUeGlo1a7Ke97zntzXB+ou3w9+MNXJbRQIPfHEE3aS3WXlp2lPuhs8XVAdNtlkE5MN5i688ELT66YQT6tBsSoUUC9tJnmGWzMgIa4S0IXYanPKnHonyr4xzTmE/9sksNVWW5nbbrstHlZdfvnlU1XXVB66s1VTe+iux9TOQFf+9re/mdmzZ6dKv+6668bDzqmNA1bUa/WSl7yke8TDDz9sdGewNrzqVa8yyy23nBa7Dw3xdlc8XLjjjjvMNttskwrmlllmGfPTn/6UYK6E9mpKEgy3NqUl0/UgoEt7hLLGcGsoLeWwnLqz861vfavZbbfdzJ133mn0bQt29row/jOf+YzRfGRNCOrUW5YEX6qnArNRe6AWXnhhs+CCC+r0+PHss8+aRx99NF5+5Stfad74xjfGy8l/l156qfF12PWuu+4ym2++ubn33nuT4sbP999/f/zNGfEK/7VegOHW5r4E5mlu1Rpds9T46sTERKMr257KlVfTeeed1+y1116TgjrloPnINJWFlkN56IYF9ZhF0ZyvqoqiyKgXUj1qSR00x52GUZP1PM9TpkwxCtzsYzW0mqx/4AMfSBbjZ33LhKZp8TEg1leNJcFoXFjrv4MOOshoyhZrE4stFWC4tbkNT0AXZtsy3BpmuzktdRRFRne2aqoSO2P11Cmoyw5X2sewPEdgnXXWMRqWnbM2539928Jhhx3Wt6dO1+CdddZZ8XWL6h2bc5bb/+eZJ/2nXb12hxxyiNHchG5LQm6+CTDc6luLFCxPj9PSv/U9DmCTdwIMt3rXJP4WSPOw7b///uZNb3pTqpC6Fuzggw/mDT6lMnllscUWi7/7NBsgqcdroYUWMu9973vNzjvvHD8U/Km3T9+esfXWWxtNGzI5xeq3LL300uZXv/pV/M0Zdm6a1kbDbfY2ltsloPZ/7LHH7Epr5SJ7A8vhChDQhdd2qfHViYmJ8GpAiZ0K6Loy9ShFUZTKV2/wM2fOTG3zdUVB0rRp0+Kv8FKPox567UdRuk5VlH/LLbc0xxxzzKSk1dulCYo1ebMe+r5cfTPFpAMdblAwpxsgVl99dfN///d/qWsA1TO73377da8RHFIsdjdQgOHWBjaqVSUCOgsjkEWGWwNpKJ+KqaBEd8HaZdIbvHrvNERob/dxWcOeunZNX+GVPL75zW8aBTBJee0bGpJtw551g4Pml0uOi6Jo0lx9URSZz372s+b8889P3UCRnNPvWdf09dtXxfbXvva1RsNpq666apy8bNSTGK+8+J++9kwTKvt4DeCLReSpQgG9PjLJM5lwBiTkVQK6sFqvOcOtYbkHX1oNverNXT1ddmU0NHfKKafYm4JZnm+++SbNOTfqNWt//vOfjf21YRoyXXTRRScZRFFk/t//+39Gx5922mlm7bXXTn3jhnzf8IY3mG233dZo/4MPPhjfbaopQyYlVtGGN7/5zUYPO/kPfehDcbntbSeeeKK59tpr7U0st0CA4dbmNzIBXVhtPGEXV0NO9jrLCAwS0HeYqqcpe4y+QeLuu+/ObvZ+XXeoZgOYG2+80YzS+6QeK/uuVvVqve51r+tb9wUWWCD+jljlo5495aWHljXX3w9/+MN4/5JLLmmy1931TbTCHbrr99BDDzWySrJRWdUz+/TTTyebeG6BQMjDrS1onlKqSEBXCqOzRBhudUbdvIyiKDI77rjjpLs2Nd3FUUcdZezAJoTaR1Fk3vWud6WKqm+OmDVrVmpbvxUNt2bf5NZaay2juen6nRPidg3B7r333qmiX3PNNUZD1gpGUztYaawAw62NbdpuxQjouhTeLzDc6n0T+V9A3bV5wAEHTPo2he9///vmqquuGrkCGsLV0OfIJ5Z0ggI6fdF+kpyGOs8444xcvXQadlQAaExytjH6yqwoqv5Gi7k5Vr8URVF8F+6aa66Zykw3etx6662pbaw0U4Dh1ma2a7ZWBHRZEX/XGW71t22CKpkmy33/+9+fKrNukNCdsKMOw2kIUt/QkErM4cqKK64Yf9WVnaUClRtuuMHeNGlZQ8yf/vSnjeqd7FTAs9FGGyWrjXpWr+MRRxyRGgZ+6qmnjObUe+aZZxpVVyozWSDbE905gu9u7SA07YeAzkGLlpQFw60lQbY9GV1XdfDBBxt9VZhtoWG4H/3oR/am1LKm6dC1Y6mNNa9EUWT22GMPozs8k6IoUFFgdvrpp5vnn38+2Rw/a/3iiy826667rtFcfPHGzn+63k3BjQKfzmojf6ZOnRpPdmxXTj2UP/jBD+xNLDdQgOHWBjZqjyoR0PVA8XATw60eNkrIRdI8Zb1ukNAF9Oq9Ut10Ldruu+8eD9fp2ruVVlopnhZD+5LHKquskizW9qzvW9WUJgrKkkJoCpOPfexjRpP/6uYhTf6rZ61vttlmqTtbdY7qp55LLTf1oTtxdTOEHfyqrnaba51HrQKlZ85wa+mk3iZIQOdt06QKxnBrioOVcQWiaM51VQqG7LR0g4TuetUNEpqf7uSTTzaaNPd73/ue0V2c9rG6fk7XnNnb6lrWPHsnnHBCakhRZdFEvz/5yU/iOuhZ69puP3bZZRfzjW98IzUNib2/Sctq7wMPPDBVJbW5JhxWD2xqByuNEGC4tRHNmKsSBHS5mGo/iOHW2pugIQWwqqEpOjQ3nbUpXlTwNuwaNPWGHXvssUZTocQn1fxfFEVm1113NVdeeaVZfvnlc5VmwQUXNLqBQnd7qvcq10kNOGi77bYzGpK2q3L22Webc889197EckMEGG5tSEPmqAYBXQ6kmg9huLXmBmhy9hqGzL65a54y3QmrXrrsnGwKfHRDhb7matq0aZPulq3baoMNNjB33nmnue6668wOO+xgNB+cXSZNGqzJdvX1WJpQ+CMf+Yh3dbDLW8WyJk/WDTD2NZSavkTXVT7wwANVZEmaNQkw3FoTfE3Zlh3Q1VSNRmc7YddOb8D2OsvtFNCb8syZM+PpOfRmrMf06dNHxlA6l156aSodpaW09W0Id911V2qfgr0LLrjArLHGGiPnpWu3Zs+e3U1Pw59vf/vbe6ajGxRUjuSh8qisPQ/ObJx33nnNeuutZ0455RSjaUySNPT86KOPGvVGbb755pUPsY5S30wVcq2qDqpT8pjZeT3kNVLbyj85V8+///3vzVJLLZUrbw4KQ4Dh1jDaqaxSEtCVJVldOgy3VmdLygggUJsAGVctwHBr1cJ+pU9A51d7ZEvDcGtWhHUEEEAAgaECDLcOJWrcAQR0fjfphF08hlttjeHLHIEAAgi0VYDh1va1PAGd323OcKvf7UPpEEAAAS8FGG4dqVkacTABnb/NyHCrv21DyRBAAAFvBRhu9bZpKi0YAV2lvGMlznDrWHycjIBHAhQFAYcCDLc6xPYoKwI6jxojUxSGWzMgrCKAAAIIDBdguHW4UROPIKDzs1VHHW71sxaUCgEEEEDAqQDDrU65vcqMgM6r5ugWhuHWLgULCCCAAAJ5BYYPt+ZNieNCEyCg87PFGG71s10oFQIIIOC1AMOtXjdPpYUjoKuUt1DiDLcWYuMkXwQoBwII1CPAcGs97r7kSkDnS0vMLQfDrXMtWEIAAQQQyCnAcGtOqIYeFmBA19CWmFsthlvnWrCEAAIIIJBTgOHWnFANPYyAzq+GZbjVr/agNAggELJAi8rOcGuLGrtPVQno+sDUtJnh1prgyRYBBBAIWYDh1pBbr5yyE9CV41hWKgy3liXpJh1yQQABBLwQYLjVi2aotRAEdLXypzJnuDXFwQoCCCCAQB4BhlvzKNV9TPX5E9BVb5w3B4Zb80pxHAIIIIBAV4Dh1i5FqxcI6PxpfoZb/WkLSoJAcAIUuL0CDLe2t+3tmhPQ2Rr1LTPcWp89OSOAAALBCjDcGmzTlV5wArrSSQslGMBwa6F6cRICCCCAQIUCDLdWiBtY0gR0fjQYw61+tAOlQAABBIIS8HK4NSjB5hSWgK7+tmS4tf42oAQIIIBAcAIMtwbXZJUWmICuUt5ciTPcmouJgxDoCrCAAAIdAYZbOwj8dBKqk5IAABAASURBVAUI6LoUtS0w3FobPRkjgAAC4Qow3Bpu21VRcgK6XqrutjHc6s6anBBAAIHGCDDc2pimLK0iBHSlURZKiOHWQmychAACCPghUFcpGG6tS97ffAno6m0bhlvr9Sd3BBBAIEgBhluDbLZKC01AVynvwMQZbh3Iw845AvyPAAIIpAUYbk17sDZHgIBujkMd/zPcWoc6eSKAAAKBCzDcGngDVlT8eSpKl2SHCzDcOtyIIxBAAAEEMgIMt2ZAWI0F6KGLGZz/x3Crc3IyRACBMQU43QMBhls9aARPi0BAV0/DMNxajzu5IoAAAkELMNwadPNVWngCukp5+ybOcGsvGrYhgAACCAwUYLh1IE+rdxLQuW9+hlvdm5MjAgggELwAw61zm5ClyQIEdJNNqt7CcGvVwqSPAAIINFCA4dYGNmqJVSKgKxEzZ1IMt+aE4jAE6hMgZwT8E2C41b828alEBHRuW4PhVrfe5IYAAgg0QoDh1kY0Y6WVIKCrlHdS4t3hVu2ZmJjQEw8EEEAAAQQGCjDcOpCHnR0BAroOgsMfhlsdYpMVAggg0ACBuAoMt8YM/DdAgIBuAE7JuxhuLRmU5BBAAIE2CDDc2oZWHr+OBHTjG+ZNITW+ynBrXjaOq1yADBBAwGsBhlu9bh5vCkdA564pGG51Z01OCCCAQGMEGG5tTFNWWhEXAV2lFQgkcYZbA2koiokAAgj4JMBwq0+t4XdZCOjctA/DrW6cyQUBBIIWoPBZAYZbsyKs9xMgoOsnU+52hlvL9SQ1BBBAoBUCDLe2oplLqSQBXSmMAxNhuHUgj9ud5IYAAgiEIsBwaygt5Uc5CeiqbweGW6s3JgcEEECgcQIMt9bapMFlTkBXfZMx3Fq9MTkggAACjRNguLVxTVpphQjoKuU1DLdW60vqCIQrQMkRGCDAcOsAHHb1FCCg68lS2kaGW0ujJCEEEECgPQIMt7anrcuqKQFdWZK906lzuLV3idiKAAIIIOC9AMOt3jeRdwUkoKuuSRhurc6WlBFAAIHGCrgfbm0sZasqRkBXXXMz3FqdLSkjgAACjRVguLWxTVtpxQjoquNluLU6W1IOTIDiIoBAfgGGW/NbceRcAQK6uRZlLjHcWqYmaSGAAAItEWC4tSUNXUE1GxLQVSAzXpIMt47nx9kIIIBAKwUYbm1ls5dSaQK6UhgnJcJw6yQSNiCAAAIeCHheBIZbPW8gj4tHQFd+4zDcWr4pKSKAAAKNF2C4tfFNXGkFCejK52W4tXzTkFKkrAgggEAhAYZbC7Fx0osCBHQvQpT4xHBriZgkhQACCLRFgOHWtrR0Us9ynwnoyvVkuLVcT1JDAAEEWiHAcGsrmrnSShLQlcvLcGu5nqSGAAJjCHBqOAIMt4bTVr6WlICu3JZhuLVcT1JDAAEEWiHAcGsrmrnSShLQlcfbwuHW8vBICQEEEGirAMOtbW35cutNQFeeJ8Ot5VmSEgIIINAagVYMt7amNeurKAFdefYMt5ZnSUoIIIBAawQYbm1NU1daUQK6cngZbi3HkVQQKCrAeQgEKcBwa5DN5mWhCejKaRaGW8txJBUEEECgVQIMt7aquSutLAFdXt7BxzHcOtiHvQgggAACPQQYbu2BwqZCAgR0hdhSJzHcmuJgBQEEEGi3QN7aM9yaV4rj8ggQ0OVRGnwMw62DfdiLAAIIINBDgOHWHihsKixAQFeYrnsiw61dChbcCJALAgg0QYDh1ia0oj91IKAbry0Ybh3Pj7MRQACBVgow3NrKZq+00j0DukpzbFbiDLc2qz2pDQIIIOBEgOFWJ8ytyoSAbrzmZrh1PD/ORgCBsAUofUEBhlsLwnFaXwECur40Q3cw3DqUiAMQQAABBLICDLdmRVgvQ4CArrgiw63F7fKfyZEIIIBAwwQYbm1Yg3pSHQK64g3BcGtxO85EAAEEWivAcGs1Td/2VAnoir0CGG4t5sZZCCCAQKsFGG5tdfNXWnkCumK8DLcWc+MsBAIWoOgIjC/AcOv4hqTQW4CArrfLsK0Mtw4TYj8CCCCAwCQBhlsnkbChJAECutEhKxtuHb0onIEAAgggEIoAw62htFSY5SSgG73dGG4d3YwzEEAAgdYLlDjc2npLACYLENBNNhm2heHWYULsRwABBBCYJMBw6yQSNpQoQEA3GibDraN5cXSoApQbAQRKFWC4tVROEushQEDXA2XAJoZbB+CwCwEEEECgtwDDrb1d2FqeQF0BXXk1cJsSw61uvckNAQQQaIQAw62NaEavK0FAl795GG7Nb8WRCCCAQEkC4SfDcGv4bRhCDQjo8rcSw635rTgSAQQQQOBFAYZbX4TgqVIBArr8vAy35rcK6kgKiwACCFQpwHBrlbqknQgQ0CUSg58Zbh3sw14EEEAAgR4CDLf2QAl3k9clJ6DL1zwMt+Zz4igEEEAAAUuA4VYLg8VKBQjo8vEy3JrPiaMQQGAcAc5tnADDrY1rUm8rREA3vGkYbh1uxBEIIIAAAhkBhlszIKxWKkBAN5y3ScOtw2vLEQgggAACpQgw3FoKI4nkFCCgGw7FcOtwI45AAAEEEMgIhD3cmqkMq94LENANbqLUcOsiiyxiNttMmwafxF4EEEAAgXYLMNza7vavo/YEdIPVU8OtH/xgqrNu8JnsRQCBgQLsRKDJAgy3Nrl1/awbAd3gdklFcAR0g7HYiwACCCAwR4Dh1jkO/O9OoMEB3diIGltdNEmF4dZEgmcEEEAAgUECDLcO0mFfVQIEdP1lU8Otjz/+uImiiAcGvAZ4DfAaaNproOT6vO9978u+s5yX3cA6AmULEND1F00Nt/Y/jD0IIIAAAggMFJgxcC87EShBgICuN2JquLX3IWxFILcAByKAQHsFHutU/aLOgx8EKhUgoOvNS+9cbxe2IoAAAgiMJkDv3GheLT+6ePUJ6Hrb7dzZHPEwGBgMjAnSwGT+8Vo2QbZjE9pN7yeGfwhULUBAV7Uw6SOAAAIeCVAUBBBopgABXTPblVohgAACCCCAQIsECOha1NhuqkouCCCAAAIIIOBagIDOtTj5IYAAAggggIAxGJQqQEBXKieJIYAAAggggAAC7gUI6NybkyMCCLgRIBcEEECgNQIEdK1paiqKAAIIIIAAAk0VIKAbp2U5FwEEEEAAAQQQ8ECAgM6DRqAICCCAAALNFqB2CFQtQEBXtTDpI4AAAggggAACFQsQ0FUMTPIIuBEgFwQQQACBNgsQ0LW59ak7AggggAACCDRCIHdA14jaUgkEEEAAAQQQQKCBAgR0DWxUqoQAAgjUKEDWCCBQgwABXQ3oZIkAAggggAACCJQpQEBXpiZpuREgFwQQQAABBBBICRDQpThYQQABBBBAAIGmCLSpHgR0bWpt6ooAAggggAACjRQgoGtks1IpBBBwI0AuCCCAgB8CBHR+tAOlQAABBBBAAAEECgsQ0BWmc3MiuSCAAAIIIIAAAsMECOiGCbEfAQQQQAAB/wUoYcsFCOha/gKg+ggggAACCCAQvgABXfhtSA0QcCNALggggAAC3goQ0HnbNBQMAQQQQAABBBDIJ+BTQJevxByFAAIIIIAAAgggkBIgoEtxsIIAAggg4L8AJUQAgawAAV1WhHUEEEAAAQQQQCAwAQK6wBqM4roRIBcEEEAAAQRCEiCgC6m1KCsCCCCAAAII+CTgTVkI6LxpCgqCAAIIIIAAAggUEyCgK+bGWQgggIAbAXJBAAEEcggQ0OVA4hAEEEAAAQQQQMBnAQI6n1vHTdnIBQEEEEAAAQQCFyCgC7wBKT4CCCCAAAJuBMjFZwECOp9bh7IhgAACCCCAAAI5BAjociBxCAIIuBEgFwQQQACBYgIEdMXcOAsBBBBAAAEEEPBGoGUBnTfuFAQBBBBAAAEEEChNgICuNEoSQgABBBBojAAVQSAwAQK6wBqM4iKAAAIIIIAAAlkBArqsCOsIuBEgFwQQQAABBEoTIKArjZKEEEAAAQQQQACBsgXypUdAl8+JoxBAAAEEEEAAAW8FCOi8bRoKhgACCLgRIBcEEAhfgIAu/DakBggggAACCCDQcgECupa/ANxUn1wQQAABBBBAoEoBAroqdUkbAQQQQAABBPILcGRhAQK6wnSciAACCCCAAAII+CFAQOdHO1AKBBBwI0AuCCCAQCMFCOga2axUCgEEEEAAAQTaJEBAV3Zrkx4CCCCAAAIIIOBYgIDOMTjZIYAAAgggIAEeCJQpQEBXpiZpIYAAAggggAACNQgQ0NWATpYIuBEgFwQQQACBtggQ0LWlpaknAggggAACCDRWYKyArrEqVAwBBBBAAAEEEAhIgIAuoMaiqAgggECgAhQbAQQqFiCgqxiY5BFAAAEEEEAAgaoFCOiqFiZ9NwLkggACCCCAQIsFCOha3PhUHQEEEEAAgbYJNLW+BHRNbVnqhQACCCCAAAKtESCga01TU1EEEHAjQC4IIICAewECOvfm5IgAAggggAACCJQqQEBXKqebxMgFAQQQQAABBBCwBQjobA2WEUAAAQQQaI4ANWmRAAFdixqbqiKAAAIIIIBAMwUI6JrZrtQKATcC5IIAAggg4IUAAZ0XzUAhEEAAAQQQQACB4gK+B3TFa8aZCCCAAAIIIIBASwQI6FrS0FQTAQQQaLYAtUOg3QIEdO1uf2qPAAIIIIAAAg0QIKBrQCNSBTcC5IIAAggggICvAgR0vrYM5UIAAQQQQACBEAVqKTMBXS3sZIoAAggggAACCJQnQEBXniUpIYAAAm4EyAUBBBDICBDQZUBYRQABBBBAAAEEQhMgoAutxdyUl1wQQAABBBBAICABArqAGouiIoAAAggg4JcApfFFgIDOl5agHAgggAACCCCAQEEBArqCcJyGAAJuBMgFAQQQQGC4AAHdcCOOQAABBBBAAAEEvBYgoDNetw+FQwABBBBAAAEEhgoQ0A0l4gAEEEAAAQSMMSAg4LEAAZ3HjUPREEAAAQQQQACBPAIEdHmUOAYBNwLkggACCCCAQCEBArpCbJyEAAIIIIAAAgjUJTA5XwK6ySZsQQABBBBAAAEEghIgoAuquSgsAggg4EaAXBBAICwBArqw2ovSIoAAAggggAACkwQI6CaRsMGNALkggAACCCCAQFkCBHRlSZIOAggggAACCJQvQIq5BAjocjFxEAIIIIAAAggg4K8AAZ2/bUPJEEDAjQC5IIAAAsELENAF34RUAAEEEEAAAQTaLkBA5+IVQB4IIIAAAggggECFAgR0FeKSNAIIIIAAAqMIcCwCRQUI6IrKcR4CCCCAAAIIIOCJAAGdJw1BMRBwI0AuCCCAAAJNFCCga2KrUicEEEAAAQQQaJVA6QFdq/SoLAIIIIAAAggg4IEAAZ0HjUAREEAAgRYKUGUEEChRgICuREySQgABBBBAAAEE6hAgoKtDnTzdCJALAggggAACLREgoGtJQ1NNBBBAAAEEEOgt0IStBHRnYuUnAAAQAElEQVRNaEXqgAACCCCAAAKtFiCga3XzU3kEEHAjQC4IIIBAtQIEdNX6kjoCCCCAAAIIIFC5AAFd5cRuMiAXBBBAAAEEEGivAAFde9uemiOAAAIItE+AGjdUgICuoQ1LtRBAAAEEEECgPQIEdO1pa2qKgBsBckEAAQQQcC5AQOecnAwRQAABBBBAAIFyBUIM6MoVIDUEEEAAAQQQQCBwAQK6wBuQ4iOAAAII9BNgOwLtESCga09bU1MEEEAAAQQQaKgAAV1DG5ZquREgFwQQQAABBHwQIKDzoRUoAwIIIIAAAgg0WaDyuhHQVU5MBggggAACCCCAQLUCBHTV+pI6Aggg4EaAXBBAoNUCBHStbn4qjwACCCCAAAJNECCga0IruqkDuSCAAAIIIICApwIEdJ42DMVCAAEEEEAgTAFKXYcAAV0d6uSJAAIIIIAAAgiUKEBAVyImSSGAgBsBckEAAQQQSAsQ0KU9WEMAAQQQQAABBIITIKDr2WRsRAABBBBAAAEEwhEgoAunrSgpAggggIBvApQHAU8ECOg8aQiKgQACCCCAAAIIFBUgoCsqx3kIuBEgFwQQQAABBIYKENANJeIABBBAAAEEEEDAb4F5jN/lo3QIIIAAAggggAACQwTooRsCxG4EEEAAgTkC/I8AAv4KEND52zaUDAEEEEAAAQQQyCVAQJeLiYPcCJALAggggAACCBQRIKArosY5CCCAAAIIIFCfADlPEiCgm0TCBgQQQAABBBBAICwBArqw2ovSIoCAGwFyQQABBIISIKALqrkoLAIIIIAAAgggMFmAgG6yiZst5IIAAggggAACCJQkQEBXEiTJIIAAAgggUIUAaSKQR4CALo8SxyCAAAIIIIAAAh4LENB53DgUDQE3AuSCAAIIIBC6AAFd6C1I+RFAAAEEEECg9QJOArrWKwOAAAIIIIAAAghUKEBAVyEuSSOAAAIIjCTAwQggUFCAgK4gHKchgAACCCCAAAK+CBDQ+dISlMONALkggAACCCDQQAECugY2KlVCAAEEEEAAgfEEQjubgC60FqO8CCCAAAIIIIBARoCALgPCKgIIIOBGgFwQQACB8gQI6MqzJCUEEEAAAQQQQKAWAQK6WtjdZEouCCCAAAIIINAOAQK6drQztUQAAQQQQKCfANsbIEBA14BGpAoIIIAAAggg0G4BArp2tz+1R8CNALkggAACCFQqQEBXKS+JI4AAAggggAAC1Qs0JaCrXoocEEAAAQQQQAABTwUI6DxtGIqFAAIIIFCFAGki0EwBArpmtiu1QgABBBBAAIEWCRDQtaixqaobAXJBAAEEEEDAtQABnWtx8kMAAQQQQAABBIwp1YCArlROEkMAAQQQQAABBNwLENC5NydHBBBAwI0AuSCAQGsECOha09RUFAEEEEAAAQSaKkBA19SWdVMvckEAAQQQQAABDwQI6DxoBIqAAAIIIIBAswWoXdUCBHRVC5M+AggggAACCCBQsQABXcXAJI8AAm4EyAUBBBBoswABXZtbn7ojgAACCCCAQCMECOhyNyMHIoAAAggggAACfgoQ0PnZLpQKAQQQQCBUAcqNQA0CBHQ1oJMlAggggAACCCBQpgABXZmapIWAGwFyQQABBBBAICVAQJfiYAUBBBBAAAEEEAhPoHdAF149KDECCCCAAAIIINBaAQK61jY9FUcAAQTGFyAFBBDwQ4CAzo92oBQIIIAAAggggEBhAQK6wnSc6EaAXBBAAAEEEEBgmAAB3TAh9iOAAAIIIICA/wItLyEBXctfAFQfAQQQQAABBMIXIKALvw2pAQIIuBEgFwQQQMBbAQI6b5uGgiGAAAIIIIAAAvkECOjyObk5ilwQQAABBBBAAIECAgR0BdA4BQEEEEAAgToFyBuBrAABXVaEdQQQQAABBBBAIDABArrAGoziIuBGgFwQQAABBEISIKALqbUoKwIIIIAAAggg0EOgtoCuR1nYhAACCCCAAAIIIFBAgICuABqnIIAAAgg4EyAjBBDIIUBAlwOJQxBAAAEEEEAAAZ8FCOh8bh3K5kaAXBBAAAEEEAhcgIAu8Aak+AgggAACCCDgRsDnXAjofG4dyoYAAggggAACCOQQIKDLgcQhCCCAgBsBckEAAQSKCRDQFXPjLAQQQAABBBBAwBsBAjpvmsJNQcgFAQQQQAABBJonQEDXvDalRggggAACCIwrwPmBCRDQBdZgFBcBBBBAAAEEEMgKENBlRVhHAAE3AuSCAAIIIFCaAAFdaZQkhAACJQms3Enn0M5jSudR94/KcFinECpT54kfBBBAwE+BJgd0fopTKgQQGCZwR+eAtTuPWZ3HwZ3Hgp2H6x8Fcod0Mp3deazZeahMnSd+EEAAAT8FCOj8bBdKhUDbBQ7qACzUeehZQdWBnWUXgZ3yUJ4KJpM8FVR2suenuQLUDIHwBQjowm9DaoBAEwVu7FTq0s5DP0lvmYKsL3Q2KOjqPJX6ozSVtoJHBXAKJpXBJZ3/VJbOEz8IIICAvwIEdP62DSVrkABVKSSgwMo+8dWdFV3Pdn/neb/O45Wdx7g/SkM9cUpTaSt4tNPMlsHexzICCCDgjQABnTdNQUEQQCAjcENn/YrOI/uj3rMjOhvVY7dv51lBWedppB+do6BQPXK6Vk5pZhNQDyG9c1kV1hFAoEqBwmkT0BWm40QEEHAgoN6zftks3NlxZOehwG7vzvMrOo9hP0kgp3MUFL5mwAm6lm7AbnYhgAAC/ggQ0PnTFpQEAQQmC1zf2XRl5zHoR4Hd0Z0DFKTt1XnuFdhp2z6dffd1HgrkdE5nse9Pc3vn+laZHQggELIAAV3IrUfZEWiHwKBeOltg0c7KMZ2HArvOU+pHQ6tHdbYs0nnk+aF3Lo8SxyCAgDcCBHTeNEVjCkJFEChb4LpOgr2upets7vmjwC67I28gp/O4s1UKPBBAICgBArqgmovCItBaAU0p4qry3NnqSpp8Wi5A9csUIKArU5O0EECgKgHdbXpVVYlb6XLtnIXBIgIIhCNAQBdOW1FSBNouoO93HcmgwMFcO1cAjVMQQKB+AQK6+tuAEiCAQD6BmZ3Druk8qvrh2rmqZEkXAQQqFyCgG4uYkxFAwLFAlT1oXDvnuDHJDgEEyhMgoCvPkpQQQKB6AV1Hp+vpys7p8k6CVaTbSZYfBIwxICBQsQABXcXAJI8AAqUL7F96isYcUEGaJIkAAgg4EyCgc0ZNRghUKtCmxPXNEWX2ptE716ZXD3VFoKECBHQNbViqhUDDBcrsUSszrYazUz0EEPBVIH9A52sNKBcCCLRRoKxeNX0DRZm9fW1sC+qMAAIeCBDQedAIFAEBBAoJ5P2O10GJu/wGikHlaNQ+KoMAAu4FCOjcm5MjAgiUI3BZJ5lxetfonesA8oMAAs0QIKBrRju2rBZUF4GuwDjz0tE712VkAQEEQhcgoAu9BSk/Au0WKPrdq2XfKdvuVqD2CPgq0KJyEdC1qLGpKgINFSjyDQ9VzGXXUF6qhQACIQgQ0IXQSpQRAQQGCeg7WG8ZdEBmX5m9c5mkWUUAAQTqESCgq8edXBFAoFyB/UZIjt65EbA4FAEEwhAgoPO9nSgfAgjkEbi4c1CeXrqrOseNc2ds53R+EEAAAf8ECOj8axNKhAACxQTy9LxxZ2sxW84KQIAitluAgK7d7U/tEWiSwEWdygzqpVPv3PWdY/hBAAEEGidAQNe4JqVCCFQlEES6Bwwo5SjX2Q1Ihl0IIICAfwIEdP61CSVCAIHiAhd2Tr2p88j+cGdrVoR1BBBolIBXAV2jZKkMAgjUJXBIj4wH9dz1OJxNCCCAQFgCBHRhtRelRQCB4QIXdA6xe+m4dq4D0rAfqoMAAhkBAroMCKsIINAIAftuVq6da0STUgkEEBgkQEDXX+eFzi4exrTTgHqH3u6al67zKxz/3ND5P/T6UH5+J9v8Guj8CvMzTICAbpgQ+xFAAAEEEEAAgT4CvmwmoPOlJSgHAggggAACCCBQUICAriAcpyGAAAJuBMgFAQQQGC5AQDfcKD7ihRdeMDww4DXAa4DXAK8BXgPVvgbiN13+G1mAgG5ksuadQI0QQAABBBBAIGwBArqw24/SI4AAAggg4EqAfDwWIKDzuHEoGgIIIIAAAgggkEeAgC6PEscggIAbAXJBAAEEECgkQEBXiI2TEEAAAQQQQAABfwTaFtD5I09JEEAAAQQQQACBkgQI6EqCJBkEEEAAgSYJUBcEwhIgoAurvSgtAggggAACCCAwSYCAbhIJGxBwI0AuCCCAAAIIlCVAQFeWJOkggAACCCCAAALlC+RKkYAuFxMHIYAAAggggAAC/goQ0PnbNpQMAQQQcCNALgggELwAAV3wTUgFEEAAAQQQQKDtAgR0bX8FuKk/uSCAAAIIIIBAhQIEdBXikjQCCCCAAAIIjCLAsUUFCOiKynEeAggggAACCCDgiQABnScNQTEQQMCNALkggAACTRQgoGtiq1InBBBAAAEEEGiVAAFd6c1NgggggAACCCCAgFsBAjq33uSGAAIIIIDAHAH+R6BEAQK6EjFJCgEEEEAAAQQQqEOAgK4OdfJEwI0AuSCAAAIItESAgK4lDU01EUAAAQQQQKC5AuMFdM11oWYIIIAAAggggEAwAgR0wTQVBUUAAQTCFaDkCCBQrQABXbW+pI4AAggggAACCFQuQEBXOTEZuBEgFwQQQAABBNorQEDX3ran5ggggAACCLRPoKE1JqBraMNSLQQQQAABBBBojwABXXvampoigIAbAXJBAAEEnAsQ0DknJ0MEEEAAAQQQQKBcAQK6cj3dpEYuCCCAAAIIIICAJUBAZ2GwiAACCCCAQJMEqEt7BAjo2tPW1BQBBBBAAAEEGipAQNfQhqVaCLgRIBcEEEAAAR8ECOh8aAXKgAACCCCAAAIIjCHgfUA3Rt04FQEEEEAAAQQQaIUAAV0rmplKIoAAAo0XoIIItFqAgK7VzU/lEUAAAQQQQKAJAgR0TWhF6uBGgFwQQAABBBDwVICAztOGoVgIIIAAAgggEKZAHaUmoKtDnTwRQAABBBBAAIESBQjoSsQkKQQQQMCNALkggAACaQECurQHawgggAACCCCAQHACBHTBNZmbApMLAggggAACCIQjQEAXTltRUgQQQAABBHwToDyeCBDQedIQFAMBBBBAAAEEECgqQEBXVI7zEEDAjQC5IIAAAggMFSCgG0rEAQgggAACCCCAgN8CBHTG+N1ClA4BBBBAAAEEEBgiQEA3BIjdCCCAAAIIzBHgfwT8FSCg87dtKBkCCCCAAAIIIJBLgIAuFxMHIeBGgFwQQAABBBAoIkBAV0SNcxBAAAEEEEAAgfoEJuVMQDeJhA0IIIAAAggggEBYAgR0YbUXpUUAAQTcCJALAggEJUBAF1RzUVgEEEAAAQQQQGCyAAHdZBO2uBEgFwQQQAABBBAoSYCAriRIkkEAAQQQhEiIZQAAEABJREFUQACBKgRIM48AAV0eJY5BAAEEEEAAAQQ8FiCg87hxKBoCCLgRIBcEEEAgdAECutBbkPIjgAACCCCAQOsFCOicvATIBAEEEEAAAQQQqE6AgK46W1JGAAEEEEBgNAGORqCgAAFdQThOQwABBBBAAAEEfBEgoPOlJSgHAm4EyAUBBBBAoIECBHQNbFSqhAACCCCAAALtEig/oGuXH7VFAAEEEEAAAQRqFyCgq70JKAACCCDQTgFqjQAC5QkQ0JVnSUoIIIAAAggggEAtAgR0tbD3zvToo482URQVerzsZS8zyy+/vJk2bZq5+OKLzXPPPdc7k1ZtpbIIhCWQ/Ruwww47hFWBAqU955xzzLzzzhv/3dt8883NP/7xj1QqDz30kHn9618f74+iyCywwALm5ptvTh0zzsoDDzxgVlpppTj9V7/61eaXv/zlOMk16tzzzz8/domiOe9LU6dONc8880yj6tikyhDQNaQ1//Wvf5l7773XTJ8+3Wy22WZmwQUXNMccc8ykP44NqS7VQACBBgjMnj3b7LvvvuY///mP0YfSvffe28w///xOa7bUUkuZ/fffP87zqaeeMvvtt595+umn43X+a5FAA6o6TwPqQBV6CCjA22effcwmm2xiHn744R5HsAkBBBCoT0B/ow4++GDzxz/+MS7Exz/+cbPuuuvGy67/m5iYMBtssEGc7RVXXGG++c1vmhdeeCFe5z8EQhEgoAulpQqW85prrjHbbbcdnzgL+nEaAiUJkExG4Nxzz41HFLR5kUUWMXvuuad5yUteolXnj1e+8pVxL90888x5Szz88MMZenXeCmQ4rsCcV++4qXB+JQLLLLOM+fOf/xx/UtSnxX6Pf/7zn3Ev3GWXXWb0KTdbGH3i/Na3vpXdzDoCCCBQi4CuW1PvnP6mqQC77LKLWXnllbVY20PXh33oQx+K83/22WfNAQccwPVisQb/hSJAQBdKSw0o50tf+lKz+OKLm/e+973m1FNPNdddd52ZMmVK6oyvfe1r5r777kttYwUBBBBwLaAg7tvf/rb5wx/+EGf9ute9zvzP//xPfPF9vKGm//R39DOf+Ux8LZ+KoA/IM2bM0GJrH7pJRe2VPGbOnGnUm9laEM8rTkDneQMVKd56661nvvjFL6ZOffDBB83111+f2sYKAggg4FrgjjvuMPaIwSc+8Qmz3HLLuS5Gz/x0Dd+WW27Z3XfUUUeZRx99tLvelAXq0UwBArpmtqvRJyvd6m9X76qrrrJXWUYAAQScCqin56STTjKPP/54nK9GErbaaqt42Yf/dA2fpoqJoiguzu9+9zuja/3iFf5DwHMBAjrPG6ho8RZeeGHzlre8JXX6rFmzzN///vfUNlYQKF+AFBHoLaDeuR/+8IfdnZtuuqlZccUVu+s+LKiXbq211uoW5etf/zq9dF0NFnwWIKDzuXXGKNt8881ndOeYncS///3v+AYLe5u9nHwyjaIovp5Fk5za+8dZ1kSgmhA0iuakrd5DTRhqp6kJK3VhchTNOSaKIqOJLe1jBi2Pcr7SjaK5+ShfnT8o/WSfplvYeuutY6MompOG6qY6JscMe1Yal156aTwRtCyiaE46URSZxRZbzKjXQmXUccPSSvarvaJobjpRVHx5UH2y+eh1k5Rh2PMTTzxh9GYZRXPLpvrbrwU5Kv8omntMFBVfVlpKMymb2lntHUVz05R1st/X5+eff95cfvnl5qMf/ah5zWte0339aVLet73tbfG8k7bjqPXQa+3GG280n/3sZ82qq64aXysVRXONlI+GRqdNm2b02tXxo+Zx1llndXvnoigyeu2oV2zUdPIcLytNFBxFc+ug9WGXniy00ELmgx/8YDcL9dJdeeWV3fU2Lej3Iorm+k1lYmGvm38er0vXp3BsHi6g4C3bG6c3Ti5oHW437AhdGKzZ7Ycd12u/3pR/9KMfGV0IrjkCp0+fbu6///7UoY899phR+h/4wAfi4y644IKBgXjqZM9X9Ib+q1/9yvNS+le8n//852aFFVYwG220kTnzzDPNk08+2S2kJuW97bbbjOadXHLJJc1ee+010oTi+mYG3TSlD4DqnTr++OPNb37zm0m9+cpnVqeXX69ZvXZ1vF7Lek13CzNg4ZFHHonLnhyi+qy22mrJaqnP+raHD3/4w0YTBScJT5kyxVx44YVG1xgn2/o96wazV7ziFd3dp5xyykim3RNZQMChAAGdQ2yXWaknRJ8s7Tzz/CGzj2d5soBcNau83twm7x285S9/+Yt53/veZ7bddlujoG3w0XP26jhdD3nIIYeYIj0ic1Lx4/+7777bHHrooX4UJpBS6JozDfm9+93vNvfcc0+uUh933HFGF/bn+bYDTR/yrne9y+y2227mr3/9a670k4N0vF7Lu+66a67X5i9+8QuT3NmqNNZZZ524N1rLZT4UzCngfDGYi5NWMKcPE3n/BirYXHPNNeNz9Z+uP7711lu1WMoj2/MVRXN7waJovGWlXUohSSQ4AQK64JosX4F1y739x1M9QhtvvHG+kzmqr4DeFIr0MOnNVcO0GqrKJq4hwS222MLstNNORsdoyDV7jAK6r371q9nNA9fVg6LhMaU77KE3Zn310sAEx9iZBCZ5hgR1/afufOxX5omJiXi4MSlOFEVG2/odr7SUZnJ8SM/qqd19993jr8ZKyq3Xh14nqu973vMeo+k2kn3J88UXXzz02w70mpw2bZq56aabktO6z4suuqhJXpPKR8saruweYC1oCpJhQYRGDNSbZ50WT7MURZG9aezl3//+92abbbYxvYI59brlzUAjGe94xzu6h2uuz0suuaS7zgICPgoQ0PnYKmOWSdeOaD4lO5lPf/rTZtlll7U3sTyiQM8ephxp6M3s85//vNEEz/bhyy+/fHwtkt5YZ8yYYb7zne/EQ1KaTPq8884zCy64oH240RQK2V7X1AGZFd0Uo6E0pTvsoV6dJZZYIpNCeavXXnutOfHEE3MlqNfpCSecEHv0KvcXvvAFM//883fT0rK29TpW25SW0uyeENCCJrhNeoPVY6T2T4YuVTf9ruv1o2mKkm85SKr3jW98w2iINFnPPmvqkOxrUsP89957b3wTQPKaVD5aVg+zPiSqR89OS8G6jtHQrb3dXlaZb7jhhu6mV73qVeatb31rd72MhdmzZ8dBqMqfpKdh0x/84Adx8Jhsy/u89tprpw6dOXMmEw2nRFjxTYCAzrcWKVAeXcOiuZL0qXyzzTaLr7OxP6HqU/ynPvWpVK9GgWxafYretDT0laeHKQulHr3vfe97qc0bbrhh/NVCuiZKF5vbO7U+MTFh1Ms6ZcqU7i5N9aCgSGXpbgxgQW/0xxxzjFEvRwDF9bKI6iXThOG9vk1BAa2un1NQZxdec0/q2jp7W7KsAEvXhSXretY1Z2efffbAOeE0FKm/M8k3Kug8PXTN3aDfDfWc2deKKh19E47OLeOhYE6/S8n3wipNBXM//vGPzfvf/36tjvx405veFN98kpwoyz/96U/JKs8IjCxQ9QkEdFULj5G+/gDqIucoiuJgLIp6P+suscUXX9womNMfWzvLaZ0hlZ/85CdGd27Z21keTSDbw/T2t7891UvULzUFX5qmwQ5m3vCGNxgFeLpTsd952q67QT/f6dnTcvJQT8mgXpfkOJ+eNWyoGzuSMm2wwQbJIs85BN75zneaY489tufQanJ6FM25YzQ7Bcjtt9+eHJJ6VnBy5513drfpg8OBBx44MI/kYAWQe+yxR+p7V9VLqOtLk2Oyz7quTb8LyXbdoKVeumR9nOeHH344/srDMoM5lUc91vpd1bIe6qFUYKrlcR+6LlYeVTyU9rjl4/wwBQjowmy3oaVWL496lE4++WSja7SGnuDpAbrwuu6iZXuYXvva15rPfe5zcZA9rGwaPrWDGR2/8847m7xDgLpWStc/6jw91OuiYS8th/BQz7GGipOyathQU1Uk6zwPF1Dvep4PZIsttphZffXVUwnaQZu9Q9fI6WYGDStqWb1b2WDQPj67rMsF9GEz2a7fEQVWybr9rEsOfv3rX9ub4nLqg2hqY4EVBZLbbbedueaaa7pn65rC0047rXDPXJKQAk4Fnsm6nkP63VN5ebRLgICuoe2tYVj9wV5jjTXM1VdfHey0F7oLr+4m+ulPfxpPd5CUQz0ZGo5J1gc96xO9elqTY9QTMsoQ0NJLL210cbaCSF2YrrzzBoOm5n/qffjud79rdN2XiqJrvI444ohJ8yNqH4/eAuolUk9t773prVEUGc1HZ29VMKV2sLdpeZVVVjG6yUbzzino1tBkGQGW0s4+FOxpiNfeng2U7H15lxXMaejXvg5QwdwZZ5wR3+WbN51+x8lDQ8P2fr2We3nax7CMQF0CBHR1yTvKV7faa4hLc1ONO+1F1UXWnWXZP/T2MErV+fdKX292hx12WDcgVg+TrjXqdWyvbb/97W+752q/LgTP1lHb+z30pqJ5x9TTN2PGDKO7XVdaaaV+h3u1Xd8K8OUvf7lbJr35Tp06tbvOwnCBN77xjUY9aMOP7H2EenSz81H2PrK6rZrI2f5Qo5yGXW6gYwY9lKY+sNrBXBRF5tRTTy0lmEvyzt4d7YNnUjaeEcgKENBlRTxa10XDeiPXJ8Jhj7/97W9G11ZpqEFBR7YaX/rSl8zhhx+eCi6yx/iwrp4Duxy6EDz76d7eX+WyzHv1MGX/yA8qgy4Wt/erTRW42tuauKwPD7pzVjdyqH6aQuWggw7KdY2Wjnf90N2dUdT7GlVdvrDccsuZj33sY0bT1qhnyFX5lHcURa6yG5iP2lQ9VEceeaTRTT3ZIK3fyfoblrwOdIxuVtDUK1ou8tD1qJ/85CeN7l61z9fvq753VeW0t4+znO2J100RdQfI49TH4blkVYMAAV0N6FVkqSBBPT+6nkQTeOpGCP3htPNSQKdpDuxtg5Z1QX4URfG1YlE0+VnX0GhuJwWL+kM3KK28+9SbaJdb16wccMABuSYuNSX/y/Ywbb/99maUHia9wWjIyy6WLiiPosje1MhlTfGg3pKkcvo6qV53aCb7fX7WtCH6sHT66afH8wRq2FzTArm4vlO/0/rdduWj16xubtBNDBq63HvvveMpP9SjpnkK1cOsibX7XZvnopz6ndKlDL3y0l26Cup67Stjm/LW66GMtEgDgbIFCOjKFvUgvSiKjHoc9Iaq65aSIukPkYIvXdOSbBvnWdMUaMhDNwio50lfG6QgaJw09aavWfHtNE466SSjyWH7vYFq+EV39+64446pi6PtNEZd1qf8bA+T6qlrdPKmpU/yGqKxj89+4rf3NWVZPVgaptbrTXXSfHhqmygqMZBVwjU+dMORghtd0lBjMUrJWq91TQy8/vrrx3euqjdVN0togl7dXavfcfurxkbNVH9v1Ks26nl5j7f/xikg3W+//eLRirznDzquqg9g8o6iqO+H5WiJGzsAABAASURBVCgqvk9pD6oT+5orME9zq0bNFNTpuiVb4vrrrzd33XWXvam0ZV1grTdvzTmmmzKKJKw/oOqRUy+Ifb6CU81Urzca3SWqh3oH1XOgu9E0ZYsu7E6CCPvcIstN6mEqUv9xztE3AiR3HUZRZNSe4wyxjVOWvOfqLk/N9dbroXkce13Hpl5pnadhyLz5+HScgp8rr7zS6JpM/a3Q5Q15f3/UO28HUoPqpWBQPVuDjimyT/lr4uyf/exnRstJGppY+OijjzZl5Km/OfqblKTNMwI+CxDQ9W6dRmxVb5LujLQro2vt8l77ornWer3BaZvS1Z2XdtrJsiY5/cpXvpKsjvysu/p07ZrKb5+sNxsNBanHTo9xew7stO3lsnqY5ptvvkl3dNZ9k4ddzyqWZ82aFc+ZlqStO3oVLCTrvj5rCFXfdtDrocsUdHOMrgPTtVt2HbRNN6qol8ve7vuygjl9k4QC0nvuuWdgcfV7rt93BUm6nEM9bvq6sKWWWmrgeclOBUW6uSdZL+NZAZy+AUTfgKOA+7//+79Tyaod9f2rqY0FVtTu+raOAqdyCgLOBeZxniMZOhXIfn2UMs87LKq7OfWHsddDd1zqYmcNpehGDPu6N+Vx/PHHm/vuu0+LhR5bbrmlUY+B5rvKm4AuINcf+rzH9zuurB4mvYll5wDUm6HeTPvlHfJ21UuBvHpIVA+9JvSVXE3p4dDNMAoi9IFG9UseF154odHdzMl6CM/6YKQPXvqQZJd31VVXNQr0NPGwPvypTfV7rt93XU+nD1v6oGKfM2xZ7a/r74Ydl3d/FEVGd08rmIuiKB4m1vW+CjyTNFSvPffcM/4Ks2Rbked8vXxFUuYcBMoXIKAr37RVKaoXTTdiaEjUDqZ07dill146loXu1tXFz5oHbpNNNklNkKy8NOGueg70nZR333230cXcmlV/nEzL7mHKzmOl3lFd8zdKGXVNjC6M18SvmpRX3zLh4xuNggT1nCZ1U+CjACBZb8KzXu+77babsS8JUA+Obt4JpX567SjwVrmTMqteumRBEwBrImNdH6jXXLJ/nGd9sNGHrXHSsM9VgKjr/aIo6m7W9C6ao7G7obOgoXANySoo7ayW8qO66G/PuInp2xxUrioeSnvc8nF+mAIEdGG2W+5S97qRQDce5E4g54EKuLLBlL7DNOfpfQ/TG43+QOmmBwVCyR9AXaOnSYfVc/C///u/Rj15475p6FO93ujK7GFabbXVUnVT76jKndo4ZEXXJuoGC91ZqMBZ1wwNOcX5bvU86i7qJEjQVybp66GiaO6brvNCVZSh7jxVwGMnP2qb2ue6XtaHCl0jauer3rqtttoqvkjf3t5vWfV97LHH+u1Obdf1kxp2TTbqNaJev2S9rGd9sNQQsp2eevL0QcPeNsqyfl/t4zXRd7bX3d7PMgJ1ChDQ1alfcd76JJ792ikNg+mC5rKz1qd5vdHZ6YZ2XZF6J8ruYVKvmnoSExd9H6Su/UvWhz3rer7s8XrTUk/BsHNd7r/oootS36ahiayXXXZZl0VwllcURWbcDw+mxn8KpnTtX1KEKIqMpguKovzBd3ItXZLGoGf9bdBd8PYxKoO9Xsay8tHd1fobl6Sn4FGvRf0eJdtGedZIg328/sYpH3sbywj4IjCPMb4UhXKULaCLgjWMYqf7X//1X0bDE/a2Mpafe+45Y79JKE31ruk5hId6/zRkozcAlbesHiZ9os/2XOr6Qg3tKp9hDwVzdg+Dhvr0VWDDztN+TT8x6vVOOm/Uh970ZKfeU52r+mrKCy038aEL5dVbatct7w0C9jl1Let3VT3cSf5qt1E+fOnyBk0unJw/7FkBUDagUy/hsPOK7NcQv+Y8tM/VHdcnn3yyvSnXsj4QZwPP7CUUuRLiIAQcCdBD5wjadTY33HCD2XbbbY2GEe28p02bZhZaaCF7UynLmg5FdwPaiekaOHvd5+Wbb745NYedPtWX0cOknjRdc2VfFK4hXc2rN6zXQG+cuthbb7iJnaahUa9fsj7oWUNDyn/QMWXsU9Cp65WUlq4v0jQlVbzGlH7dDwVC6sW1v4hePUJ526Tu8it/TcGiIEvLyUMf/PIEdXfffbeZmJgwmoMyOTd57nd+FEVGd8wnx+lZ8/cpsNRymY8oiozuWNb0SXa6uhzglltusTcNXX7qqaeMruG1D8xeQmHvYxmBugUI6OpugZLy15u+bgrQtWaak2299dab1GOmAEt3rpaUZZyMgpKjjjrKbLrppkZ3vMYbO/9pmHHjjTfuLIX3U3YP0zrrrGOy010oCJo6dWp8d6TazlZS0KB21ETN9jQn6nHTnXu9gjS9mepaOzudOpZH/TaNOspYJE+1kQJs/f7o9W6noYmwq7gu1c6jzGV9UMmW95RTTjG777676XXNrfLW35ZDDz3U6LwkeNd2+2G/Vu3tWlbPmf261U0k+tuhfWU/dM2ePlRE0dwhZAVn6kXWtZ5581PPs+YaTI5fYoklDD10iQbPPgoQ0PnYKi+WScMSut4tiqL4YuUo6v+snhG94SuYUzDwYhLdpylTphjNbq+pF7obhyzoeys1gW+vh4IUTeqrdPfdd99JX82lwGO55ZYbksOk3bVvkKPeDMrsYYqiyGiuMs2XZVdQvRSrrLKK0RvFRz7yESNn9X4ob7WjPYStculu3qTnQUO2egPWOfoWBk0OqxtE7PSVtr1e9bJef6N+m0bVZcqbvu6GlGX2obuK1fv28pe/3OhbPs4777xUknr96/WiOy9TOzxe0etr1113nVTCE0880ejmhbe97W1GrylZ6HWpD2dq24MOOqj7e67LKXQ9mZ2IPojY6/ayDN/85jd3N+lv26AAsHtgwQVNe6SbPOzTdT3xOeecY28auKz5+TR1S3LQ6quvbvT3OFnnGQHfBObxrUCUp3wB/THWHzJ9Sh4ldQ1Danip10MXRWsG+F7p7bLLLkbDjL32+b5NE5RuuOGGpRdTb6Jqg+ybjDLSNVka8pKzvoNXd7Rqe/JQMKeJlvUmlWxTj4muC9I5msZEbz7JPj2rzXXnsZZdPRTMJQGnqzzLyueyyy4zssw+dFexrpdTD2g2L7WL2mDU36tsOnWsK1DT72k2b12ioTno9JqShV6X2evIdEe55ojM/o6r5049mdk0ta4PkraTrk/T8dpXxUMBpwJQ/R7Y6WsuPfW02tv6Lc+cOTO1Sx+y5ptvvtQ2VuoUIO+sAAFdVqRB6/qjpjdZvdlrWKjqqqmXQj0d6glU3lXnV3b6+uOvnkV7aKjMPBTUnXHGGeb00083vSZ87pWXhsn1Bjtt2rS4l7bXMdltCjT0HZwaHsvuq2pdgZyC4arS9y1dBTX62ixd0+hb2fKUR7+fX/3qV42+pk/Lec7Ra1bn6PWo16V68qIo6p6qIC8b/CU7oygyCiKjaO7xml+yiuvokjz1mtQ1qMm6nnXt3xFHHNHtadS2Xg/1juuyiGSfemKnTp2arPKMgJcCBHReNkuxQuliZw2zKSjRHyP19OiNXX+Ii6U4+CwFDhqO0ZuaPslrXioN5YQ6pYOCX70JDK71eHtloztA9YahNzTZqd3sVDWso6E+vUHq5pZegZluspC9fZ7emPVVW+o9HSUAtNMoshxFkdH1Vbp2qcj5vp5jl0u2un5KvVK6VlG9dprqwz4mtGXVSTf/KMjR/Itrr712avJu1Ud3p+q1eMkll8TX5OqGA31w0z7dMS8TLesxe/ZsozvrtdzrscYaaxhdGpDs0zRB/QLA5Jhxn3Xzka6JtdNRr6um2bG3ZZd1jd9dd93V3axrhDVs3N3AAgIeChDQedQomtxTQxZFHxq603VZmkxTPXL6gz1K9aZPn25GyVvXzGiC0bPPPtvoYnHdVdkvP93lpgAzSV9//O2v6ul33ijbdeeehkmSPPSsSYl7paHt2m8/5N/r2F7bsvVR3bSt17G9tqltVAbZqd3scuhibF2krhtbFAD2Ol9vpnrDsc/TTSm6TkhvnL3OGbRNbaE2SdIbVB85JcfpWcN09nDwoHy0T/XWeclD+Sp/7cvzkLPKl5yvZW3Lc66O6fU6SdLq9yxbvcnrq78U+PRrF6U/ziNrq9/JUdLLnq/fB9V3UBoaDtX1mApUNX2PbaC20WtRNzjpNWuns/jii8d3gdrHa3Jf+xh7WT3g+juRbNOdwhrqTtb7Peu1oXIk+YzS3uoVv/rqq1N/1/R3a9j3Cyvg07CwyhRFkVFQW1XPvfLw9ZH9Xc3zevK1Lm0oFwFdba1MxggggEC7BBQY2T3LuslklDtPXWg98sgj5txzz+1mpWv/dMd5dwMLCHgqQEDnacNQLAQQQKBpApoyxb4xSEO0GlXwqZ4qk3pjkzLpMhL19CXrtTyTKQI5BAjociBxCAIIIIDA+AJRFJmddtrJaPhVqWko+4c//GE8JKr1uh/qLdQQc1IO3fyhu1uTdZ4R8FmAgM7n1qFsCLgRIBcEnAnoJh97yhQNb+pOfGcFGJDRTTfdlLqxQzfB6BrDAaewCwFvBAjovGkKCoIAAgg0XyCKongS7eQ7pXWXrW7+0E0PddZecw1q2iX1GqocG220Ufw1Z1rmgUAIAm4CuhAkKCMCCCCAgBOBpZde2mji3yQzTZxddy+d7vLVxN4qk6YF0jeADLtDWMfyQMAXAQI6X1qCciCAAAItEtBEw8k0Juql04Tk6qWrg0DXzmmS5aR3Tt8osf7669dRFPJEoLAAAV1hOk5EAAEEECgqoHntjjzySKN55pSGvmpMkw1r2fVDk3xfeOGFcbaaiFiTjEfR3G+1iHfwHwKeCxDQed5AFK9sAdJDAAFfBHQdna5b07fOPPvss+bggw826i1zWT5N7H3YYYfFd9rqK76OO+44wzQlLluAvMoSIKArS5J0EEAAAQRGFtDX3+nbGzTcev7555vkq8VGTqjgCfrKuttvvz0O6J588kmjiYQLJsVpTRMIrD4EdIE1GMVFAAEEEEAAAQSyAgR0WRHWEUAAATcC5IIAAgiUJkBAVxolCSGAAAIIIIAAAvUIENDV4+4mV3JBAAEEEEAAgVYIENC1opmpJAIIIIAAAv0F2BO+AAFd+G1IDRBAAAEEEECg5QIEdC1/AVB9BNwIkAsCCCCAQJUCBHRV6pI2AggggAACCCDgQKAxAZ0DK7JAAAEEEEAAAQS8FCCg87JZKBQCCCCAQEUCJItAIwUI6BrZrFQKAQQQQAABBNokQEDXptamrm4EyAUBBBBAAAHHAgR0jsHJDgEEEEAAAQQQkECZDwK6MjVJCwEEEEAAAQQQqEGAgK4G9H5ZHn300SaKokKPl73sZWb55Zc306ZNMxdffLF57rnn+mXDdgQQ8FQg+zdghx12GLOkvU9/5plnzNSpU1N/a84///zeB1e89ZxzzjHzzjtvXJbNN9/c/OMf/0jl+NBDD5nXv/718f4oiswCCyxgbr755tQx46z7/x3UAAAQAElEQVQ88MADZqWVVorTf/WrX21++ctfjpNco87VayKK5r4n6TWj106jKtmgyhDQNaQx//Wvf5l7773XTJ8+3Wy22WZmwQUXNMccc8ykP44NqS7VQACBBgjMnj3b7LvvvuY///mP0YfSvffe28w///xOa7bUUkuZ/fffP87zqaeeMvvtt595+umn43X+QyAkgXlCKixlzS+gAG+fffYxm2yyiXn44YfznzjikRyOAAIIFBHQ36iDDz7Y/PGPf4xP//jHP27WXXfdeNn1fxMTE2aDDTaIs73iiivMN7/5TfPCCy/E6/yHQCgCBHShtFTBcl5zzTVmu+224xNnQT9OQwCBagTOPffceERBqS+yyCJmzz33NC95yUu06vzxyle+Mu6lm2eeOW+Jhx9+OEOv5bcCKVYsMOfVW3EmJF9MYJllljF//vOf40+K+rTY7/HPf/4z7oW77LLLjD7lZnPTJ85vfetb2c2sI4AAArUI6Lo19c7pb5oKsMsuu5iVV15Zi7U9dH3Yhz70oTj/Z5991hxwwAGG68ViDv4LRICALpCGGlTMl770pWbxxRc3733ve82pp55qrrvuOjNlypTUKV/72tfMfffdl9rGCgKNEqAyQQgoiPv2t79t/vCHP8Tlfd3rXmf+53/+J74pId5Q03/6O/qZz3wmvpZPRdAH5BkzZmixtQ/dpKL2Sh4zZ8406s1sLYjnFSeg87yBihRvvfXWM1/84hdTpz744IPm+uuvT21jBQEEEHAtcMcddxh7xOATn/iEWW655VwXo2d+uoZvyy237O476qijzKOPPtpdZwEBnwUI6PK3TlBH6pOVbvW3C33VVVfZqywjgAACTgXU03PSSSeZxx9/PM5XIwlbbbVVvOzDf7qGT1PFRFEUF+d3v/ud0bV+8Qr/IeC5AAGd5w1UtHgLL7ywectb3pI6fdasWebvf/97ahsrCCCAgCsB9c798Ic/7Ga36aabmhVXXLG77sOCeunWWmutblG+/vWvF+il657OAgLOBAjonFG7zWi++eYzunPMzvXf//53fIOFvc1eTj6ZRlEUX8+iSU7t/eMsayJQTQgaRXPSVu+hJgy109QFyLowOYrmHBNFkdHElvYxg5ZHOV/pRtHcfJSvzh+UfrJP0y1svfXWsVEUzUlDdVMdk2OGPSuNSy+9NJ4IWhZRNCedKIrMYostZtRroTLquGFpJfvVXlE0N50oKr48qD7ZfPS6Scow7PmJJ54werOMorllU/3t14IclX8UzT0mioovKy2lmZRN7az2jqK5aco62e/r8/PPP28uv/xy89GPftS85jWv6b7+NCnv2972tnjeSdtxnHroettPf/rTRte3RdEcJ80Tt84665gTTjjBqB2LpH/WWWd1e+eiKDJ67ahXrEhaw86RlSYKjqI55Y+iyGh92KUnCy20kPngBz/YTV69dFdeeWV3vU0L+r2Iorl++r3R70+bDEKq6zwhFZay5hdQ8JbtjdMbJxe05jfsd6QuDNbs9v32D9quN+Uf/ehH8Rul5gicPn26uf/++1OnPPbYY0bpf+ADH4iPu+CCCyYF4qkTAlrRG/qvfvWrgErsR1F//vOfmxVWWMFstNFG5swzzzRPPvlkt2CalPe2224zmndyySWXNHvttVfhCcX1LQ06/w1veEM8F5vusk8y0oeLX/ziF2aPPfaIP3ToOfs3Jjm21/MjjzwSlz3Zp/qsttpqyWqpz/q2hw9/+MNGEwUnCWt498ILLzS6xjjZ1u9ZN5i94hWv6O4+5ZRTCpt2E2EBgYoFCOgqBq4reX2C1idLO/88f8js41meLCBXzSqvN9HJewdv+ctf/mLe9773mW233dYoaBt89Jy9Ok7XQx5yyCFGb6hztob5/913320OPfTQMAtfU6l1zZmG/N797nebe+65J1cpjjvuOKML+0f9tgMFPzpP5w/LSK9/9dSpx0ZTkAw7XvsVDCZ3tmpdvX3qjdZymQ8Fc/qwpPok6SqY04eJvH8DFWyuueaayelG1x/feuut3fVxF7I9X1E0txcsisZbVtrjlo/zwxToE9CFWRlKPVdAt9zbfzw1dLLxxhvPPYClQgJ6UyjSw6Q3Vw3Tapg1m7GGBLfYYguz0047GR3T601OAd1Xv/rV7KkD1zXkPm3atDhdpT3ooSBTQ2oDExxjZxKY5BkS1PWfuvOxX3knJibi4cakOFEUGW3rd7zSUprJ8SE9q6d29913j78aKym3Xh96nai+73nPe4ym20j2Jc8XX3xx3MMm92TbsGf1uOk8+7g11lgjfv1sv/32Rr1/9j4t33TTTfFlA3p9a73fQyMG6pm296sXLIoie9PYy7///e/NNttsY3oFc8ovbwYayXjHO97RPVxzfV5yySXddRYQ8FGAgM7HVhmzTLp2RPMp2cnoephll13W3sTyiAJFe5j0Zvb5z3/eaIJnO8vll1/eKMDTm+GMGTPMd77znXhISsNc5513Xvx9vPbxmkIh2+tq788u66YYzT+odIc91CuzxBJLZJMobf3aa681J554Yq709DpV70+/Mn/hC19Ifd+nvvtT2/odr7SUZq7MPTtIE9yqN0zFUo+R2j8ZulR99buu14+mKUq+5UDH6vGNb3zDzJo1S4u5HupBTg785Cc/GX+7jD68KB9dGqCeuFtuucVkb2K44oorzEEHHWQGBY8q8w033GCSf6961avMW9/61mS1lOfZs2cbfTC69957u+lp2PQHP/hBPEdnd2POhbXXXjt15MyZM5loOCXCim8CBHS+tUiB8ui6LM2VpE/Xm222WXydjf0JVZ/iP/WpT6V6NQpk0+pT9Galoa88PUxZKL0pfu9730tt3nDDDeOvFtI1Ubqo3d6p9YmJCaNe1ilTpnR3aaoHBUUqS3djAAu6LuuYY44x6uUIoLheFlG9cZowvNe3KSig1fVzCurswmvuSV1bZ2/Ls6ybXhQMLrjggqnDoygyq666ajxxuV6/9k5NRfLrX//a3pRaVs+Zfa2ohjT1TTipg8ZYUTCn36Xke2GVlIK5H//4x+b973+/Vkd+vOlNb4pvPklOlOWf/vSnZJVnBLwTIKDzrknmFkh/ADXMEUVRHIxFUe9n3SWmb4pQMKegbm4KxkzrDLn95Cc/Mbpzy94e0LIXRc32ML397W9P9RL1K6SCL03TYAczuuBcAZ7uVOx3nrbrblD17Gk5eagnb5Rel+S8Op81bKgbO5IybLDBBskizzkE3vnOd5pjjz2259BqcnoUzbljNNt7dvvttyeH5HpW4LjnnnvGf2/6naDXrXrtXvva13YPUU/i97///b69dLquTb8LyQm6QUu9dMn6OM8PP/xw/JWHZQZzKs8SnR5r/a5qWQ/1YCow1fK4D10XK48qHkp73PJxfpgCBHRhttvQUquXRz1KJ598stE1WkNP8PSAv/71r7WXLNvDpDeyz33ucwPf9JJCa/jUDma0feeddzbLLrusFoc+dK2Urn9MDlSvi31tZLLd12f1HGuoOCmfhg01VUWyzvNwAfWu5/lApmvrVl999VSCd955Z2p90IpeZ/vuu+/AwDE5/41vfKPR6zhZ17MuKVB7a9l+6JKDbO+dyqkPovZxRZY13LzddtuZa665pnu6rik87bTTCvfMJQkp4FTgmazrOaTfPZW3fY9215iArqHtr2HYXXfd1eii5quvvrrvJ2ffq6/rduou409/+lOj6Q6Schx44IFGwzHJ+qBnfaJXT2tyzJQpU0Z6o1l66aWNLs5WEKnrg5R33mDQ1PxPvQ/f/e53ja77UlF0jdcRRxwxaX5E7ePRW0C9ROqp7b03vTWKIqP56OytCqbUDva2fssTExNmlNeWeoI0rJmkp2tM7V6yZLs+EOkaumRdz9lASdtGfSiY+9CHPpS6NlXB3BlnnBHf5TtqetnjFXBqaNjertdyXk/7PJYRcCFAQOdCucY8dKu9hrg0t5Tv017ozrLsH/pebxAuOdXjcNhhh3UDYvUwaX6rvGX47W9/2z1X5+hC8Gwdtb3fQ28qmndMPX0zZswwutt1pZVW6ne4V9v1rQBf/vKXu2XSm+/UqVO76yEuuC6zesIWXXTRwtmqRzfvXHGaGiWKotx5aTjSvqZPwaOGVrMJaCJa+0ON9mvYVs9FH0pTH1jVK5ikEUWROfXUU0sJ5pI0s3dHj+KZpMEzAq4ECOhcSRfIRxcN641cnwiHPf72t7/Fd7RpqEFBRza7L33pS+bwww9PBRfZY3xYX2WVVVLF0IXg2U/3qQMqXJF5rx6m7B/5QUX4zW9+k9qtNlXgmtrYwBV9eNCds7qRQ9XTFCq6E1I9KFr37aFJnKMoiofRoyj9rMsXlltuOfOxj33MaNoa9Qy5Kr/yjqKo8uzU0zbKBw0VqNeQpIJ47bMf+huWvA60XXlpeFjLRR66HlV34eruVft8/b7qe1f12rO3j7Oc7YnXTRF5A+Rx8uVcBIoIENAVUavsnOIJK0jQH2RdT6IJPHUjhP5w2ikqoNM0B/a2Qcu6ID+Kop5vclEUxfNSaW4nBYv6Qzcorbz71Jtol1vXrBxwwAG1TKqrNye7h0lzcY3Sw6Q3GPVaGOuf7kiMosja0sxFTfGg3pKkdp/97GeN3ZuTbA/hWdOG6EaU008/PZ4nUMPmmhbIxfWd+p3W73bVTvpKLN1YNUo+6j3OXp9bZjDVryz6ndKlDL32n3322UZBXa99ZWxT3no9lJEWaSBQtgABXdmiHqQXRZFRj4PeUHXdUlIk/SFS8KVrWpJt4zxrCg8NeegGAfU8rbvuukZB0Dhp6k1fQz92GpoSQZPD9nsD1fCL7u7dcccdUxdH22mMuqw3pmwPk+o5Sg+TPslriMbOO/uJ397XlGX1YGmYWq831Unz4altoqg5gaxuONLwuS5pUB1Df6gnUI9R65G9xqzX+fp7o161XvvK2Gb/jdOHqP322y8erSgj7ao+gOnbHKIo6vthOYpy7OtzjNIuo+6kEZ7APOEVmRLnFVBQp+uW7OOvv/56c9ddd9mbSlu+8cYbjd68NeeYbsookrD+gKpHTr0g9vkKTtWLoMk+dXedHuod1LU4GvrRlC2acyoJIuxziyw3qYepSP3HOUffCJDcdRhFkVF7jjPENk5Z8p6rOcw0ZUevh+Zx7HUdm3qldZ4ulM+bT9OO04eWYXXS986qZ2vYcaPuVyCnibN/9rOfGS0n52tiYc2lV0ae+pujv0lJ2jwj4LMAAZ3PrTNm2dSbpDsj7WR0rV32AmV7v72sudZ6vcFpm9LVnZf28cmyJjn9yle+kqyO/Ky7+nTtmspvn6xgTRddq8dOD/UO6s3CPqaM5bJ6mOabb75Jd3TWfZPHCD6FDp01a1Y8Z1pysiZ11QeLZN3XZw2ham61Xg9dpqCbY3QdmK7dsuugbbpRRT269vbQlvUBTI9Ry53nLnQFRRqeHTXtQccrgNM3gOgbcBRw//d/mmLergAAEABJREFU/3fqcLXjVVddldpWZEXtrjn2ipzLOQi4FpjHdYbk51YgO9u7cs87LKq7OfWHsddDd1zqYmcNpehGDPu6N+Vx/PHHm/vuu0+LhR5bbrllPCO9vh4rbwIaMtIf+rzH9zuurB4mvYllrzHS8JOGhfrlHfJ21UuBvHpIVA+9JvSVXE3p4dDNMAoi9IFG9UsemtJGdzMn6yE+64PRqDcfqQcs20O31FJLTaq+2r/M7wmOosjo2lYFc1EUGf2e6Xpf+wOmPvxpgmQFZJMKNMIG1XGEwzkUgVoF6gvoaq02mZcloF403YihIVE7mNK1Y5deeulY2ehuXV38rHngNtlkk9QEycpLE6Gqp/Bb3/qW0RxYTzzxhNGs+uNkWnYPU/YaI/WO6pq/Ucqoa2J0Yby+BUCT8upbJnx8o0l6T5O6KfBRb2uy3oRnvd532203Y18SoB4c3bwTcv1Uh1GDH329oH4/7XrrGlh7XcsKuPRhS8tlPBQgrr/++vH1Z0l6mt5FczQm63rWULiGZPVBQ+tlPFQX/e0ZNy3N4adyVfFQ2uOWj/PDFCCgC7Pdcpe6140Evf7o5k6wz4EKuLLBlL7DtM/huTfrDVR/oHTTgwKh5A+ghoc03KOewv/93/816skb901Dn+rL7mFabbXVUnVV76jKndo4ZEXXJqonRLP+K3DWNUNDTnG+Wz2PuotagYEy1xxle+yxR+pNV9ub8NCdp7ohwq7LqG1qn+vLsr7ebpSy6PIBfZBKzlGPrD50JOvJs66f1LBrsq7XiHr3k/U8z3mO0QdLXdNoH6uePH3QsLeNsqzfV/t4TfSd7XW397OMQJ0CBHR16lect3pxsl87pT+6Sy65ZOk5qwdJb3R2wqFdV6SvJ9K1eUkdyuhh0hucehKTNPV9kLr2L1kf9qzr+bLH601LPQXDznW5/6KLLkp9m4Ymsl522WVdFsFZXlEUmXE/PBgP/+l1ptdbnqLpg1X2O4r/67/+y6inLHu+/jboLnh7exUBnfLR3dX6G5fkpeBRr8W89UrOS5410pAs61l/45SPlnkg4JsAAZ1vLVJieXRRsO78tJPs90fXPqbI8nPPPWd0gbh9rnrX7HV/l41R75+GbPQGoHKW1cOkT/TZnktdX6ihXeUz7KE3WbuHQUN9+iqwYedpvybz1Y0ZWq7yoTc92elNXvmovttss40WG/nQ0KR6S+3K9bp2zN4fwrLmr9T1o3nKqtfk97///dSh6iFbaKGFUtu0ogAoG9Dp0gPtK/uhIX7NeWinqzuuTz75ZHtTrmV9IM4GntlLKHIlxEEIOBIgoHME7TqbG264wWy77bZGw4h23tOmTTO9/ujaxxRZ1nQouhvQPlfXwNnrPi/ffPPNqTns9Km+jB4m9aTpmiv7onDdNKB59Yb1Gmg4Sxd7J4GS/DQNjXr9tDzsoaEh5T/suHH3K+jU9UpKR9cXaZqSKl5jSr/uh4b61Yv78MMPd4uiHqG8bdI9ydOFfffd1+h3eVDx9Lr8+Mc/bpIPPzpWPXO6nlXL2UcURUZ3zNvbNX+fPgTa28pYjqLI6I5lTZ9kp6fLAW655RZ709DlXtcIZi+hGJoIBzRPwOMaEdB53DijFE1v+ropQNeaaU629dZbb1KPmQIs3bk6SrrDjlVQctRRR5lNN93U6I7X5HgNM2688cbJalDPZfcwrbPOOiY73YWCoKlTpxrdHam2s4EUNKgdNVGzrlNK9qnHTXfu9QrSNLyta+2SY+t6HvXbNOoq56j5qo0UyOj3R693+3xNhF3Fdal2Hq6WFcTodalpg/SasvPt97qMoij+WkH1RtvH28vqObNft7qJRH877GPKWtY1e/pQEUVRN0nVS73Iutazu3HIgnqeNddgctgSSyxh6KFLNHj2UYCAzsdWebFMGpbQ9W5RFMUXl0dR/2f1jOgNX8GcgoEXk+g+TZkyxWh2e0290N04ZEHfW6kJfHs9FKRoUl+lq0/12T/+CjyWW265ITn4t1uOejMos4cpiiKjuco0X5ZdY/VS6Ltr9UbxkY98xMh5YmIi7kFVO9pD2CqX7uZNeh40ZLv77rvH5+hbGFZaaSUzY8YMO3mjtFMbKl7R62/Ub9OouEi5k9fdkPLPPnRXsXrfXv7ylxt9y8d5552XSlOvf71edOdlakfxlVrO1MTJG264YZy3fpfVg6weXr0eZaLXp9o3+7rUCRri1DRDWu73kOGb3/zm7m79bbM/rHR3lLSg8my11Vap1HQ98TnnnJPaNmjlnnvuMZq3Mzlm9dVXj7/uMFnnGQHfBAjofGuRCsqjP8T6Q6ZPyaMkr2FIDS/1euh6G81d1Su9XXbZxWiYsdc+37dpgtLkja3MsipAVBtk32SUh67J0rWOctZ38OqOVm1PHgrm1GOiN6lkm3pjdV2QztE0JnrzSfbpWW2uO4+17OqhYC4JOF3lWVY+l112mZFl9qG7inW9nIKcbF5qF7XBqL9X2XR8WFdAqm9XWGONNbrFUZ31epSJXp/q5erufHFBNyF88YtfNMOul9UHSdtJ16clw/QvJlXqk8pz0EEHTZrYe++9946nOMqTmb4txj5OwayLa1LtPFlGYBQBArpRtAI7Vn/U9CarN3sNC8XFr/A/vSmop0M9gcq7wqwqSVpBkHoW7aGhMjNSUHfGGWeY008/3fSa8LlXXhomv+2228y0adPiXtpex2S3KdA49thjjcthQAVyCoazZWnquqbJufLKK42uaWxKHXVjxyWXXGI0rDysTqq/LhvYf//9hwZzSiuKIqNeviiKtBo/NL9kFdfRxYl3/tNrUtegdha7Pw899JA54ogjjILV7sYeC+odV/2SXVM6IxxTp05NVnlGwEsBAjovm6VYoTRsomE2BSX6Y6SeHr2x5w0eRs1VgYOuldObmj7BP/bYY2bXXXcNdkoHBb96ExjVYZTjNd2F7gDVG4be0GSndrPT0DC7hvquu+46o5tbegVmuslC9vZ5CqL1VVvqPR0lALTTKLIcRZE59NBDja5dKnJ+COfIVtdPqedZ1yqq126DDTYIoegjlVGXUZx55plGdVQAZs8fpyFY9frqdasJhfUhMYrmBmjDMlLvny4NSI7TNEHZu0iTfWU9a+hY18Ta6anXVdPs2Nuyy7rGz/7Oa10jrGHj7HFNX6d+YQkQ0HnUXvvss4/RxddFHxq603VZmkxTf2z1JjRK9aZPnz5S/rpIWhOqnn322fGnev3B75ef7nJTgJnUbfbs2cb+qp5+542yXdMjaJgkyUPPmpS4Vxrarv32Q/69ju21LVsf1U3beh3ba5vaRmWQndrNLocuxj7llFOMbmxRANjrfE0/ozcc+zzdlKLrhPTG2eucQdvUFmqTJL1B9ZFTcpyedSe1PRw8KB/tU711XvJQvspf+/I85KzyJedrWdvynKtjer1OkrT6PctWb/L66q+11167sg8tWVv9TqrMeR/Z82fOnGlU3+z52qZ9SX3tNoiiyKiO6k3WvInJMZraR9fnqv30+s2mOWxdPeB275/uFNZQ97Dz9NpQ+ZJyjNLe6hW/+uqrU3/X9Hdr2PcLK+DTsLDKFkWR0QesqnrulQcPBMoQIKArQ5E0EECggACntE1AgZHds6ybTEa589SF1yOPPGLOPffcbla69k93nHc3sICApwIEdJ42DMVCAAEEmiaw7LLLGvvGIE1+rlEFn+qpMqk3NimTLiNRT1+yzjMCvgo0OqDzFZ1yIYAAAm0UiKLI6Cv1NPyq+msoW18hpuFUrdf9UG+hLndIyqGbknR3a7Letufsd9nqshqGnv19FRDQ+ds2lAwBBBBonIBu8tHURknFNLypO/GT9Zqe42xvuukmox66eKXzn26C0ZQrncVW/uh6XrviCsSZusUW8WuZgM6v9qA0CCCAQKMFoiiKJ8TW14WpoppKRDd/1N1Lp6lMNO2Seg1Vro022shoYmUtt/GhycsvvPDCVNU1i0JqAyteCRDQedUcFKaxAlQMAQS6AvqaME38m2zQxNl199JpqhZNpKwyaVogfQOI7gbWehseCqw1FY+mq9FDPan33ntvt+oy4eaQLoeXCwR0XjYLhUIAAQSaLaCgIZnGRMGEJiSvq5dO184dc8wx3e+j1jdKrL/++s1ugEztFFBff/31RnOK6iET+5AtttjCFJkSyU6D5XwCRY8ioCsqx3kIIIAAAoUFNJfdkUce2Z2PUl8xpsmGCyc4xomaLDkZXtRExJpkPIryT5o8RtbenKqvYkvm3ssWSoGc5jdVm2X3se6PAAGdP21BSRBAAAEHAv5koevodN2avnXm2WefNQcffLDJ9gxVXVpN7H3YYYfFkw/rK76OO+4408ZpSuS/zDLLpLj1zTm6vlGTM+ur4VI7WfFOgIDOuyahQAgggEB7BPT1d/r2Bg23nn/++UbfCe2y9vrKuttvvz0O6J588kmjiYRd5u9LXvrKSPsbOdQectl+++2dt4kvJqGVg4AutBYLoLwUEQEEEEAAAQTcChDQufUmNwQQQAABBBCYI8D/JQoQ0JWISVIIIIAAAggggEAdAgR0daiTJwIIuBEgFwQQQKAlAgR0LWloqokAAggggAACzRUgoBuvbTkbAQQQQAABBBCoXYCArvYmoAAIIIAAAs0XoIYIVCtAQFetL6kjgAACCCCAAAKVCxDQVU5MBgi4ESAXBBBAAIH2ChDQtbftqTkCCCCAAAIINERghICuITWmGggggAACCCCAQMMECOga1qBUBwEEEKhdgAIggIBzAQI65+RkiAACCCCAAAIIlCtAQFeuJ6m5ESAXBBBAAAEEELAECOgsDBYRQAABBBBAoEkC7akLAV172pqaIoAAAggggEBDBQjoGtqwVAsBBNwIkAsCCCDggwABnQ+tQBkQQAABBBBAAIExBAjoxsBzcyq5IIAAAggggAACgwUI6Ab7sBcBBBBAAIEwBChlqwUI6Frd/FQeAQQQQAABBJogQEDXhFakDgi4ESAXBBBAAAFPBQjoPG0YioUAAggggAACCOQV8Cugy1tqjkMAAQQQQAABBBDoChDQdSlYQAABBBAIRYByIoBAWoCALu3BGgIIIIAAAgggEJwAAV1wTUaB3QiQCwIIIIAAAuEIENCF01aUFAEEEEAAAQR8E/CkPAR0njQExUAAAQQQQAABBIoKENAVleM8BBBAwI0AuSCAAAJDBQjohhJxAAIIIIAAAggg4LcAAZ3f7eOmdOSCAAIIIIAAAkELENAF3XwUHgEEEEAAAXcC5OSvAAGdv21DyRBAAAEEEEAAgVwCBHS5mDgIAQTcCJALAggggEARAQK6ImqcgwACCCCAAAIIeCTQuoDOI3uKggACCCCAAAIIlCJAQFcKI4kggAACCDRMgOogEJQAAV1QzUVhEUAAAQQQQACByQIEdJNN2IKAGwFyQQABBBBAoCQBArqSIEkGAQQQQAABBBCoQiBPmgR0eZQ4Btf8MmMAABAASURBVAEEEEAAAQQQ8FiAgM7jxqFoCCCAgBsBckEAgdAFCOhCb0HKjwACCCCAAAKtFyCga/1LwA0AuSCAAAIIIIBAdQIEdNXZkjICCCCAAAIIjCbA0QUFCOgKwnEaAggggAACCCDgiwABnS8tQTkQQMCNALkggAACDRQgoGtgo1IlBBBAAAEEEGiXAAFd+e1NiggggAACCCCAgFMBAjqn3GSGAAIIIIBAIsAzAuUJENCVZ0lKCCCAAAIIIIBALQIEdLWwkykCbgTIBQEEEECgHQIEdO1oZ2qJAAIIIIAAAg0WGDOga7AMVUMAAQQQQAABBAIRIKALpKEoJgIIIBC0AIVHAIFKBQjoKuUlcQQQQAABBBBAoHoBArrqjcnBjQC5IIAAAggg0FoBArrWNj0VRwABBBBAoI0CzawzAV3Odo2iyEQRjyjCIIowiCIMogiDKMIgijCIonINcr4tc1hGgIAuA8IqAgggMK4A5yOAAAKuBQjoXIuTHwIIIIAAAgggULIAAV3JoG6SIxcEEEAAAQQQQGCuAAHdXIvsUtTZwMMYDDAI8TVgMv9CrANlNvz9MWZMg2acb/g3XICAbrgRRyCAAAIIIIAAAl4LENB53TwUDgHvBSggAggggIAHAgR0HjQCRUAAAQQQQAABBMYR8D+gG6d2nIsAAggggAACCLRAgICuBY1MFRFAAIE2CFBHBNosQEDX5tan7ggggAACCCDQCAECukY0I5VwI0AuCCCAAAII+ClAQOdnu1AqBBBAAAEEEAhVoIZyE9DVgE6WCCCAAAIIIIBAmQIEdGVqkhYCCCDgRoBcEEAAgZQAAV2KgxUEEEAAAQQQQCA8AQK68NrMTYnJBQEEEEAAAQSCESCgC6apKCgCCCCAAAL+CVAiPwQI6PxoB0qBAAIIIIAAAggUFiCgK0zHiQgg4EaAXBBAAAEEhgkQ0A0TYj8CCCCAAAIIIOC5AAGdMcbzNqJ4CCCAAAIIIIDAQAECuoE87EQAAQQQQKArwAIC3goQ0HnbNBQMAQQQQAABBBDIJ0BAl8+JoxBwI0AuCCCAAAIIFBAgoCuAxikIIIAAAggggECdAtm8CeiyIqwjgAACCCCAAAKBCRDQBdZgFBcBBBBwI0AuCCAQkgABXUitRVkRQAABBBBAAIEeAgR0PVDY5EaAXBBAAAEEEECgHAECunIcSQUBBBBAAAEEqhEg1RwCBHQ5kDgEAQQQQAABBBDwWYCAzufWoWwIIOBGgFwQQACBwAUI6AJvQIqPAAIIIIAAAggQ0Ll5DZALAggggAACCCBQmQABXWW0JIwAAggggMCoAhyPQDEBArpibpyFAAIIIIAAAgh4I0BA501TUBAE3AiQCwIIIIBA8wQI6JrXptQIAQQQQAABBFomUEFA1zJBqosAAggggAACCNQsQEBXcwOQPQIIINBaASqOAAKlCRDQlUZJQggggAACCCCAQD0CBHT1uJOrGwFyQQABBBBAoBUCBHStaGYqiQACCCCAAAL9BcLfQ0AXfhtSAwQQQAABBBBouQABXctfAFQfAQTcCJALAgggUKUAAV2VuqSNAAIIIIAAAgg4ECCgc4DsJgtyQQABBBBAAIG2ChDQtbXlqTcCCCCAQDsFqHUjBQjoGtmsVAoBBBBAAAEE2iRAQNem1qauCLgRIBcEEEAAAccCBHSOwckOAQQQQAABBBAoWyDMgK5sBdJDAAEEEEAAAQQCFiCgC7jxKDoCCCCAwGAB9iLQFgECura0NPVEAAEEEEAAgcYKENA1tmmpmBsBckEAAQQQQKB+AQK6+tuAEiCAAAIIIIBA0wUqrh8BXcXAJI8AAggggAACCFQtQEBXtTDpI4AAAm4EyAUBBFosQEDX4san6ggggAACCCDQDAECuma0o5takAsCCCCAAAIIeClAQOdls1AoBBBAAAEEwhWg5O4FCOjcm5MjAggggAACCCBQqgABXamcJIYAAm4EyAUBBBBAwBYgoLM1WEYAAQQQQAABBAIUIKDr02hsRgABBBBAAAEEQhEgoAulpSgnAggggICPApQJAS8ECOi8aAYKgQACCCCAAAIIFBcgoCtux5kIuBEgFwQQQAABBIYIENANAWI3AggggAACCCDgu4ACOt/LSPkQQAABBBBAAAEEBggQ0A3AYRcCCCCAgC3AMgII+CpAQOdry1AuBBBAAAEEEEAgpwABXU4oDnMjQC4IIIAAAgggMLoAAd3oZpyBAAIIIIAAAvUKkHtGgIAuA8IqAggggAACCCAQmgABXWgtRnkRQMCNALkggAACAQkQ0AXUWBQVAQQQQAABBBDoJUBA10vFzTZyQQABBBBAAAEEShEgoCuFkUQQQAABBBCoSoB0ERguQEA33IgjEEAAAQQQQAABrwUI6LxuHgqHgBsBckEAAQQQCFuAgC7s9qP0CCCAAAIIIICAcRTQIY0AAggggAACCCBQlQABXVWypIsAAgggMLoAZyCAQCEBArpCbJyEAAIIIIAAAgj4I0BA509bUBI3AuSCAAIIIIBA4wQI6BrXpFQIAQQQQAABBMYXCCsFArqw2ovSIoAAAggggAACkwQI6CaRsAEBBBBwI0AuCCCAQFkCBHRlSZIOAggggAACCCBQkwABXU3wbrIlFwQQQAABBBBogwABXRtamToigAACCCAwSIB9wQsQ0AXfhFQAAQQQQAABBNouQEDX9lcA9UfAjQC5IIAAAghUKEBAVyEuSSOAAAIIIIAAAi4EmhPQudAiDwQQQAABBBBAwEMBAjoPG4UiIYAAAghUJ0DKCDRRgICuia1KnRBAAAEEEECgVQIEdK1qbirrRoBcEEAAAQQQcCtAQOfWm9wQQAABBBBAAIE5AiX+T0BXIiZJIYAAAggggAACdQgQ0NWhTp4IIICAGwFyQQCBlggQ0LWkoakmAggggAACCDRXgICuuW3rpmbkggACCCCAAAK1CxDQ1d4EFAABBBBAAIHmC1DDagUI6Kr1JXUEEEAAAQQQQKByAQK6yonJAAEE3AiQCwIIINBeAQK69rY9NUcAAQQQQACBhggQ0I3QkByKAAIIIIAAAgj4KEBA52OrUCYEEEAAgZAFKDsCzgUI6JyTkyECCCCAAAIIIFCuAAFduZ6khoAbAXJBAAEEEEDAEiCgszBYRAABBBBAAAEEQhToF9CFWBfKjAACCCCAAAIItFKAgK6VzU6lEUAAgbIESAcBBHwQIKDzoRUoAwIIIIAAAgggMIYAAd0YeJzqRoBcEEAAAQQQQGCwAAHdYB/2IoAAAggggEAYAq0uJQFdq5ufyiOAAAIIIIBAEwQI6JrQitQBAQTcCJALAggg4KkAAZ2nDUOxEEAAAQQQQACBvAIEdHml3BxHLggggAACCCCAwMgCBHQjk3ECAggggAACdQuQPwJpAQK6tAdrCCCAAAIIIIBAcAIEdME1GQVGwI0AuSCAAAIIhCNAQBdOW1FSBBBAAAEEEECgp0CNAV3P8rARAQQQQAABBBBAYEQBAroRwTgcAQQQQMCxANkhgMBQAQK6oUQcgAACCCCAAAII+C1AQOd3+1A6NwLkggACCCCAQNACBHRBNx+FRwABBBBAAAF3Av7mREDnb9tQMgQQQAABBBBAIJcAAV0uJg5CAAEE3AiQCwIIIFBEgICuiBrnIIAAAggggAACHgkQ0HnUGG6KQi4IIIAAAggg0DQBArqmtSj1QQABBBBAoAwB0ghKgIAuqOaisAgggAACCCCAwGQBArrJJmxBAAE3AuSCAAIIIFCSAAFdSZAkgwACCCCAAAII1CXQ7ICuLlXyRQABBBBAAAEEHAoQ0DnEJisEEEAAAT8FKBUCoQsQ0IXegpQfAQQQQAABBFovQEDX+pcAAG4EyAUBBBBAAIHqBAjoqrMlZQQQQAABBBBAYDSBgkcT0BWE4zQEEEAAAQQQQMAXAQI6X1qCciCAAAJuBMgFAQQaKEBA18BGpUoIIIAAAggg0C4BArp2tbeb2pILAggggAACCDgVIKBzyk1mCCCAAAIIIJAI8FyeAAFdeZakhAACCCCAAAII1CJAQFcLO5kigIAbAXJBAAEE2iFAQNeOdqaWCCCAAAIIINBgAQK6MRuX0xFAAAEEEEAAgboFCOjqbgHyRwABBBBogwB1RKBSAQK6SnlJHAEEEEAAAQQQqF6AgK56Y3JAwI0AuSCAAAIItFaAgK61TU/FEUAAAQQQQKApAqMEdE2pM/VAAAEEEEAAAQQaJUBA16jmpDIIIICADwKUAQEEXAsQ0LkWJz8EEEAAAQQQQKBkAQK6kkFJzo0AuSCAAAIIIIDAXAECurkWLCGAAAIIIIBAswRaUxsCutY0NRVFAAEEEEAAgaYKENA1tWWpFwIIuBEgFwQQQMADAQI6DxqBIiCAAAIIIIAAAuMIENCNo+fmXHJBAAEEEEAAAQQGChDQDeRhJwIIIIAAAqEIUM42CxDQtbn1qTsCCCCAAAIINEKAgK4RzUglEHAjQC4IIIAAAn4KEND52S6UCgEEEEAAAQQQyC3gWUCXu9wciAACCCCAAAIIIPCiAAHdixA8IYAAAggEJEBREUAgJUBAl+JgBQEEEEAAAQQQCE+AgC68NqPEbgTIBQEEEEAAgWAECOiCaSoKigACCCCAAAL+CfhRIgI6P9qBUiCAAAIIIIAAAoUFCOgK03EiAggg4EaAXBBAAIFhAgR0w4TYjwACCCCAAAIIeC5AQOd5A7kpHrkggAACCCCAQMgCBHQhtx5lRwABBBBAwKUAeXkrQEDnbdNQMAQQQAABBBBAIJ8AAV0+J45CAAE3AuSCAAIIIFBAgICuABqnIIAAAggggAACPgm0L6DzSZ+yIIAAAggggAACJQgQ0JWASBIIIIAAAs0ToEYIhCRAQBdSa1FWBBBAAAEEEECghwABXQ8UNiHgRoBcEEAAAQQQKEeAgK4cR1JBAAEEEEAAAQSqEciRKgFdDiQOQQABBBBAAAEEfBYgoPO5dSgbAggg4EaAXBBAIHABArrAG5DiI4AAAggggAACBHS8BtwIkAsCCCCAAAIIVCZAQFcZLQkjgAACCCCAwKgCHF9MgICumBtnIYAAAggggAAC3ggQ0HnTFBQEAQTcCJALAggg0DwBArrmtSk1QgABBBBAAIGWCRDQVdDgJIkAAggggAACCLgUIKBzqU1eCCCAAAIIzBVgCYHSBAjoSqMkIQQQQAABBBBAoB4BArp63MkVATcC5IIAAggg0AoBArpWNDOVRAABBBBAAIEmC4wb0DXZhrohgAACCCCAAAJBCBDQBdFMFBIBBBAIXYDyI4BAlQIEdFXqkjYCCCCAAAIIIOBAgIDOATJZuBEgl8YIrNypyaGdx5TOo+4fleGwTiFUps4TPwgggICfAgR0frYLpUKgzQJ3dCq/ducxq/M4uPNYsPNw/aNA7pBOprM7jzU7D5Wp88QPAgg0QKCRVSCga2SzUikEghc4qFPVVYfBAAAQAElEQVSDhToPPSuoOrCz7CKwUx7KU8FkkqeCyk72/CCAAAL+ChDQ+ds2lAyBNgvc2Kn8pZ2HfpLeMgVZX+hsUNDVeSr1R2kqbQWPCuAUTCqDSzr/qSydpxF+OBQBBBBwLEBA5xic7BBAILeAAiv74Fd3VnQ92/2d5/06j1d2HuP+KA31xClNpa3g0U4zWwZ7H8sIIICANwIEdN40xUgF4WAE2iBwQ6eSV3Qe2R/1nh3R2ageu307zwrKOk8j/egcBYXqkdO1ckozm4B6COmdy6qwjgACXgoQ0HnZLBQKAQReFFDv2YuLk54W7mw5svNQYLd35/kVncewnySQ0zkKCl8z4ARdSzdgN7sQCEGAMrZFgICuLS1NPREIU+D6TrGv7DwG/SiwO7pzgIK0vTrPvQI7bduns+++zkOBnM7pLPb9oXeuLw07EEDARwECOh9bhTIhEJCAg6IO6qWzs1+0s3JM56HArvOU+tHQ6lGdLYt0Hnl+6J3Lo8QxCCDgjQABnTdNQUEQQKCPwHWd7b2upets7vmjwC67I28gp/O4s1UKPBBAICiBAAK6oDwpLAIIVCOgKUWqSXlyqtzZOtmELQgg4LkAAZ3nDUTxEEAgFtDdplfFS9X+x7Vz1fpWmzqpI9BiAQK6Fjc+VUcgMAF9v2vVRebauaqFSR8BBCoRIKCrhJVEGypAteoVmNnJ/prOo6ofrp2rSpZ0EUCgcgECusqJyQABBEoUqLIHjWvnSmwokkKg3QLua09A596cHBFAoLiArqPT9XTFU+h95uWdzVWk20mWHwQQQKB6AQK66o3JAQEEyhXYv9zk4tQOiP8P6D+KigACCNgCBHS2BssIIBCCgL45oszeNHrnQmh1yogAAgMFCOgG8rR5J3VHwGuBMnvUykzLazQKhwACzRUgoGtu21IzBJosUFavmr6BoszeviabUzcEeguw1QsBAjovmoFCIIBAAYG83/E6KGmX30AxqBzsQwABBMYSIKAbi4+TEUDAgUC/LC7r7Bind43euQ4gPwgg0AwBArpmtCO1QKCtAuPMS0fvXFtfNdQbgQYKENCpUXkggECoApd2Cl6kl67sO2U7xeAHAQQQqE+AgK4+e3JGAIFyBIp8w0MVc9mVUxtS8VqAwiHgqwABna8tQ7kQQCCvgL6D9Za8B3eOo3eug8APAgg0S4CArlntSW2CF6ACBQX2G+E8eudGwOJQBBAIQ4CALox2opQIIDBY4OLO7jy9dFV9F2wne34QQAABhwKZrAjoMiCsIoBAsAJ5et64szXY5qXgCCAwSICAbpAO+xBAICSBizqFHdRLp9656zvH8JNPgKMQQCAgAQK6gBqLoiKAwFCBQd/LOsp1dkMz4gAEEEDAJwECOp9ao21lob4IlC9wYSfJmzqP7A93tmZFWEcAgUYJENA1qjmpDAIIdAQO6TyyP4N67rLHso4AAp4JUJzhAgR0w404AgEEwhK4oFNcu5eOa+c6IPwggECzBQjomt2+1A6BtgrYd7PmuHaurUzUGwEEmiLgc0D3QgeZhzEYYMBrYPTXgOal6/wJiX9u6PyP4eiGmGHGa2DOa6DzJ8T/H58DOv/1RighhyKAAAIIIIAAAlUJENBVJUu6CCCAAAIIjC7AGQgUEiCgK8TGSQgggAACCCCAgD8CwQR0L7zwguGBAa+BEl4D/C7xt4TXAK8BXgN9XwP+hGijlSSYgG60anE0AggggAACCCDQHoEqArr26FFTBBBAAAEEEEDAAwECOg8agSIggAAC7RSg1gggUJYAAV1ZkqSDAAIIIIAAAgjUJEBAVxM82boRIBcEEEAAAQTaIEBA14ZWpo4IIIAAAgggMEgg+H0EdME3IRVAAAEEEEAAgbYLENC1/RVA/RFAwI0AuSCAAAIVChDQVYhL0ggggAACCCCAgAsBAjoXym7yIBcEEEAAAQQQaKkAAV1LG55qI4AAAgi0VYB6N1GAgK6JrUqdEEAAAQQQQKBVAgR0rWpuKouAGwFyQQABBBBwK0BA59ab3BBAAAEEEEAAgdIFAg3oSncgQQQQQAABBBBAIFgBArpgm46CI4AAAggMFeAABFoiQEDXkoammggggAACCCDQXAECuua2LTVzI0AuCCCAAAII1C5AQFd7E1AABBBAAAEEEGi+QLU1JKCr1pfUEUAAAQQQQACBygUI6ConJgMEEEDAjQC5IIBAewUI6Nrb9tQcAQQQQAABBBoiQEDXkIZ0Uw1yQQABBBBAAAEfBQjofGwVyoQAAggggEDIApTduQABnXNyMkQAAQQQQAABBMoVIKAr15PUEEDAjQC5IIAAAghYAgR0FgaLCCCAAAIIIIBAiAIEdP1aje0IIIAAAggggEAgAgR0gTQUxUQAAQQQ8FOAUiHggwABnQ+tQBkQQAABBBBAAIExBAjoxsDjVATcCJALAggggAACgwUI6Ab7sBcBBBBAAAEEEPBeIA7ovC8lBUQAAQQQQAABBBDoK0BA15eGHQgggAACGQFWEUDAUwECOk8bhmIhgAACCCCAAAJ5BQjo8kpxnBsBckEAAQQQQACBkQUI6EYm4wQEEEAAAQQQqFuA/NMCBHRpD9YQQAABBBBAAIHgBAjogmsyCowAAm4EyAUBBBAIR4CALpy2oqQIIIAAAggggEBPAQK6nixuNpILAggggAACCCBQhgABXRmKpIEAAggggEB1AqSMwFABArqhRByAAAIIIIAAAgj4LUBA53f7UDoE3AiQCwIIIIBA0AIEdEE3H4VHAAEEEEAAAQSMcRXQYY0AAggggAACCCBQkQABXUWwJIsAAgggUESAcxBAoIgAAV0RNc5BAAEEEEAAAQQ8EiCg86gxKIobAXJBAAEEEECgaQIEdE1rUeqDAAIIIIAAAmUIBJUGAV1QzUVhEUAAAQQQQACByQIEdJNN2IIAAgi4ESAXBBBAoCQBArqSIEkGAQQQQAABBBCoS4CAri55N/mSCwIIIIAAAgi0QICArgWNTBURQAABBBAYLMDe0AUI6EJvQcqPAAIIIIAAAq0XIKBr/UsAAATcCJALAggggEB1AgR01dmSMgIIIIAAAggg4ESgQQGdEy8yQQABBBBAAAEEvBMgoPOuSSgQAggggEClAiSOQAMFCOga2KhUCQEEEEAAAQTaJUBA1672prZuBMgFAQQQQAABpwIEdE65yQwBBBBAAAEEEEgEynsmoCvPkpQQQAABBBBAAIFaBAjoamEnUwQQQMCNALkggEA7BAjo2tHO1BIBBBBAAAEEGixAQNfgxnVTNXJBAAEEEEAAgboFCOjqbgHyRwABBBBAoA0C1LFSAQK6SnlJHAEEEEAAAQQQqF6AgK56Y3JAAAE3AuSCAAIItFaAgK61TU/FEUAAAQQQQKApAgR0o7QkxyKAAAIIIIAAAh4KENB52CgUCQEEEEAgbAFKj4BrAQI61+LkhwACCCCAAAIIlCxAQFcyKMkh4EaAXBBAAAEEEJgrQEA314IlBBBAAAEEEEAgSIG+AV2QtaHQCCCAAAIIIIBACwUI6FrY6FQZAQQQKFGApBBAwAMBAjoPGoEiIIAAAggggAAC4wgQ0I2jx7luBMgFAQQQQAABBAYKENAN5GEnAggggAACCIQi0OZyEtC1ufWpOwIIIIAAAgg0QoCArhHNSCUQQMCNALkggAACfgoQ0PnZLpQKAQQQQAABBBDILUBAl5vKzYHkggACCCCAAAIIjCpAQDeqGMcjgAACCCBQvwAlQCAlQECX4mAFAQQQQAABBBAIT4CALrw2o8QIuBEgFwQQQACBYAQI6IJpKgqKAAIIIIAAAgj0FqgzoOtdIrYigAACCCCAAAIIjCRAQDcSFwcjgAACCLgXIEcEEBgmQEA3TIj9CCCAAAIIIICA5wIEdJ43EMVzI0AuCCCAAAIIhCxAQBdy61F2BBBAAAEEEHAp4G1eBHTeNg0FQwABBBBAAAEE8gkQ0OVz4igEEEDAjQC5IIAAAgUECOgKoHEKAggggAACCCDgkwABnU+t4aYs5IIAAggggAACDRNoRUB39NFHmyiKCj1e9rKXmeWXX95MmzbNXHzxxea5555r2EuA6iCAQJkCO+yww9C/NfqbZOd5/vnnp86ZOnWqeeaZZ7qHPPTQQ+b1r3996pgoSv9NW2CBBczNN9/cPWechVmzZsV/96Jobh7zzDOPOfPMM8dJNj73X//6l9l5551TdXn5y19urrnmmnj/qP8pvRtvvNF89rOfNauuuqp55StfmUpb6yuuuKLZfffdzeWXXz7233AZyzqK5tpE0ejL8847r1lqqaXMe9/7XnPQQQeZ3//+9+b5558ftfojHa/XlF5bUTS3vHrt9U+k+J5eeUXR3HyjaM6ynX+vc+z9Kk0ef/2u6HdGx7fp0YqAbpwG1R+Le++910yfPt1sttlmZsEFFzTHHHOM+cc//jFOspyLAAIIeCuw7LLLxn/nFMQlhXzhhRfMrrvuan73u98lm0Z+VhrHH3+8Oemkk1LnHnbYYWb99ddPbRu2ojfs//u//zMLLbSQWXfddY3S/c1vfmP+/ve/p07V+p133mm++tWvmo022sgoGNtxxx3NfffdlzrO9cp//vMf8+CDD5orrrjCHHrooWbllVc2K6ywgrnyyiuNnFyXh/zCFyCgG7ENFeDts88+ZpNNNjEPP/zwiGdzOAII2AIs+yvwgQ98wCjwsUv4+OOPxz1dTz/9tL059/Ivf/lLc8ghh6SOV5D1qU99Ku5VS+3os6IP0/pQrV6YL3/5yyN/uFYg9b3vfc+84Q1vMLvtttukALBPtk4233PPPeY973mPUb0I6pyQNyoTArqCzanhge22284U/cNWMFtOQwCBwATe/va3m5122in1eNvb3jZSLeaff36zzTbbpNLYdtttjS4JGSmhEQ5+6Utfag4//HDzlre8JXWWepS+/e1vj9yLNHv2bPPxj3/cPPvss930FFR95zvfiYdJuxsHLOhD9Oabb270oVofrvsd+trXvtYsvfTS5nWve52xexmzx3/ta18za6yxRjzcmd03yvqrX/3qOD/lmeeh8g1Kf++99zbnnnvuoEOC3KfgPfu7IK9RKrPwwgubT3ziE6nfhYmJidwfCEbJK7RjGx7Q9W6OZZZZxvz5z3+O/yDpU1C/xz//+c+4F+6yyy6L/xBlU9Mftm9961vZzawjgAACXYEPf/jDRkGL/dDlG90DcixMmTLFHHXUUal0jjvuOLPEEkvkOLv4IYsttpg58cQTJwWO6mVTb1velNWrpuHaP/7xj91TFGipp03Du92NAxYUEOp6M/3dzR626KKLGl2XqCFM9cDp7/v9999vHnjggfi6NPUsfv/734+vC8ye+4c//MG8613vMjfddFN2V+716dOnG+WX96HyqZwa9t1zzz2Ngmc7M+3TNX/ab28Pffkzn/lM6jWs3wld9zhKvfR6OeGEE1LpfOELXzD60DNKeFI63wAAEABJREFUOk08tpUBXd6G1C/Z4osvHl+0euqpp5rrrrvOTOn8YbXP1ye8pv3S2fVjGQEEqhdQr5P9wXLmzJm5e62qLp2ubTv44INT2aiXTcOxjz76aGp7rxXVS38nL7jggtRuvblvueWWqW39VjQSovyy1++94hWvMKeddlp8LZp6tZZccsmePTXq1Zk2bZrRtXQXXXSRWWSRRVJZKeDbttPjObvTi5jaUeFKFEVGwYmGV3Xtn3or7ewUnCpQtLc1fVk3sOi1r9dM8tDvRtPrXVb9COhGkFxvvfXMF7/4xdQZ+qW7/vrrU9tYQQABBJoiEEWR0TVuurbLrpOCK/WMDBr61PG6S3HffffVYvehtNTLF0VRd1u/BaW/1157xTcP2MdoqFRl0KUv+vBt7+u3rDtLN910U3PbbbeZd77znanD1HuooFHBY2qHg5WVVlrJnHLKKZN6QjWzQh3lcVBlsqhAgIBuRFR9WtDFuPZpV111lb3KMgK9BNiGQLACupP0yCOPnDRC8d3vftf89Kc/7Vsv9Xh97nOfMxpCTA7SKIfSUprJtkHP6lFTPvYxCsYUKKqHy96ed1lD1TpfgaV9joZzTz75ZHuTs2Xdqav3FztDBZkanrW3sYxAPwECun4yfbar6z57kfCsWbO8ulOqT9HZjAACCBQWWGuttYx65OwEFKhpqFN/A+3tWlbPknq8FJRoXY8oioyuO1ZaWh/2UBoK/pRPcqwCQl1DpaAs2VbkWQGl0skOv2r6kzouo3nJS15i1lxzzVRVNO+phrdTG1lpgUCxKhLQjeg233zzTbr+4t///nd8g0W/pLITjeri3X7Hjro9O8mieg81P5OdTp7JGu3js8ujnK9PvVEUxdexRFFkpk5NT5CaTdte19DK1ltv3T03iqJ4zijV0T5u0LLSuPTSS820adOMLKJobll0gfdWW21lVEYdNygde5/aK4rmphNFxZc1B1a/+mTz0evGLseg5SeeeMLoTTKK5pZN9bdfC8pX+UfR3GOiqPiy0lKaSblGeZ0k59T1rOtzFIR86Utfiq+R1WsjitIW2qaL8NU7JN8qy6rXZBTNzX/qCL83VZYrm7am+dBNHvZ2zdOp6+F040OyXb66E1Y9Xsk2PevuxLzXzen4G264wWRvvvj85z9vVlttNe0e+6EP5+pBtBPSZTQXXnihvak1ywpkP/3pT8d3B0fRnNej7qReZ511jILfqn8PQvob4uOLYh4fC+VzmRS8aaJKu4x649TFnPY2lkcXmDlzpjnnnHNGP7FzhmZY/9GPfhT/IdIcgbqYWHecdXZ1fx577LE4fc2vpekMdJG23ni6BwS8cNZZZ5lf/epXAdfATdHV3ldffbVZffXVzXLLLWf0Zq6gQ6+NbAm0TfsUhKgXR0HLX//61+xhQa4XLbSuVdOdqdkL+PW7pN+5JF0FqNnr5hQ8aRoUpZEcN+hZf2uVptosOU6/t/rQl6yX8azpX974xjemkvrBD35Qy5RUdb2+FIzrOkW16ze/+c14FogERB9+f/GLX5g99tjD6EOOnrPvgcmxPNcrQEA3or8+oehCXPs03Sxhr7M8uoBc999//9S1NnlT+ctf/mLe9773Gf1h1ptwnvN0nK5X0YXZ+oOV5xxfj7n77rvjmeZ9LZ8v5VI7601rgw02MLfeeuvIxfr6179u9Luu68JGPrlBJyy77ORvkVD1DjjggPhbJDRViOaJyw6TajJfBQQ6Ns/jT3/606SvA9O1c6POWzYsL6WXnUbmlltuMXfcccewU0vdr7+BmiLLTlTDyvp6MHtb2ctPPfWUUa+ppsEZlrbaVD11Uzs9yGrnYcez360AAd2I3vqF07xFyWn6xLjxxhsnqzzHAqP/V7SHSdfY6BO7hlmzuWpIcIsttognoNQxvd5MFNDpK4Gy5w5aV2+NhnSzE2T2WleQqSGLQemNs0+9Fwo07KHVfunp+k/1NvUqp7ZNTEzEw93J+VEUGW3Tvl4PpaU0k+N9fpaTro3SEGu2nHqdrL322vHrRPXcfvvte85XpvP0YU5fU6XeI6239aFebl0fZ9dfU3/oGruDDjrI2H8jdYx667LXh2n7oIe+NSF7Q4ACCV1rNui8IvtUnyiKuqdqDtLf/va33fWqF/T61NB+tpdd8+P1+rtVZnnU46a7ae00dQdx8rugqWDsfVrWnH3Tpk2rpRdT+fPoLUBA19ul59bLL7/caNjF3qnrDfSJ1d7G8mgCRXuY9Kaq62k0LGbnuPzyyxsFeAr2ZsyYEU9AeeaZZ8bDCOedd178fbz28ZqwVW/U9rZByxo60rxamhRz2EOfevUpe1B64+y79tpr44lf86Sh16k+Xfcrs96M7ck5taxt/Y5XWkozT951H/PrX/960ldOqWcmeZ3ceOON8etEddUwn16Tev2opylbdl0WkA1Yssc0fV3DpgceeKBZccUVU1XV75t64uyNuuZOk+dG0dyAyd7fb1kBlQKdZL8COf3uJetlPmuoUXOO2mm6mo5Kl4voQ6WCXjt/fRDceeedUx+y7P1lLWuEI0nrk5/8ZBykKbBMfhfUE6cey2xb6++ugne7jZJ0Rnrm4NIECOgGUOoXTRNn6tOLuuT1tSXqnk5O0S3vmp8pikb7Q5Wcz7Mx+mOQt4cp66U/Otk3jw033DC+iFptpTmn7HO0rh4n9bJOmTKlu0s9C5oNX2XpbgxgQde96Hom9SYEUNzaiqh21bcE2HcL6quXrrzyStPrdZIUdMEFF4znndS5yTY962+AJoLVcpsfGgpUIKJvfOjn8KY3vckce+yxk74Jod/x9vbskKd6xnv1FtnnFF3WN01kr6PT0Lou0i+a5qDz9Bq6/fbbje7gXWGFFeLr0zScaZ+jnmDdjGBvq3JZN2V94xvfmPSBN4ois+qqq8YT6+vvq12Gk046yejDkr2N5foEWhnQ6WJ5/WH4/+ydS8wlQxuAuzbYSMTKSsbGwjVYEEMyYyESFm6JuCUzNiSEIEHYIJGxITaEFXEnyIjERCRCZGKDjYRkEsxyxMLCxvL3nF99X52aPud0n9P383yZnlNdXdenuqvfeuut6hDCbPQTQvkvI0JGbQhzCHVpM6Fu/vTTTwuWvqf+uusRyDVMl112WaVPuPCSfuedd4pUmGGUjYB35plnLi0Eq0HR7KWB0Cyw6jH1G7obTRHG6LGc2IZFt7+7BLBNyveKfPLJJ4v8Bb4bY9cVQiiYtmcKate3KHjZp+fb6mYVMAsdyuqPoIeAwKKxsuvL/NC+I/SkYdBYoTVO/Zpyo3FEgE/Tw86WbUNSv0XuOGUbQvm7JIR5f779euGFFxbYDTO1nKd73333FetoNfN0qp4zvboqP/pVtHYMhmK6DJIY8NAfRz9/+yOwlQLdJrjR8qBRYvNJbG82SavPuH2tpkrrnGuY6ChYdRhCSIOVurGtSYUZAjE9sWfPHpwrD2zqsH+MAdmqYEzTaGiOmSqO5cc+qc42JzHeNvwiWNx+++0zwYw2R8BgEU3VuvPyPe+88+aC8wmpOY8tPQkhFAgfbIqbI7jnnnuKa665JveudI4gheY8Dcyq5NNPPz31asxdth0V2jkW0vyXSSc/CKyYc/COQcjsIlOeCaZ7q+THIIh+Ni0XU6/0R6mf7n4IKNDV5M407AMPPFAwYmf7g7GOTLCLqFn1xoOzw3y63xM2OUzRVMnol19+KdC0xrBnnHFGcf3118fTlb/YT+3du7dAiEQDQ95VhcGVibccgHsOA+po94fA8txzz520P2LLxRhN8mgWsAVEC8t9jyYWbe5oKjDwgrJxMM9jXsw333yz6MoOLc97bOdMu2Jve+LEiYL3C4qDruqAGUqdvo/dAfiGbiwf9qbcA/Hc3/4IKNCtyZ5tD5jiYhuErkdxdYvMHnloJdJ4fT+AjOiwEUE4oVxomDCexl3lyA2mL7jggtlGwlXiEobp9LhQghc9q135niLXejlqZIpt0YsvvrgT45Zbbin27du3c65DAl0R4DlGE5dPj5I/5hBocxCiOZ/ygRaXQWLZwbWyuiNEff7558Xff/89WxX86KOPnmS/VhavaT+0qCGsnhWJ+TIYSjXWTI/nmz/HsP52S2ArBbqzzz57tuIRYWLVwcPGiP6tt9466bMsNBXbIGBDQjqcD/W4+OKL54p29OjR4o8//pjz6+oEVmUapjpbYORG6bQpgmtXdegrHwYPjOTjdBSG4qw0qzJd0keZl9kWoYVgGu3OO+8s2LaGVaV9lLEsT+5RpvXZYJaNqvktC7fNftyLaD6jpriMBWYMzz77bEHYsuuL/EIIBYOu9DqzI7RL6teUG6Ek3yyX/NF+V8mDldHMGJQdrCLleWXQmD6nvFf4cg2mI23Va1XZ0bTlg/1VcZj2zuMwyFwVz+vNEViU0lYKdItglPkjJHDz3nXXXQW7ZbMQgocgDYtAx5Ymqd8yNwb5IYSFCzJYsIGxMcIim2suS6vqNbSJabnpaNkItG5HWzW/ZeF4+FMNE/t+1dEw0fnRAad5YHsSQki9JunmaxpMZcXKPfLII0U6Wo7+Y/hlVR8vtXfffbfAppFpc7YF6tK+EzsptNVoaVkxfNttt800vbzIsS26++67Z1vgUNbCvzkCn3zySYEtcerJlkFpP8M1Bm+YV+CuemCfDP80PMIS7ZX6NeXGnjcf4KJtoxxN5MFgFbMONFmkG9NkUQH2nQh7ffTFaA9Z+BfLU+UXQTfn0kfZq5R128Io0NVo8RBCgcaBFyodfoxKZ4/wRacQ/Tb5ZZNYDE1ZIIDmCYNjhKBN0uSlj2o9TYMl52wOu+gFSufJ6l42EP3222/TqGu7efBzDRP1TEeuqxJnJM0ihjRcVdu7NM7Y3GiwmKbmfqPs7MlF24QwHUEWY3CmzzFpoI5NHwwGeJYOHjxYMFhD23DuuecWN910U8Gecx9++OGcbWbT+Y8jvdWlZF8yFkPAM4ZGW4xgzCAj+vHL/frYY48VCO+cVz3os9Kwf/31V8EUb+rXlJtn6/fff59LDoEyF1zmAqxxwvYfH330UcHgJY2OQMfG1ynP9HpbbrTkHHXTx+avbhzDt09AgW4Nxgh12C2lUTH+PXbsWOrVmJtNT3l5o0Fg2mGdhNFgoZHLOxKEU0Zp7JSPvQsH2kEMyXnZsWULLzk65XXyzeNMScOU163tc75VGwXrEEJBe7a9i/ymdWKfN7ZEKDvYx5H9v/I80EoTb9lUXh6nyjm2XDy3PEtvvPFGwcCgSjyemXxLiyrxphoG4Qfb4dxujpkHhHG+PIBNbFr/3377bbYpe51BL1sYhbA7WMH8hb3b0nSbcjNjwRR7ml6ef3ptEzfbJrGSNU+DlaZoPXP/IZ5XfXaGWPYpl0mBbo3WRZvEysg0Kp0NUwKp3yI3HUXZCw4/0mXlZVlcNAgvvfRS2aVKfnQkTH9Q/jQCwhpTAWjsONAOMhpOwzTh5kWAhon8SF/3gNcAABAASURBVI8X6zoaprItBpg2I82pHsePH59t0Brrx4peBhbxfKi/TKGyd1XZgZkCGhfsi9ihPq0Dfmgt0Oim/uu60fhdeeWVBV8KWZZGHNwgsGCwTjl4FlgJuCzetlxDg4SGnT4irTMC+L333jvzYnoRTSuC8Mzjv/+wFXvllVf+O1v9wyIlZijSkKSRm1uk19d1s08hdYvxmVakv4znTf8ytX/gwIG5ZOkXEeq63OMQBQHHXEEqnDA4qhDMIB0TUKBbE3jZiJ2pnCrJsZqz7AWH3+HDh2cLNlghxkKM3B4FtXw+NVAlzxjm5ptvnu34ja1L9Fv1i0o+nWJeFX7R9aY0THS2+VQII/+0Q15UhjH6Uy8EebQclJ97AmN0tK6cj/1AAOAzYgxo0rqwpQ2rmVO/ddwMJB588MECzV8aH+0gU4G8zBHceKFiwI5GHG042mnKlsbZdjcaJL5ukHJgAIqgxhR29EdDh3ASz+Mv9sYMHuP5sl9suzA3ScN88803tadu0/hlbmznqFd6jUE3G/+mfk26GVSzmIkVo2m6DEyffvrp2otI0jTquBmsUP86cRCocw0dXw2pk0aNsAatQUCBrgasLoPywLMQgynRVJjCdozvT25SFjpb9o3CUJkVfKlwRF7YjqApfPXVVwv2GGKn/auvvnqTLGedMJ8AiolsqmHKbTjQjmLzF9Ov8vvZZ5/N7Kj4RiGb8vKVCTqrKnG7DMMLEM1pzBPBp03tQcyny1/ud4SuVKuDwThTYZuW48iRI0Wcqo5poU1CE8Lnjvbt21cguIWwO70Xw/m7SwBeCGkIvtGX/oLpQzacjX78hhAKPouI5o7zeDBNi80sQnb0W/TLwI3nMoTddsG+mBWlDHIWxavrj9Y2v8+wqWz7K0B79uw56fvClJ0+n3sWd9sHzxha8jr50Ia8P9I4ub1jek13dwQU6NZkXbaQoI2bGoErF6b4humaxd6JxguUDSJZ9IAgRAfJgfoddTqaQl56aPLQ0O1EXMPBC6BpDdMll1wyVxK0o5R7znPFCZoYRprs+k8nyhTbiiidX0bziFaDjpfMGdFjoxTC7ksO/ykcrCbHBiutS902TePiRkDHCB13PBjQsBHzTMMZPZf8Yk4RtaNLgk36EvchG96iQUoris0tg7/UL7rR2KG5Q4MX/fhFuGbalv6G82UHq/OvvfbauSCskGeQM+e55gkDVrZVSaMzoGXVderXlhubzhtuuGEuefpLPk1XV9CaS6TGCZ9frBG84B6AW4zDjAGD4njub38EFOjWYM9LAluONCo3NduNpH5NuOkUedGlaTVlV5Sm2ab7xx9/LJrWMNGB0PHGcjNVltv1xGtlv2gI8vBoE9AKlIXvy4+ROlOPMX9suxjZx/Mp/YYQik0HD0X2hzCGZin1vuKKK2YaudRvmZv4bRnjL8t3KNcQvNDC5X0egjGDjWXPDJo7zERCmB+AMG2LDeWqOiJ0s+EumsAYlsEN28nQLtFvnV/6AFbqovVL42P3ec4556RerbmpHwJlqpkmMxYEYe8Me87bPOgHYVElD8qTf0ObqWnauUp8w7RLQIFuDb7Y3LDyM4264KZOg6zl/ueffwrse9LIaNfS8yG70f6x/xKdMOVsSsPEXk655pIXB4sHyGfVQSeWjvLpUPkU2Kp4XGd7BhZm4G7zYHoddnSi5EN92bMK9xQPNBJoS9O6bWqbg8Y53nsx3fw8+pf9Mnjihcs0U9n1bfDjOXnmmWfmqsrzwsIHpqrnLpScYLfL9kjpJbRQ999/f1FFKNu/f3+BJjCNj5aIbZjyqb80zDI3n9hihoJ+IA3HymuEvNSvbTdbmaD9zPPBjpPFPLl/0+fsr4p9c5V0uRdef/31uaCYBrU9PT2XoScLCSjQLURTfuG7774r7rjjjoIOKQ3BiqU2bmq2Q8lHsoyM07yH7P7hhx/m7Jea0jChFcDm6pRTTtmpPtNivDhWjTaZLmCLhSgokQBTH2j9cK86sDkk/1XhNr3Oy4aROumgoWCbkjbuMdLv+0DwQovLizaWBa131TaJcfJfNCD5lB8DsiqCP9OMaGv4ikWeLlr69P7Jr0/lnClv+rZcCMaWrmo/xACUgUnelghlTH0jNC/jxbP2/PPPFwhbaTied76pzcbU3D/ptUVu2uyrr74qsEFl6jcNh5CK5rDrZyyEMNvS5fzzz0+LUzCIOHToUCcLJGhP3jVzBchO6DfRjKb3Apq5RVPuWXRPOyCgQLcCMh0AiwKwNWPVG1sf5BozOjZWrq5IqtZlhBI6seuuu65gxWuMzDRjblMSrw39t2kNE1Nn+XYXCEH79u0rWB1J26VM6PRpR1bO8TKJ19C4Pfzwwyd9aojrvGywtcPd51H3axp9lrVO3rQRLwqeH+73NC4amE3tUhG+r7rqqjTZAkEAo3fsLucu/HdCm2NDitb9tdde+893/gftKfaX877TOoMD2sl8wQBtxfMSwvw06rLao2llFX86ACM8X5rIV5jinx8IWewdiACXXkO44NNxaP5pK/aS455Kw+CmD0cwv/TSS2eCYb7iGWEO0wYEPcJ3fbCfJAO2EOaZYv9Zhc+m5UV4pN9kmpd2T9Nb1G+GEAqm3JktScPr7o/AVgp0rIjE3i2EsPDzWyH8/xqaEV74CHMIA3lT0RFUnXqIcelYmEIoOxBS2NSXdBk15Q8XHWlX9h2xvE38wpEOi465ifRII4QwWyWWj9yZpuDbtWeddVbBfk9wvvHGGwvyph1TgZxysZqXPfFIE83NQw89NJviYY889sLi5c61eJB2dHfxy/3HykA0HZvk10dcbK/gnx+sXkRjc+qppxZ85YOVhmn5uP+5X9Cwpf7ruJkSyrV03CO0OQOkeI/Q3hdddFHBdDoC36+//rqTHZqIEMLOOS+5MsFhJ8AEHB988MGc7StVoq1Yrb7OvYhgzZYcpBMPGDLdGDXR0b/sF6Hwiy++KJjCza/TpzNVSnvyTNO/s4cdB0IkzxALHWj3PC73IdopBuv5tS7P2VeS1f9pnvBh707MEVL/ptxs3cOUNunxrmGGg0EQ/SXPLM8G7PJ+k/B8EaSsLbjm0Q+BrRTomkLNjf7xxx/P1Pd10mQakumlsgN7BvYGKkuPDotpxrJrQ/c7ePBgsX///saLiZBGG9x6660npU0niK0jnPkGb65RoeNnRJp2Sozk0RoQh21M0pc6GdDmrDzG3dWBMIfw0VV+Tebz5ZdfzoQCeKYHq4qxl+MlkudHu9AGTWlLEMYYdJUJIWh04j1Ce//0009z5hTEYY88hBsWKMWyshckWvR4PrVfbKWYbk7rRbswBZgv0krDLHOH8P+tTPIBGAMsBqrY2y6LzzUGu7QX06xle4EShoOFDmjhOMruMcJwIEzS5zJw47zPg8ELGlEGM2k5EHYZGCHcpf5NuMmTrXtSzSe86C95XmGN9i7PCyGTe4HnI7/meX8EGhTo+qtE1zlzE/OS5WXPtFDb+fPQ8UAveim1nf+m6SME0WFjC7NpWmXxEeref//9YlUnn8ZlmpyX94EDB2Za2vTaIjcvNLQTm04DLkq/zB9BDmG47NoU/dgmBxsnbBqbrB9CO8Il6VdNl3uD6VkGUWh60qklplxZvV01rTGFQ1Bl24z8RY6AB8dN6sKzyjOUCy20DVucVBFaWAnN4iCENQQL+sc6ZeI5Zo88hHn61WWCYZ10mwi7aIEEfX+ZdrGJPKPmk6n0Venx/GDW8tRTTxW8B1eF93q3BBToKvBGLc00G0IJNzOaHjqltjoCOhymDnipMUL6888/C0aSdGQViju4IAi/CCZtFgw2dPKM9tkwGXa0W5on0zBM9R09erRgcUuZYMb0DOzTeHRcTIUwkuclH8Lu1Fsarml3CKFgxI59TdNpDyU92LJJNEITtopo7dh7rI3ykS6rIhfdH3z2C+0R2kHuI1bz8bKjLKzmzDXMb7/9dicG6+Tf1YFAxRcM6OfSPOHCStcQNr/32UPy0KFDafIzN+mjGZydVPiP/pcvprA1zffff18ghNJP045pdKYQ8af/5rln54CXX365yKfh0zh9uUNYvECChSUs1GmjbGg+0ULzDDLNmjKEH7MSPDc8PygxQtj8PmijHtue5lYIdI8//nhBR7XuwdQdoyM2tORm5iVU58aJO5tXzR/7HFaXYRDLqIkHalF+fKIGATOmzTYATXdUTDV9/fXXcwxZ8l9WJvxjWeIv/MvClvnl9aFu+JWFLfOjbSgD7Gi3WAZ+0apgWI2tDAJgWXwM4Y8dOzZXVxalsAdXOi1RFrfMj7agTcifY1l94ESYeLCSuo5GhHrHuPySL/mXlavMD86Uj7gcuPErC1vmV3afkM6yA7YY3TOtefnllze+D11ezmX3B3sZsqIcWzoEuDRuCKFAS5LWhcEW6aXh1nXnbcfzBs9101s3XgihYBPwtJ644YJ2bd1083iYj5BuenC/cQ/kYVed8yxzn7Jiln6adkzTZSoXf/pvbJQ3bTPyoqxpHrTfqnJWvc4Ajn0P0/Rx82WbutrIPE/uKe4t0uNI+4gQQgF/ZjtShvDDfpw6bsouL4/nzRLYCoGuWWSmNgICFlECEpCABCSwVQQU6Laqua2sBCQgAQlIQAK7BKbjUqCbTltaEwlIQAISkMBoCWAPyQryWIEQQrHpNHNMaxt+Fei2oZWtowQk0BsBM5aABKoRYGU1NnsxNMJcukAj+vtbTkCBrpyLvhKQgAQkIAEJdESARRps4s6CjJglm8PHlebRz9/FBBToFrMZyRWLKQEJDJlA2Zdhjhw5UqvIaC6eeOKJ2RdM2MGfg+2ATpw4USsdA0ugTwLs+8e9G4+9e/cWfJ2Fcz7LxtYzafnYXDxfcX78+PEifs2HeBx8gqytLV3S8gzdrUA39BayfBKQwKgJlH0Zhm8N16kUL6v33ntv7qsbbKTNti910jHslhPoufpsIM0XKOLBJ9fY4J1ztpZJi8eeoGwAnW9In37Nh3gchw8fnm01lcbfRrcC3Ta2unWWgAQkIAEJDJQAm+u/8MILBd//HWgRB1ksBbpBNouFksAoCVhoCUhAArUInHbaaTvh2USfr/H8/PPPs68jheAXKXbgVHAo0FWAZBAJSEACVQlU+TIMXwWpmh7h+OIHu/pjOL7o4OsFfMWA8B4S6JtA/lWKRfct5gTxGitc+eQenwNcVH7uce71GKfsl2eFZ2ZRGlP1H5dAN9VWsF4SkIAEJCABCUhgAwIKdBvAM6oEJCABCQyTgKWSwLYRUKDbtha3vhKQgAQkIAEJTI6AAt3kmtQKdUPAXCQgAQlIQALDIaBAN5y2sCQSkIAEJCABCUyNQEf1UaDrCLTZSEACEpCABCQggbYIKNC1RdZ0JSABCXRDwFwkIAEJFAp03gQSkIAEJCABCUhg5AQU6EbegJ0U30wkIAEJSEACEhg0AQW6QTePhZOABCQgAQmMh4Al7Y9rck0GAAAJhUlEQVSAAl1/7M1ZAhKQgAQkIAEJNEJAga4RjCYiAQl0Q8BcJCABCUigjIACXRkV/SQgAQlIQAISkMCICCjQZY3lqQQkIAEJSEACEhgbAQW6sbWY5ZWABCQggSEQsAwSGBQBBbpBNYeFkYAEJCABCUhAAvUJKNDVZ2YMCXRDwFwkIAEJSEACFQko0FUEZTAJSEACEpCABCQwRAKUSYEOCh4SkIAEJCABCUhgxAQU6EbceBZdAhKQQDcEzEUCEhg6AQW6obeQ5ZOABCQgAQlIQAIrCCjQrQDk5W4ImIsEJCABCUhAAusTUKBbn50xJSABCUhAAhLoloC5LSCgQLcAjN4SkIAEJCABCUhgLAQU6MbSUpZTAhLohoC5SEACEhghAQW6ETaaRZaABCQgAQlIQAIpAQW6lEY3bnORgAQkIAEJSEACjRJQoGsUp4lJQAISkIAEmiJgOhKoTkCBrjorQ0pAAhKQgAQkIIFBElCgG2SzWCgJdEPAXCQgAQlIYBoEFOim0Y7WQgISkIAEJCCBLSbQskC3xWStugQkIAEJSEACEuiIgAJdR6DNRgISkIAElhDwkgQksBEBBbqN8BlZAhKQgAQkIAEJ9E9Aga7/NrAE3RAwFwlIQAISkMBkCSjQTbZprZgEJCABCUhAAvUJjDOGAt04281SS0ACEpCABCQggR0CCnQ7KHRIQAIS6IaAuUhAAhJomoACXdNETU8CEpCABCQgAQl0TECBrmPg3WRnLhKQgAQkIAEJbBMBBbptam3rKgEJSEACEkgJ6J4MAQW6yTSlFZGABCQgAQlIYFsJKNBta8tbbwl0Q8BcJCABCUigAwIKdB1ANgsJSEACEpCABCTQJoHxC3Rt0jFtCUhAAhKQgAQkMAICCnQjaCSLKAEJSEACmxMwBQlMmYAC3ZRb17pJQAISkIAEJLAVBBTotqKZrWQ3BMxFAhKQgAQk0A8BBbp+uJurBCQgAQlIQALbSqCFeivQtQDVJCUgAQlIQAISkECXBBTouqRtXhKQgAS6IWAuEpDAlhFQoNuyBre6EpCABCQgAQlMj4AC3fTatJsamYsEJCABCUhAAoMhoEA3mKawIBKQgAQkIIHpEbBG3RBQoOuGs7lIQAISkIAEJCCB1ggo0LWG1oQlIIFuCJiLBCQgAQko0HkPSEACEpCABCQggZETUKCr0IAGkYAEJCABCUhAAkMmoEA35NaxbBKQgAQkMCYCllUCvRFQoOsNvRlLQAISkIAEJCCBZggo0DXD0VQk0A0Bc5GABCQgAQmUEFCgK4GilwQkIAEJSEACEhgTgVygG1PZLasEJCABCUhAAhKQwL8EFOj+heA/CUhAAhKoS8DwEpDAkAgo0A2pNSyLBCQgAQlIQAISWIOAAt0a0IzSDQFzkYAEJCABCUigGgEFumqcDCUBCUhAAhKQwDAJWKp/CSjQ/QvBfxKQgAQkIAEJSGDMBBToxtx6ll0CEuiGgLlIQAISGDgBBbqBN5DFk4AEJCABCUhAAqsIKNCtItTNdXORgAQkIAEJSEACaxNQoFsbnRElIAEJSEACXRMwPwmUE1CgK+eirwQkIAEJSEACEhgNAQW60TSVBZVANwTMRQISkIAExkdAgW58bWaJJSABCUhAAhKQwByBHgS6ufw9kYAEJCABCUhAAhLYkIAC3YYAjS4BCUhAAi0RMFkJSKAyAQW6yqgMKAEJSEACEpCABIZJQIFumO1iqbohYC4SkIAEJCCBSRBQoJtEM1oJCUhAAhKQgATaIzD8lBXoht9GllACEpCABCQgAQksJaBAtxSPFyUgAQl0Q8BcJCABCWxCQIFuE3rGlYAEJCABCUhAAgMgoEA3gEbopgjmIgEJSEACEpDAVAko0E21Za2XBCQgAQlIYB0CxhklAQW6UTabhZaABCQgAQlIQAK7BBTodlnokoAEuiFgLhKQgAQk0DABBbqGgZqcBCQgAQlIQAIS6JrANAW6rimanwQkIAEJSEACEuiRgAJdj/DNWgISkIAE+iVg7hKYCgEFuqm0pPWQgAQkIAEJSGBrCYxGoAshFCF4hCCDEMbEwLKGIIMQZBCCDEKQQQjDZzBWiXA0At1YAVtuCUhAAhKQgAQksJLAhgEU6DYEaHQJSEACEpCABCTQNwEFur5bwPwlIAEJdEPAXCQggQkTGLJAF/7l7lEUMpCB94D3gPeA94D3QH/3QDGGvyELdGPgZxlTArolIAEJSEACEuiFgAJdL9jNVAISkIAEJLC9BKx58wQU6JpnaooSkIAEJCABCUigUwIKdJ3iNjMJSKAbAuYiAQlIYLsIKNBtV3tbWwlIQAISkIAEJkhAgW7NRjWaBCQgAQlIQAISGAoBBbqhtITlkIAEJCCBKRKwThLohIACXSeYzUQCEpCABCQgAQm0R0CBrj22piyBbgiYiwQkIAEJbD0BBbqtvwUEIAEJSEACEpDA2AlUEejGXkfLLwEJSEACEpCABCZNQIFu0s1r5SQgAQl0ScC8JCCBvggo0PVF3nwlIAEJSEACEpBAQwQU6BoCaTLdEDAXCUhAAhKQgAROJqBAdzITfSQgAQlIQAISGDeBrSu9At3WNbkVloAEJCABCUhgagQU6KbWotZHAhLohoC5SEACEhgQAQW6ATWGRZGABCQgAQlIQALrEFCgW4daN3HMRQISkIAEJCABCVQioEBXCZOBJCABCUhAAkMlYLkkUBQKdN4FEpCABCQgAQlIYOQEFOhG3oAWXwJdEDAPCUhAAhIYNgEFumG3j6WTgAQkIAEJSEACKwkMRKBbWU4DSEACEpCABCQgAQksIKBAtwCM3hKQgAQkMEACFkkCEigloEBXikVPCUhAAhKQgAQkMB4CCnTjaStL2g0Bc5GABCQgAQmMjoAC3eiazAJLQAISkIAEJNA/gWGVQIFuWO1haSQgAQlIQAISkEBtAgp0tZEZQQISkEA3BMxFAhKQQFUCCnRVSRlOAhKQgAQkIAEJDJSAAt1AG6abYpmLBCQgAQlIQAJTIKBAN4VWtA4SkIAEJCCBNgmY9uAJKNANvoksoAQkIAEJSEACElhOQIFuOR+vSkAC3RAwFwlIQAIS2ICAAt0G8IwqAQlIQAISkIAEhkBgewS6IdC2DBKQgAQkIAEJSKAFAgp0LUA1SQlIQAISGC8BSy6BMRJQoBtjq1lmCUhAAhKQgAQkkBBQoEtg6JRANwTMRQISkIAEJNAsAQW6ZnmamgQkIAEJSEACEmiGQI1U/gcAAP//KxRGWgAAAAZJREFUAwATVtdu+IzemgAAAABJRU5ErkJggg=="/>
          <p:cNvSpPr>
            <a:spLocks noChangeAspect="1" noChangeArrowheads="1"/>
          </p:cNvSpPr>
          <p:nvPr/>
        </p:nvSpPr>
        <p:spPr bwMode="auto">
          <a:xfrm>
            <a:off x="307975" y="-212725"/>
            <a:ext cx="3714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6" descr="data:image/png;base64,iVBORw0KGgoAAAANSUhEUgAAAnQAAAUECAYAAABV7I2AAAAQAElEQVR4AezdCfxtU/3/8bVpIMUtY0KkMtQvQ+aUqzLVX75JisT9/cRPJUO/EDIPmUqaVFQuJTLdQmZu5oooUmS4V2QOJXlU8j/vfe1z197fM+yzz95rr7X36z6+5549ruG5zvd7PmetvdeZx/APAQQQQAABBBBAIGgBArqgm4/CI4AAAq4EyAcBBHwWIKDzuXUoGwIIIIAAAgggkEOAgC4HEoe4ESAXBBBAAAEEECgmQEBXzI2zEEAAAQQQQKAeAXLtIUBA1wOFTQgggAACCCCAQEgCBHQhtRZlRQABNwLkggACCAQmQEAXWINRXAQQQAABBBBAICtAQJcVcbNOLggggAACCCCAQGkCBHSlUZIQAggggAACZQuQHgL5BAjo8jlxFAIIIIAAAggg4K0AAZ23TUPBEHAjQC4IIIAAAuELENCF34bUAAEEEEAAAQRaLuAgoGu5MNVHAAEEEEAAAQQqFiCgqxiY5BFAAAEEcgpwGAIIFBYgoCtMx4kIIIAAAggggIAfAgR0frQDpXAjQC4IIIAAAgg0UoCArpHNSqUQQAABBBBAoLhAeGcS0IXXZpQYAQQQQAABBBBICRDQpThYQQABBNwIkAsCCCBQpgABXZmapIUAAggggAACCNQgQEBXA7qbLMkFAQQQQAABBNoiQEDXlpamnggggAACCPQSYFsjBAjoGtGMVAIBBBBAAAEE2ixAQNfm1qfuCLgRIBcEEEAAgYoFCOgqBiZ5BBBAAAEEEECgaoFmBHRVK5E+AggggAACCCDgsQABnceNQ9EQQAABBMoVIDUEmipAQNfUlqVeCCCAAAIIINAaAQK61jQ1FXUjQC4IIIAAAgi4FyCgc29OjggggAACCCDQdoGS609AVzIoySGAAAIIIIAAAq4FCOhci5MfAggg4EaAXBBAoEUCBHQtamyqigACCCCAAALNFCCga2a7uqkVuSCAAAIIIICAFwIEdF40A4VAAAEEEECguQLUrHoBArrqjckBAQQQQAABBBCoVICArlJeEkcAATcC5IIAAgi0W4CArt3tX2Xtv9NJ/AUeBgODAb8HvAZ4DYz1GtD7SYeQn0ECBHSDdKx9LI4sMDHyGZyAAAIIIIDAZIHzJm9iS1aAgC4rwnoZApt1Elm08+AHAQQQaJsA9S1X4LFOchd1HvwMESCgGwLE7kIC9M4VYuMkBBBAAIGMAL1zGZB+qwR0/WTYPo7AB+2Tf/azn5kXXniBR1kGpMNridcAr4GGvgYWWWQR++1DyzP0H4/hAgR0w404YjSB1HDroosuajbbTJtGS4SjEUAAAQTaJXDRRReZxx9/3K40w622xpDlXgHdkFPYjcBAgdRw68TExMCD2YkAAggggIAEzjtv0ujqpA06jkdvAQK63i5sLS6QGm794AdTq8VT5UwEEPBQgCIhUJ5Aj4CO4dYReAnoRsDi0KECGlvt3t3KcOtQLw5AAAEEEOgIMNzaQRjzh4BuTEBOTwmkxlfLGG5Npc4KAggggEAjBXr0zjHcOmJLE9CNCMbhAwVS46sMtw60YicCCCCAwIsCPQK6UYdbX0ypvU8EdO1t+7JrznBr2aKkhwACCLRAgOHWchqZgK4cR1IxhuFWw79GC1A5BBCoRKBH7xzDrQWkCegKoHFKTwGGW3uysBEBBBBAYJDAjBkzsrsnbcgewPpkAQK6ySZ1bQk5X4ZbQ249yo4AAgjUJKDh1sce0/zB3QJohe9u7XLkXyCgy2/Fkf0FGG7tb8MeBBBAoGSB5iTHcGt5bUlAV55lm1NiuLXNrU/dEUAAgYICDLcWhOtxGgFdDxQ2jSTAcOtIXGEcTCkRQACBqgUYbi1XmICuXM82psZwaxtbnTojgAACYwow3DomYOb0mgK6TClYDVmA4daQW4+yI4AAAjUJMNxaLjwBXbmebUuN4da2tTj1RcC1APk1UoDh1vKblYCufNM2pchwa5tam7oigAACJQkw3FoSpJUMAZ2FweLIAk0Ybh250pyAAAIIIDCeAMOt4/n1OpuArpcK2/IIMNyaR4ljEEAAAQRSAuEOt6aq4d0KAZ13TRJMgRhuDaapKCgCCCDgjwDDrdW0BQFdNa5tSJXh1ja0MnV0KkBmCLRBgOHWalqZgK4a16anynBr01uY+iGAAAIVCDDcWgHqi0kS0L0I0Y6n0mrJcGtplCSEAAIItEeA4dbq2pqArjrbJqfMcGuTW5e6IYAAAhUJMNxaEWwnWQK6DgI/Iwkw3DoSFwcjgAACCEiA4VYpVPcgoKvOtqkpM9za1JZ1Wy9yQwCBlgkw3FptgxPQVevbxNQZbm1iq1InBBBAoGIBhlurBW5uQFetW1tTZ7i1rS1PvRFAAIExBBhuHQMv56kEdDmhOCwWYLg1ZuA/BBBokgB1qV6A4dbqjQnoqjduUg4MtzapNakLAggg4EiA4dbqoQnoqjduSg4MtxZuSU5EAAEE2ivAcKubtiegc+PchFwYbm1CK1IHBBBAwLEAw60jgI9xKAHdGHgtO5Xh1pY1ONVFAAEEyhBguLUMxeFpENANN+IIYxhu5VWAQDMEqAUCTgUYbnXHTUDnzjrknBhuDbn1KDsCCCBQkwDDre7gCejcWYecU/7h1pBrSdkRQAABBEoVYLi1VM6BiRHQDeRhZ0eA4dYOAj8IIIAAAqMJDBtuHS01jh4mQEA3TIj9DLfyGkAAAQQQGFmA4daRycY6gYBuLL5WnMxwayuauYmVpE4IIFCnAMOtbvUJ6Nx6h5Ybw62htRjlRQABBDwQYLjVfSMQ0I1h3oJTGW5tQSNTRQQQQKBsAYZbyxYdnh4B3XCjNh/BcGubW5+6I4BAWQKtS4fhVvdNTkDn3jyUHBluDaWlKCcCCCDgkQDDrfU0BgFdPe4h5MpwawitlJSRZwQQQMATAYZb62kIArp63EPIleHWEFqJMiKAAAKeCTDcWk+D5A3o6ikdudYlwHBrXfLkiwACCAQswHBrfY1HQFefvc85M9zqc+tQNgS8FqBwbRZguLW+1iegq8/e55wZbvW5dSgbAggg4KkAw631NQwBXX32vubs/XCrr3CUCwEEEGizAMOt9bY+AV29/j7mznCrj61CmRBAAAHPBTwcbvVcrNziEdCV69mE1BhubUIrUgcEEEDAsQDDrY7BM9kR0GVAWr7KcGvLXwBUf0QBDkcAgViA4daYodb/COhq5fcuc4ZbvWsSCoQAAgj4L8Bwa/1tREBXfxsMKoHrfQy3uhYnPwQQQKABAgy31t+IBHT1t4EvJWC41ZeWoBwIIIDAyAL1ncBwa332ds4EdLZGu5cZbm13+1N7BBBAoJAAw62F2Eo/iYCudNJgE2S4Ndimc1NwckEAAQR6CTDc2kvF/TYCOvfmPubIcKuPrUKZEEAAAc8FGG71p4E8Cuj8QWlhSRhubWGjU2UEEEBgXAGGW8cVLO98ArryLENOieHWkFuPsiPQNgHq640Aw63eNIUhoPOnLeoqCcOtdcmTLwIIIBCwAMOtfjUeAZ1f7VFHaRhunazOFgQQQACBIQIMtw4BcrybgM4xuIfZMdzqYaNQJAQQQMB3AYZb1UL+PAjo/GmLOkrCcGsd6uSJAAIIBC7AcKt/DUhA51+buCwRw60utckLgQICnIKAjwIMt/rXKgR0/rWJyxIx3OpSm7wQQACBhggw3OpfQxLQ+dcmrkr04nDrnOwWXXRRs9lm2jRnnf8RQAABBBDoJcBway+V+rcR0NXfBnWVgOHWuuTJFwEEEAhR4MUyM9z6IoRnTwR0njWIw+Iw3OoQm6wQQACBpggw3OpnSxLQ+dkuVZdKY6uLJpkw3JpI8FyzANkjgIDnAgy3+ttABHT+tk2VJWO4tUpd0kYAAQQaKsBwq78N266Azt92cF0yhltdi5MfAggg0AABhlv9bUQCOn/bpqqSMdxalSzpIoBAYwSoyGQBhlsnm/i0hYDOp9ZwUxaGW904kwsCCCDQKAGGW/1uTgI6v9unitIx3FqF6shpcgICCCAQlgDDrX63FwGd3+1TdukYbi1blPQQQACBFggw3FpjI+fMmoAuJ1RDDmO4tSENSTUQQAABlwIMt7rULpYXAV0xt1DPYrg11Jaj3AhUJ0DKCAwVYLh1KFHtBxDQ1d4EzgrAcKszajJCAAEEmiPAcGsYbUlAF0Y7lVHK+oZbyyg9aSCAAAII1CLAcGst7CNnSkA3MlmwJzDcGmzTUXAEEECgPgGXw6311TL8nAnowm/DPDVguDWPEscggAACCKQEGG5NcXi9QkDndfOUVjiGW0ujJKGwBSg9AgiMIsBw6yha9R5LQFevv6vcGW51JU0+CCCAQIMEGG4NpzEJ6EpuKw+TY7jVw0ahSAgggIDvAgy3+t5C6fIR0KU9mrjGcGsTW5U6IYBA6ALel5/hVu+bKFVAAroURyNXGG5tZLNSKQQQQKBaAYZbq/UtO3UCurJF/UqP4Va/2sNtacgNAQQQKCjAcGtBuBpPI6CrEd9B1gy3OkAmCwQQQKBpAgy3htei4wR04dW2fSVmuLV9bU6NEUAAgbEFGG4dm9B5AgR0zsmdZchwqzNqMkIAgcEC7A1JgOHWkFprblkJ6OZaNG2J4damtSj1QQABBBwIMNzqALmCLAjoKkD1JMlWDbd6Yk4xEEAAgeAFGG4NswkJ6MJst2GlZrh1mBD7EUAAAQQmCbRguHVSnZuygYCuKS2ZrgfDrWkP1hBAAAEEcggw3JoDydNDCOg8bZgxi8Vw65iAnI5AYQFORCBgAYZbw208Arpw265fyRlu7SfDdgQQQACBvgIMt/alCWIHAV0QzZQq5LAVhluHCbEfAQQQQGCSAMOtk0iC2kBAF1Rz5Sosw625mMI+6JlnnjFTp041URR1HzvssMPIlbrzzjvNLrvsYhZffPFuOlEUxWkrj5ET5ARnAueffz5t5kw71IxGKzfDraN5+XY0AZ1vLTJeeRhuHc+vNWf/4x//MHvttZdZccUVzbe//W3z6KOPtqbuVBQBBCYLMNw62SS0LQR0obXY4PIy3DrYh70dgaefftpsv/325rjjjuusjffD2Qgg0AwBhlvDb0cCuvDb0K4Bw622BsuTBF544YW4R+7ss8+etO+lL32pWXrppePHEkssEQ/nTTqIDQgg0EgBhlvDb1bPA7rwgR3WgOFWh9ihZnXPPfeYr3zlK6niK4i79NJLjYZh77//fqPHGWecYRZYYIHUcawggEAzBRhubUa7EtA1ox1VC4ZbpcCjr4B6577+9a+bhx56qHvMK17xCnPWWWeZjTbayMw777zd7SwgEJwABS4swHBrYTqvTiSg86o5xioMw61j8TX/5FmzZpnsUOtOO+1k1lprreZXnhoigEBfAYZb+9IEtYOALqjm6ltYhlv70pS2I/iEfvzjH5sHH3ywW49FFlnEKKCLoqi7jQUEEGiXAMOtzWlvArpmtCXDrc1ox8pq8cgjj5hTTjklenJPhgAAEABJREFUlf5HPvIRs/LKK6e2sYIAAu0SYLi1ivauJ00Cunrcy86V4dayRRuW3lVXXWX+8Ic/dGv1spe9zHzsYx8b+U7Wo48+Oj4niqKxn3XTxc0339wtk72QzUeTKOed6Pj55583119/vfnoRz9qFltssVQ5X/Oa15hNN900vm7w73//u53lpGVda/j617++e/6g8k46ubNh3PM7SZT+869//cscfPDB3TpF0Zx2fPe7323+8pe/lJ4fCfovwHCr/22Ut4QEdHml/D2O4VZ/28aLkmneua985Supsmy44YZm1VVXTW1rwsrPf/5zs8IKK5h3vOMd5swzzzSPPfZYqlpPPvmkueSSS8zWW29tllxyyfgY3SySOiiAlSJFVD2PP/54c8ghh6RO12tB11Yq2E3tYKXxAgy3NquJCejCb88JuwoTExP2KssIGH1F1C9+8YuUxLRp08z888+f2hbyioIV3cGrniZNzZKnLn/961/jXjwFOOq5ynNOqMfI59hjjzX77LNPqgrvfOc7zemnn24I5lIsrVlhuLVZTU1AF357VjDcGj4KNZgj8MADD5gjjjhizsqL/7/lLW8xCnxeXB3rSTdWKDjUzRXDHttuu63RUO9YGfY5+dxzzzW77767+c9//pM6QpMlb7HFFvHNH/p2DA2hpg7orCigU8+Vgp7OauN+VK/p06ebfffdN1U3BXO6UUaTSKd2sNIaAYZbm9XUBHRhtyfDrWG3X6WlV6/ToYceauxr55Th5z//+fjaMi2P+1Bw+LWvfc185zvfGfrQV41VETz87ne/M7vssksqmNP8eqeddprRdXJ601L5FNTMmjXL6PjscPMBBxxgrr322nE5vDxfwe6OO+6Y8lljjTXinrkq2sNLBAo1SaC04dZJKbOhLgECurrky8l3wk6G4VZbo73LTz31lPnJT34Szy930kknpSDUi6a7W1MbA17597//bdS79vjjj3drMWXKFHPZZZeZ7bbbzqiHrrvjxQXd2XvFFVeY9ddf/8Utxvzzn/80Cury3njRPdHzhXPOOSe+XtDuuVQwp6G2pZZayvPSU7wqBfQayKR/Xmad1cAECOgCa7BMcRluzYC0efXUU0+N71589atfbRTc33rrrSmOPffc05xwwgk9g5zUgX6tDCzNH//4R5N9Y1IP5HrrrTfwPF0zduSRR6aGgH/+85+bCy64YOB5Ie28/PLLzSc+8YlJPXPyIpgLqSWrKat6rjMpz8issxqYAAFdYA1mFZfhVguDxf4Cq6yyirnuuuvMl770pUbdCKEaX3311anpNlZccUUzbdo07Rr6UE+V7vC0D1TPpnr97G3Jsnrx9H23ybrPz7/85S/Nhz/8YaPe2qScGh7X3awEc4lIe58Zbm1m2xPQhduuE3bRJyYm7FWWEegK/OY3vzG6IUDBT3djAxYUeGlo1a7Ke97zntzXB+ou3w9+MNXJbRQIPfHEE3aS3WXlp2lPuhs8XVAdNtlkE5MN5i688ELT66YQT6tBsSoUUC9tJnmGWzMgIa4S0IXYanPKnHonyr4xzTmE/9sksNVWW5nbbrstHlZdfvnlU1XXVB66s1VTe+iux9TOQFf+9re/mdmzZ6dKv+6668bDzqmNA1bUa/WSl7yke8TDDz9sdGewNrzqVa8yyy23nBa7Dw3xdlc8XLjjjjvMNttskwrmlllmGfPTn/6UYK6E9mpKEgy3NqUl0/UgoEt7hLLGcGsoLeWwnLqz861vfavZbbfdzJ133mn0bQt29row/jOf+YzRfGRNCOrUW5YEX6qnArNRe6AWXnhhs+CCC+r0+PHss8+aRx99NF5+5Stfad74xjfGy8l/l156qfF12PWuu+4ym2++ubn33nuT4sbP999/f/zNGfEK/7VegOHW5r4E5mlu1Rpds9T46sTERKMr257KlVfTeeed1+y1116TgjrloPnINJWFlkN56IYF9ZhF0ZyvqoqiyKgXUj1qSR00x52GUZP1PM9TpkwxCtzsYzW0mqx/4AMfSBbjZ33LhKZp8TEg1leNJcFoXFjrv4MOOshoyhZrE4stFWC4tbkNT0AXZtsy3BpmuzktdRRFRne2aqoSO2P11Cmoyw5X2sewPEdgnXXWMRqWnbM2539928Jhhx3Wt6dO1+CdddZZ8XWL6h2bc5bb/+eZJ/2nXb12hxxyiNHchG5LQm6+CTDc6luLFCxPj9PSv/U9DmCTdwIMt3rXJP4WSPOw7b///uZNb3pTqpC6Fuzggw/mDT6lMnllscUWi7/7NBsgqcdroYUWMu9973vNzjvvHD8U/Km3T9+esfXWWxtNGzI5xeq3LL300uZXv/pV/M0Zdm6a1kbDbfY2ltsloPZ/7LHH7Epr5SJ7A8vhChDQhdd2qfHViYmJ8GpAiZ0K6Loy9ShFUZTKV2/wM2fOTG3zdUVB0rRp0+Kv8FKPox567UdRuk5VlH/LLbc0xxxzzKSk1dulCYo1ebMe+r5cfTPFpAMdblAwpxsgVl99dfN///d/qWsA1TO73377da8RHFIsdjdQgOHWBjaqVSUCOgsjkEWGWwNpKJ+KqaBEd8HaZdIbvHrvNERob/dxWcOeunZNX+GVPL75zW8aBTBJee0bGpJtw551g4Pml0uOi6Jo0lx9URSZz372s+b8889P3UCRnNPvWdf09dtXxfbXvva1RsNpq666apy8bNSTGK+8+J++9kwTKvt4DeCLReSpQgG9PjLJM5lwBiTkVQK6sFqvOcOtYbkHX1oNverNXT1ddmU0NHfKKafYm4JZnm+++SbNOTfqNWt//vOfjf21YRoyXXTRRScZRFFk/t//+39Gx5922mlm7bXXTn3jhnzf8IY3mG233dZo/4MPPhjfbaopQyYlVtGGN7/5zUYPO/kPfehDcbntbSeeeKK59tpr7U0st0CA4dbmNzIBXVhtPGEXV0NO9jrLCAwS0HeYqqcpe4y+QeLuu+/ObvZ+XXeoZgOYG2+80YzS+6QeK/uuVvVqve51r+tb9wUWWCD+jljlo5495aWHljXX3w9/+MN4/5JLLmmy1931TbTCHbrr99BDDzWySrJRWdUz+/TTTyebeG6BQMjDrS1onlKqSEBXCqOzRBhudUbdvIyiKDI77rjjpLs2Nd3FUUcdZezAJoTaR1Fk3vWud6WKqm+OmDVrVmpbvxUNt2bf5NZaay2juen6nRPidg3B7r333qmiX3PNNUZD1gpGUztYaawAw62NbdpuxQjouhTeLzDc6n0T+V9A3bV5wAEHTPo2he9///vmqquuGrkCGsLV0OfIJ5Z0ggI6fdF+kpyGOs8444xcvXQadlQAaExytjH6yqwoqv5Gi7k5Vr8URVF8F+6aa66Zykw3etx6662pbaw0U4Dh1ma2a7ZWBHRZEX/XGW71t22CKpkmy33/+9+fKrNukNCdsKMOw2kIUt/QkErM4cqKK64Yf9WVnaUClRtuuMHeNGlZQ8yf/vSnjeqd7FTAs9FGGyWrjXpWr+MRRxyRGgZ+6qmnjObUe+aZZxpVVyozWSDbE905gu9u7SA07YeAzkGLlpQFw60lQbY9GV1XdfDBBxt9VZhtoWG4H/3oR/am1LKm6dC1Y6mNNa9EUWT22GMPozs8k6IoUFFgdvrpp5vnn38+2Rw/a/3iiy826667rtFcfPHGzn+63k3BjQKfzmojf6ZOnRpPdmxXTj2UP/jBD+xNLDdQgOHWBjZqjyoR0PVA8XATw60eNkrIRdI8Zb1ukNAF9Oq9Ut10Ldruu+8eD9fp2ruVVlopnhZD+5LHKquskizW9qzvW9WUJgrKkkJoCpOPfexjRpP/6uYhTf6rZ61vttlmqTtbdY7qp55LLTf1oTtxdTOEHfyqrnaba51HrQKlZ85wa+mk3iZIQOdt06QKxnBrioOVcQWiaM51VQqG7LR0g4TuetUNEpqf7uSTTzaaNPd73/ue0V2c9rG6fk7XnNnb6lrWPHsnnHBCakhRZdFEvz/5yU/iOuhZ69puP3bZZRfzjW98IzUNib2/Sctq7wMPPDBVJbW5JhxWD2xqByuNEGC4tRHNmKsSBHS5mGo/iOHW2pugIQWwqqEpOjQ3nbUpXlTwNuwaNPWGHXvssUZTocQn1fxfFEVm1113NVdeeaVZfvnlc5VmwQUXNLqBQnd7qvcq10kNOGi77bYzGpK2q3L22Webc889197EckMEGG5tSEPmqAYBXQ6kmg9huLXmBmhy9hqGzL65a54y3QmrXrrsnGwKfHRDhb7matq0aZPulq3baoMNNjB33nmnue6668wOO+xgNB+cXSZNGqzJdvX1WJpQ+CMf+Yh3dbDLW8WyJk/WDTD2NZSavkTXVT7wwANVZEmaNQkw3FoTfE3Zlh3Q1VSNRmc7YddOb8D2OsvtFNCb8syZM+PpOfRmrMf06dNHxlA6l156aSodpaW09W0Id911V2qfgr0LLrjArLHGGiPnpWu3Zs+e3U1Pw59vf/vbe6ajGxRUjuSh8qisPQ/ObJx33nnNeuutZ0455RSjaUySNPT86KOPGvVGbb755pUPsY5S30wVcq2qDqpT8pjZeT3kNVLbyj85V8+///3vzVJLLZUrbw4KQ4Dh1jDaqaxSEtCVJVldOgy3VmdLygggUJsAGVctwHBr1cJ+pU9A51d7ZEvDcGtWhHUEEEAAgaECDLcOJWrcAQR0fjfphF08hlttjeHLHIEAAgi0VYDh1va1PAGd323OcKvf7UPpEEAAAS8FGG4dqVkacTABnb/NyHCrv21DyRBAAAFvBRhu9bZpKi0YAV2lvGMlznDrWHycjIBHAhQFAYcCDLc6xPYoKwI6jxojUxSGWzMgrCKAAAIIDBdguHW4UROPIKDzs1VHHW71sxaUCgEEEEDAqQDDrU65vcqMgM6r5ugWhuHWLgULCCCAAAJ5BYYPt+ZNieNCEyCg87PFGG71s10oFQIIIOC1AMOtXjdPpYUjoKuUt1DiDLcWYuMkXwQoBwII1CPAcGs97r7kSkDnS0vMLQfDrXMtWEIAAQQQyCnAcGtOqIYeFmBA19CWmFsthlvnWrCEAAIIIJBTgOHWnFANPYyAzq+GZbjVr/agNAggELJAi8rOcGuLGrtPVQno+sDUtJnh1prgyRYBBBAIWYDh1pBbr5yyE9CV41hWKgy3liXpJh1yQQABBLwQYLjVi2aotRAEdLXypzJnuDXFwQoCCCCAQB4BhlvzKNV9TPX5E9BVb5w3B4Zb80pxHAIIIIBAV4Dh1i5FqxcI6PxpfoZb/WkLSoJAcAIUuL0CDLe2t+3tmhPQ2Rr1LTPcWp89OSOAAALBCjDcGmzTlV5wArrSSQslGMBwa6F6cRICCCCAQIUCDLdWiBtY0gR0fjQYw61+tAOlQAABBIIS8HK4NSjB5hSWgK7+tmS4tf42oAQIIIBAcAIMtwbXZJUWmICuUt5ciTPcmouJgxDoCrCAAAIdAYZbOwj8dBKqk5IAABAASURBVAUI6LoUtS0w3FobPRkjgAAC4Qow3Bpu21VRcgK6XqrutjHc6s6anBBAAIHGCDDc2pimLK0iBHSlURZKiOHWQmychAACCPghUFcpGG6tS97ffAno6m0bhlvr9Sd3BBBAIEgBhluDbLZKC01AVynvwMQZbh3Iw845AvyPAAIIpAUYbk17sDZHgIBujkMd/zPcWoc6eSKAAAKBCzDcGngDVlT8eSpKl2SHCzDcOtyIIxBAAAEEMgIMt2ZAWI0F6KGLGZz/x3Crc3IyRACBMQU43QMBhls9aARPi0BAV0/DMNxajzu5IoAAAkELMNwadPNVWngCukp5+ybOcGsvGrYhgAACCAwUYLh1IE+rdxLQuW9+hlvdm5MjAgggELwAw61zm5ClyQIEdJNNqt7CcGvVwqSPAAIINFCA4dYGNmqJVSKgKxEzZ1IMt+aE4jAE6hMgZwT8E2C41b828alEBHRuW4PhVrfe5IYAAgg0QoDh1kY0Y6WVIKCrlHdS4t3hVu2ZmJjQEw8EEEAAAQQGCjDcOpCHnR0BAroOgsMfhlsdYpMVAggg0ACBuAoMt8YM/DdAgIBuAE7JuxhuLRmU5BBAAIE2CDDc2oZWHr+OBHTjG+ZNITW+ynBrXjaOq1yADBBAwGsBhlu9bh5vCkdA564pGG51Z01OCCCAQGMEGG5tTFNWWhEXAV2lFQgkcYZbA2koiokAAgj4JMBwq0+t4XdZCOjctA/DrW6cyQUBBIIWoPBZAYZbsyKs9xMgoOsnU+52hlvL9SQ1BBBAoBUCDLe2oplLqSQBXSmMAxNhuHUgj9ud5IYAAgiEIsBwaygt5Uc5CeiqbweGW6s3JgcEEECgcQIMt9bapMFlTkBXfZMx3Fq9MTkggAACjRNguLVxTVpphQjoKuU1DLdW60vqCIQrQMkRGCDAcOsAHHb1FCCg68lS2kaGW0ujJCEEEECgPQIMt7anrcuqKQFdWZK906lzuLV3idiKAAIIIOC9AMOt3jeRdwUkoKuuSRhurc6WlBFAAIHGCrgfbm0sZasqRkBXXXMz3FqdLSkjgAACjRVguLWxTVtpxQjoquNluLU6W1IOTIDiIoBAfgGGW/NbceRcAQK6uRZlLjHcWqYmaSGAAAItEWC4tSUNXUE1GxLQVSAzXpIMt47nx9kIIIBAKwUYbm1ls5dSaQK6UhgnJcJw6yQSNiCAAAIeCHheBIZbPW8gj4tHQFd+4zDcWr4pKSKAAAKNF2C4tfFNXGkFCejK52W4tXzTkFKkrAgggEAhAYZbC7Fx0osCBHQvQpT4xHBriZgkhQACCLRFgOHWtrR0Us9ynwnoyvVkuLVcT1JDAAEEWiHAcGsrmrnSShLQlcvLcGu5nqSGAAJjCHBqOAIMt4bTVr6WlICu3JZhuLVcT1JDAAEEWiHAcGsrmrnSShLQlcfbwuHW8vBICQEEEGirAMOtbW35cutNQFeeJ8Ot5VmSEgIIINAagVYMt7amNeurKAFdefYMt5ZnSUoIIIBAawQYbm1NU1daUQK6cngZbi3HkVQQKCrAeQgEKcBwa5DN5mWhCejKaRaGW8txJBUEEECgVQIMt7aquSutLAFdXt7BxzHcOtiHvQgggAACPQQYbu2BwqZCAgR0hdhSJzHcmuJgBQEEEGi3QN7aM9yaV4rj8ggQ0OVRGnwMw62DfdiLAAIIINBDgOHWHihsKixAQFeYrnsiw61dChbcCJALAgg0QYDh1ia0oj91IKAbry0Ybh3Pj7MRQACBVgow3NrKZq+00j0DukpzbFbiDLc2qz2pDQIIIOBEgOFWJ8ytyoSAbrzmZrh1PD/ORgCBsAUofUEBhlsLwnFaXwECur40Q3cw3DqUiAMQQAABBLICDLdmRVgvQ4CArrgiw63F7fKfyZEIIIBAwwQYbm1Yg3pSHQK64g3BcGtxO85EAAEEWivAcGs1Td/2VAnoir0CGG4t5sZZCCCAQKsFGG5tdfNXWnkCumK8DLcWc+MsBAIWoOgIjC/AcOv4hqTQW4CArrfLsK0Mtw4TYj8CCCCAwCQBhlsnkbChJAECutEhKxtuHb0onIEAAgggEIoAw62htFSY5SSgG73dGG4d3YwzEEAAgdYLlDjc2npLACYLENBNNhm2heHWYULsRwABBBCYJMBw6yQSNpQoQEA3GibDraN5cXSoApQbAQRKFWC4tVROEushQEDXA2XAJoZbB+CwCwEEEECgtwDDrb1d2FqeQF0BXXk1cJsSw61uvckNAQQQaIQAw62NaEavK0FAl795GG7Nb8WRCCCAQEkC4SfDcGv4bRhCDQjo8rcSw635rTgSAQQQQOBFAYZbX4TgqVIBArr8vAy35rcK6kgKiwACCFQpwHBrlbqknQgQ0CUSg58Zbh3sw14EEEAAgR4CDLf2QAl3k9clJ6DL1zwMt+Zz4igEEEAAAUuA4VYLg8VKBQjo8vEy3JrPiaMQQGAcAc5tnADDrY1rUm8rREA3vGkYbh1uxBEIIIAAAhkBhlszIKxWKkBAN5y3ScOtw2vLEQgggAACpQgw3FoKI4nkFCCgGw7FcOtwI45AAAEEEMgIhD3cmqkMq94LENANbqLUcOsiiyxiNttMmwafxF4EEEAAgXYLMNza7vavo/YEdIPVU8OtH/xgqrNu8JnsRQCBgQLsRKDJAgy3Nrl1/awbAd3gdklFcAR0g7HYiwACCCAwR4Dh1jkO/O9OoMEB3diIGltdNEmF4dZEgmcEEEAAgUECDLcO0mFfVQIEdP1lU8Otjz/+uImiiAcGvAZ4DfAaaNproOT6vO9978u+s5yX3cA6AmULEND1F00Nt/Y/jD0IIIAAAggMFJgxcC87EShBgICuN2JquLX3IWxFILcAByKAQHsFHutU/aLOgx8EKhUgoOvNS+9cbxe2IoAAAgiMJkDv3GheLT+6ePUJ6Hrb7dzZHPEwGBgMjAnSwGT+8Vo2QbZjE9pN7yeGfwhULUBAV7Uw6SOAAAIeCVAUBBBopgABXTPblVohgAACCCCAQIsECOha1NhuqkouCCCAAAIIIOBagIDOtTj5IYAAAggggIAxGJQqQEBXKieJIYAAAggggAAC7gUI6NybkyMCCLgRIBcEEECgNQIEdK1paiqKAAIIIIAAAk0VIKAbp2U5FwEEEEAAAQQQ8ECAgM6DRqAICCCAAALNFqB2CFQtQEBXtTDpI4AAAggggAACFQsQ0FUMTPIIuBEgFwQQQACBNgsQ0LW59ak7AggggAACCDRCIHdA14jaUgkEEEAAAQQQQKCBAgR0DWxUqoQAAgjUKEDWCCBQgwABXQ3oZIkAAggggAACCJQpQEBXpiZpuREgFwQQQAABBBBICRDQpThYQQABBBBAAIGmCLSpHgR0bWpt6ooAAggggAACjRQgoGtks1IpBBBwI0AuCCCAgB8CBHR+tAOlQAABBBBAAAEECgsQ0BWmc3MiuSCAAAIIIIAAAsMECOiGCbEfAQQQQAAB/wUoYcsFCOha/gKg+ggggAACCCAQvgABXfhtSA0QcCNALggggAAC3goQ0HnbNBQMAQQQQAABBBDIJ+BTQJevxByFAAIIIIAAAgggkBIgoEtxsIIAAggg4L8AJUQAgawAAV1WhHUEEEAAAQQQQCAwAQK6wBqM4roRIBcEEEAAAQRCEiCgC6m1KCsCCCCAAAII+CTgTVkI6LxpCgqCAAIIIIAAAggUEyCgK+bGWQgggIAbAXJBAAEEcggQ0OVA4hAEEEAAAQQQQMBnAQI6n1vHTdnIBQEEEEAAAQQCFyCgC7wBKT4CCCCAAAJuBMjFZwECOp9bh7IhgAACCCCAAAI5BAjociBxCAIIuBEgFwQQQACBYgIEdMXcOAsBBBBAAAEEEPBGoGUBnTfuFAQBBBBAAAEEEChNgICuNEoSQgABBBBojAAVQSAwAQK6wBqM4iKAAAIIIIAAAlkBArqsCOsIuBEgFwQQQAABBEoTIKArjZKEEEAAAQQQQACBsgXypUdAl8+JoxBAAAEEEEAAAW8FCOi8bRoKhgACCLgRIBcEEAhfgIAu/DakBggggAACCCDQcgECupa/ANxUn1wQQAABBBBAoEoBAroqdUkbAQQQQAABBPILcGRhAQK6wnSciAACCCCAAAII+CFAQOdHO1AKBBBwI0AuCCCAQCMFCOga2axUCgEEEEAAAQTaJEBAV3Zrkx4CCCCAAAIIIOBYgIDOMTjZIYAAAgggIAEeCJQpQEBXpiZpIYAAAggggAACNQgQ0NWATpYIuBEgFwQQQACBtggQ0LWlpaknAggggAACCDRWYKyArrEqVAwBBBBAAAEEEAhIgIAuoMaiqAgggECgAhQbAQQqFiCgqxiY5BFAAAEEEEAAgaoFCOiqFiZ9NwLkggACCCCAQIsFCOha3PhUHQEEEEAAgbYJNLW+BHRNbVnqhQACCCCAAAKtESCga01TU1EEEHAjQC4IIICAewECOvfm5IgAAggggAACCJQqQEBXKqebxMgFAQQQQAABBBCwBQjobA2WEUAAAQQQaI4ANWmRAAFdixqbqiKAAAIIIIBAMwUI6JrZrtQKATcC5IIAAggg4IUAAZ0XzUAhEEAAAQQQQACB4gK+B3TFa8aZCCCAAAIIIIBASwQI6FrS0FQTAQQQaLYAtUOg3QIEdO1uf2qPAAIIIIAAAg0QIKBrQCNSBTcC5IIAAggggICvAgR0vrYM5UIAAQQQQACBEAVqKTMBXS3sZIoAAggggAACCJQnQEBXniUpIYAAAm4EyAUBBBDICBDQZUBYRQABBBBAAAEEQhMgoAutxdyUl1wQQAABBBBAICABArqAGouiIoAAAggg4JcApfFFgIDOl5agHAgggAACCCCAQEEBArqCcJyGAAJuBMgFAQQQQGC4AAHdcCOOQAABBBBAAAEEvBYgoDNetw+FQwABBBBAAAEEhgoQ0A0l4gAEEEAAAQSMMSAg4LEAAZ3HjUPREEAAAQQQQACBPAIEdHmUOAYBNwLkggACCCCAQCEBArpCbJyEAAIIIIAAAgjUJTA5XwK6ySZsQQABBBBAAAEEghIgoAuquSgsAggg4EaAXBBAICwBArqw2ovSIoAAAggggAACkwQI6CaRsMGNALkggAACCCCAQFkCBHRlSZIOAggggAACCJQvQIq5BAjocjFxEAIIIIAAAggg4K8AAZ2/bUPJEEDAjQC5IIAAAsELENAF34RUAAEEEEAAAQTaLkBA5+IVQB4IIIAAAggggECFAgR0FeKSNAIIIIAAAqMIcCwCRQUI6IrKcR4CCCCAAAIIIOCJAAGdJw1BMRBwI0AuCCCAAAJNFCCga2KrUicEEEAAAQQQaJVA6QFdq/SoLAIIIIAAAggg4IEAAZ0HjUAREEAAgRYKUGUEEChRgICuREySQgABBBBAAAEE6hAgoKtDnTzdCJALAggggAACLREgoGtJQ1NNBBBAAAEEEOgt0IStBHRnYuUnAAAQAElEQVRNaEXqgAACCCCAAAKtFiCga3XzU3kEEHAjQC4IIIBAtQIEdNX6kjoCCCCAAAIIIFC5AAFd5cRuMiAXBBBAAAEEEGivAAFde9uemiOAAAIItE+AGjdUgICuoQ1LtRBAAAEEEECgPQIEdO1pa2qKgBsBckEAAQQQcC5AQOecnAwRQAABBBBAAIFyBUIM6MoVIDUEEEAAAQQQQCBwAQK6wBuQ4iOAAAII9BNgOwLtESCga09bU1MEEEAAAQQQaKgAAV1DG5ZquREgFwQQQAABBHwQIKDzoRUoAwIIIIAAAgg0WaDyuhHQVU5MBggggAACCCCAQLUCBHTV+pI6Aggg4EaAXBBAoNUCBHStbn4qjwACCCCAAAJNECCga0IruqkDuSCAAAIIIICApwIEdJ42DMVCAAEEEEAgTAFKXYcAAV0d6uSJAAIIIIAAAgiUKEBAVyImSSGAgBsBckEAAQQQSAsQ0KU9WEMAAQQQQAABBIITIKDr2WRsRAABBBBAAAEEwhEgoAunrSgpAggggIBvApQHAU8ECOg8aQiKgQACCCCAAAIIFBUgoCsqx3kIuBEgFwQQQAABBIYKENANJeIABBBAAAEEEEDAb4F5jN/lo3QIIIAAAggggAACQwTooRsCxG4EEEAAgTkC/I8AAv4KEND52zaUDAEEEEAAAQQQyCVAQJeLiYPcCJALAggggAACCBQRIKArosY5CCCAAAIIIFCfADlPEiCgm0TCBgQQQAABBBBAICwBArqw2ovSIoCAGwFyQQABBIISIKALqrkoLAIIIIAAAgggMFmAgG6yiZst5IIAAggggAACCJQkQEBXEiTJIIAAAgggUIUAaSKQR4CALo8SxyCAAAIIIIAAAh4LENB53DgUDQE3AuSCAAIIIBC6AAFd6C1I+RFAAAEEEECg9QJOArrWKwOAAAIIIIAAAghUKEBAVyEuSSOAAAIIjCTAwQggUFCAgK4gHKchgAACCCCAAAK+CBDQ+dISlMONALkggAACCCDQQAECugY2KlVCAAEEEEAAgfEEQjubgC60FqO8CCCAAAIIIIBARoCALgPCKgIIIOBGgFwQQACB8gQI6MqzJCUEEEAAAQQQQKAWAQK6WtjdZEouCCCAAAIIINAOAQK6drQztUQAAQQQQKCfANsbIEBA14BGpAoIIIAAAggg0G4BArp2tz+1R8CNALkggAACCFQqQEBXKS+JI4AAAggggAAC1Qs0JaCrXoocEEAAAQQQQAABTwUI6DxtGIqFAAIIIFCFAGki0EwBArpmtiu1QgABBBBAAIEWCRDQtaixqaobAXJBAAEEEEDAtQABnWtx8kMAAQQQQAABBIwp1YCArlROEkMAAQQQQAABBNwLENC5NydHBBBAwI0AuSCAQGsECOha09RUFAEEEEAAAQSaKkBA19SWdVMvckEAAQQQQAABDwQI6DxoBIqAAAIIIIBAswWoXdUCBHRVC5M+AggggAACCCBQsQABXcXAJI8AAm4EyAUBBBBoswABXZtbn7ojgAACCCCAQCMECOhyNyMHIoAAAggggAACfgoQ0PnZLpQKAQQQQCBUAcqNQA0CBHQ1oJMlAggggAACCCBQpgABXZmapIWAGwFyQQABBBBAICVAQJfiYAUBBBBAAAEEEAhPoHdAF149KDECCCCAAAIIINBaAQK61jY9FUcAAQTGFyAFBBDwQ4CAzo92oBQIIIAAAggggEBhAQK6wnSc6EaAXBBAAAEEEEBgmAAB3TAh9iOAAAIIIICA/wItLyEBXctfAFQfAQQQQAABBMIXIKALvw2pAQIIuBEgFwQQQMBbAQI6b5uGgiGAAAIIIIAAAvkECOjyObk5ilwQQAABBBBAAIECAgR0BdA4BQEEEEAAgToFyBuBrAABXVaEdQQQQAABBBBAIDABArrAGoziIuBGgFwQQAABBEISIKALqbUoKwIIIIAAAggg0EOgtoCuR1nYhAACCCCAAAIIIFBAgICuABqnIIAAAgg4EyAjBBDIIUBAlwOJQxBAAAEEEEAAAZ8FCOh8bh3K5kaAXBBAAAEEEAhcgIAu8Aak+AgggAACCCDgRsDnXAjofG4dyoYAAggggAACCOQQIKDLgcQhCCCAgBsBckEAAQSKCRDQFXPjLAQQQAABBBBAwBsBAjpvmsJNQcgFAQQQQAABBJonQEDXvDalRggggAACCIwrwPmBCRDQBdZgFBcBBBBAAAEEEMgKENBlRVhHAAE3AuSCAAIIIFCaAAFdaZQkhAACJQms3Enn0M5jSudR94/KcFinECpT54kfBBBAwE+BJgd0fopTKgQQGCZwR+eAtTuPWZ3HwZ3Hgp2H6x8Fcod0Mp3deazZeahMnSd+EEAAAT8FCOj8bBdKhUDbBQ7qACzUeehZQdWBnWUXgZ3yUJ4KJpM8FVR2suenuQLUDIHwBQjowm9DaoBAEwVu7FTq0s5DP0lvmYKsL3Q2KOjqPJX6ozSVtoJHBXAKJpXBJZ3/VJbOEz8IIICAvwIEdP62DSVrkABVKSSgwMo+8dWdFV3Pdn/neb/O45Wdx7g/SkM9cUpTaSt4tNPMlsHexzICCCDgjQABnTdNQUEQQCAjcENn/YrOI/uj3rMjOhvVY7dv51lBWedppB+do6BQPXK6Vk5pZhNQDyG9c1kV1hFAoEqBwmkT0BWm40QEEHAgoN6zftks3NlxZOehwG7vzvMrOo9hP0kgp3MUFL5mwAm6lm7AbnYhgAAC/ggQ0PnTFpQEAQQmC1zf2XRl5zHoR4Hd0Z0DFKTt1XnuFdhp2z6dffd1HgrkdE5nse9Pc3vn+laZHQggELIAAV3IrUfZEWiHwKBeOltg0c7KMZ2HArvOU+pHQ6tHdbYs0nnk+aF3Lo8SxyCAgDcCBHTeNEVjCkJFEChb4LpOgr2upets7vmjwC67I28gp/O4s1UKPBBAICgBArqgmovCItBaAU0p4qry3NnqSpp8Wi5A9csUIKArU5O0EECgKgHdbXpVVYlb6XLtnIXBIgIIhCNAQBdOW1FSBNouoO93HcmgwMFcO1cAjVMQQKB+AQK6+tuAEiCAQD6BmZ3Druk8qvrh2rmqZEkXAQQqFyCgG4uYkxFAwLFAlT1oXDvnuDHJDgEEyhMgoCvPkpQQQKB6AV1Hp+vpys7p8k6CVaTbSZYfBIwxICBQsQABXcXAJI8AAqUL7F96isYcUEGaJIkAAgg4EyCgc0ZNRghUKtCmxPXNEWX2ptE716ZXD3VFoKECBHQNbViqhUDDBcrsUSszrYazUz0EEPBVIH9A52sNKBcCCLRRoKxeNX0DRZm9fW1sC+qMAAIeCBDQedAIFAEBBAoJ5P2O10GJu/wGikHlaNQ+KoMAAu4FCOjcm5MjAgiUI3BZJ5lxetfonesA8oMAAs0QIKBrRju2rBZUF4GuwDjz0tE712VkAQEEQhcgoAu9BSk/Au0WKPrdq2XfKdvuVqD2CPgq0KJyEdC1qLGpKgINFSjyDQ9VzGXXUF6qhQACIQgQ0IXQSpQRAQQGCeg7WG8ZdEBmX5m9c5mkWUUAAQTqESCgq8edXBFAoFyB/UZIjt65EbA4FAEEwhAgoPO9nSgfAgjkEbi4c1CeXrqrOseNc2ds53R+EEAAAf8ECOj8axNKhAACxQTy9LxxZ2sxW84KQIAitluAgK7d7U/tEWiSwEWdygzqpVPv3PWdY/hBAAEEGidAQNe4JqVCCFQlEES6Bwwo5SjX2Q1Ihl0IIICAfwIEdP61CSVCAIHiAhd2Tr2p88j+cGdrVoR1BBBolIBXAV2jZKkMAgjUJXBIj4wH9dz1OJxNCCCAQFgCBHRhtRelRQCB4QIXdA6xe+m4dq4D0rAfqoMAAhkBAroMCKsIINAIAftuVq6da0STUgkEEBgkQEDXX+eFzi4exrTTgHqH3u6al67zKxz/3ND5P/T6UH5+J9v8Guj8CvMzTICAbpgQ+xFAAAEEEEAAgT4CvmwmoPOlJSgHAggggAACCCBQUICAriAcpyGAAAJuBMgFAQQQGC5AQDfcKD7ihRdeMDww4DXAa4DXAK8BXgPVvgbiN13+G1mAgG5ksuadQI0QQAABBBBAIGwBArqw24/SI4AAAggg4EqAfDwWIKDzuHEoGgIIIIAAAgggkEeAgC6PEscggIAbAXJBAAEEECgkQEBXiI2TEEAAAQQQQAABfwTaFtD5I09JEEAAAQQQQACBkgQI6EqCJBkEEEAAgSYJUBcEwhIgoAurvSgtAggggAACCCAwSYCAbhIJGxBwI0AuCCCAAAIIlCVAQFeWJOkggAACCCCAAALlC+RKkYAuFxMHIYAAAggggAAC/goQ0PnbNpQMAQQQcCNALgggELwAAV3wTUgFEEAAAQQQQKDtAgR0bX8FuKk/uSCAAAIIIIBAhQIEdBXikjQCCCCAAAIIjCLAsUUFCOiKynEeAggggAACCCDgiQABnScNQTEQQMCNALkggAACTRQgoGtiq1InBBBAAAEEEGiVAAFd6c1NgggggAACCCCAgFsBAjq33uSGAAIIIIDAHAH+R6BEAQK6EjFJCgEEEEAAAQQQqEOAgK4OdfJEwI0AuSCAAAIItESAgK4lDU01EUAAAQQQQKC5AuMFdM11oWYIIIAAAggggEAwAgR0wTQVBUUAAQTCFaDkCCBQrQABXbW+pI4AAggggAACCFQuQEBXOTEZuBEgFwQQQAABBNorQEDX3ran5ggggAACCLRPoKE1JqBraMNSLQQQQAABBBBojwABXXvampoigIAbAXJBAAEEnAsQ0DknJ0MEEEAAAQQQQKBcAQK6cj3dpEYuCCCAAAIIIICAJUBAZ2GwiAACCCCAQJMEqEt7BAjo2tPW1BQBBBBAAAEEGipAQNfQhqVaCLgRIBcEEEAAAR8ECOh8aAXKgAACCCCAAAIIjCHgfUA3Rt04FQEEEEAAAQQQaIUAAV0rmplKIoAAAo0XoIIItFqAgK7VzU/lEUAAAQQQQKAJAgR0TWhF6uBGgFwQQAABBBDwVICAztOGoVgIIIAAAgggEKZAHaUmoKtDnTwRQAABBBBAAIESBQjoSsQkKQQQQMCNALkggAACaQECurQHawgggAACCCCAQHACBHTBNZmbApMLAggggAACCIQjQEAXTltRUgQQQAABBHwToDyeCBDQedIQFAMBBBBAAAEEECgqQEBXVI7zEEDAjQC5IIAAAggMFSCgG0rEAQgggAACCCCAgN8CBHTG+N1ClA4BBBBAAAEEEBgiQEA3BIjdCCCAAAIIzBHgfwT8FSCg87dtKBkCCCCAAAIIIJBLgIAuFxMHIeBGgFwQQAABBBAoIkBAV0SNcxBAAAEEEEAAgfoEJuVMQDeJhA0IIIAAAggggEBYAgR0YbUXpUUAAQTcCJALAggEJUBAF1RzUVgEEEAAAQQQQGCyAAHdZBO2uBEgFwQQQAABBBAoSYCAriRIkkEAAQQQhEiIZQAAEABJREFUQACBKgRIM48AAV0eJY5BAAEEEEAAAQQ8FiCg87hxKBoCCLgRIBcEEEAgdAECutBbkPIjgAACCCCAQOsFCOicvATIBAEEEEAAAQQQqE6AgK46W1JGAAEEEEBgNAGORqCgAAFdQThOQwABBBBAAAEEfBEgoPOlJSgHAm4EyAUBBBBAoIECBHQNbFSqhAACCCCAAALtEig/oGuXH7VFAAEEEEAAAQRqFyCgq70JKAACCCDQTgFqjQAC5QkQ0JVnSUoIIIAAAggggEAtAgR0tbD3zvToo482URQVerzsZS8zyy+/vJk2bZq5+OKLzXPPPdc7k1ZtpbIIhCWQ/Ruwww47hFWBAqU955xzzLzzzhv/3dt8883NP/7xj1QqDz30kHn9618f74+iyCywwALm5ptvTh0zzsoDDzxgVlpppTj9V7/61eaXv/zlOMk16tzzzz8/domiOe9LU6dONc8880yj6tikyhDQNaQ1//Wvf5l7773XTJ8+3Wy22WZmwQUXNMccc8ykP44NqS7VQACBBgjMnj3b7LvvvuY///mP0YfSvffe28w///xOa7bUUkuZ/fffP87zqaeeMvvtt595+umn43X+a5FAA6o6TwPqQBV6CCjA22effcwmm2xiHn744R5HsAkBBBCoT0B/ow4++GDzxz/+MS7Exz/+cbPuuuvGy67/m5iYMBtssEGc7RVXXGG++c1vmhdeeCFe5z8EQhEgoAulpQqW85prrjHbbbcdnzgL+nEaAiUJkExG4Nxzz41HFLR5kUUWMXvuuad5yUteolXnj1e+8pVxL90888x5Szz88MMZenXeCmQ4rsCcV++4qXB+JQLLLLOM+fOf/xx/UtSnxX6Pf/7zn3Ev3GWXXWb0KTdbGH3i/Na3vpXdzDoCCCBQi4CuW1PvnP6mqQC77LKLWXnllbVY20PXh33oQx+K83/22WfNAQccwPVisQb/hSJAQBdKSw0o50tf+lKz+OKLm/e+973m1FNPNdddd52ZMmVK6oyvfe1r5r777kttYwUBBBBwLaAg7tvf/rb5wx/+EGf9ute9zvzP//xPfPF9vKGm//R39DOf+Ux8LZ+KoA/IM2bM0GJrH7pJRe2VPGbOnGnUm9laEM8rTkDneQMVKd56661nvvjFL6ZOffDBB83111+f2sYKAggg4FrgjjvuMPaIwSc+8Qmz3HLLuS5Gz/x0Dd+WW27Z3XfUUUeZRx99tLvelAXq0UwBArpmtqvRJyvd6m9X76qrrrJXWUYAAQScCqin56STTjKPP/54nK9GErbaaqt42Yf/dA2fpoqJoiguzu9+9zuja/3iFf5DwHMBAjrPG6ho8RZeeGHzlre8JXX6rFmzzN///vfUNlYQKF+AFBHoLaDeuR/+8IfdnZtuuqlZccUVu+s+LKiXbq211uoW5etf/zq9dF0NFnwWIKDzuXXGKNt8881ndOeYncS///3v+AYLe5u9nHwyjaIovp5Fk5za+8dZ1kSgmhA0iuakrd5DTRhqp6kJK3VhchTNOSaKIqOJLe1jBi2Pcr7SjaK5+ShfnT8o/WSfplvYeuutY6MompOG6qY6JscMe1Yal156aTwRtCyiaE46URSZxRZbzKjXQmXUccPSSvarvaJobjpRVHx5UH2y+eh1k5Rh2PMTTzxh9GYZRXPLpvrbrwU5Kv8omntMFBVfVlpKMymb2lntHUVz05R1st/X5+eff95cfvnl5qMf/ah5zWte0339aVLet73tbfG8k7bjqPXQa+3GG280n/3sZ82qq64aXysVRXONlI+GRqdNm2b02tXxo+Zx1llndXvnoigyeu2oV2zUdPIcLytNFBxFc+ug9WGXniy00ELmgx/8YDcL9dJdeeWV3fU2Lej3Iorm+k1lYmGvm38er0vXp3BsHi6g4C3bG6c3Ti5oHW437AhdGKzZ7Ycd12u/3pR/9KMfGV0IrjkCp0+fbu6///7UoY899phR+h/4wAfi4y644IKBgXjqZM9X9Ib+q1/9yvNS+le8n//852aFFVYwG220kTnzzDPNk08+2S2kJuW97bbbjOadXHLJJc1ee+010oTi+mYG3TSlD4DqnTr++OPNb37zm0m9+cpnVqeXX69ZvXZ1vF7Lek13CzNg4ZFHHonLnhyi+qy22mrJaqnP+raHD3/4w0YTBScJT5kyxVx44YVG1xgn2/o96wazV7ziFd3dp5xyykim3RNZQMChAAGdQ2yXWaknRJ8s7Tzz/CGzj2d5soBcNau83twm7x285S9/+Yt53/veZ7bddlujoG3w0XP26jhdD3nIIYeYIj0ic1Lx4/+7777bHHrooX4UJpBS6JozDfm9+93vNvfcc0+uUh933HFGF/bn+bYDTR/yrne9y+y2227mr3/9a670k4N0vF7Lu+66a67X5i9+8QuT3NmqNNZZZ524N1rLZT4UzCngfDGYi5NWMKcPE3n/BirYXHPNNeNz9Z+uP7711lu1WMoj2/MVRXN7waJovGWlXUohSSQ4AQK64JosX4F1y739x1M9QhtvvHG+kzmqr4DeFIr0MOnNVcO0GqrKJq4hwS222MLstNNORsdoyDV7jAK6r371q9nNA9fVg6LhMaU77KE3Zn310sAEx9iZBCZ5hgR1/afufOxX5omJiXi4MSlOFEVG2/odr7SUZnJ8SM/qqd19993jr8ZKyq3Xh14nqu973vMeo+k2kn3J88UXXzz02w70mpw2bZq56aabktO6z4suuqhJXpPKR8saruweYC1oCpJhQYRGDNSbZ50WT7MURZG9aezl3//+92abbbYxvYI59brlzUAjGe94xzu6h2uuz0suuaS7zgICPgoQ0PnYKmOWSdeOaD4lO5lPf/rTZtlll7U3sTyiQM8ephxp6M3s85//vNEEz/bhyy+/fHwtkt5YZ8yYYb7zne/EQ1KaTPq8884zCy64oH240RQK2V7X1AGZFd0Uo6E0pTvsoV6dJZZYIpNCeavXXnutOfHEE3MlqNfpCSecEHv0KvcXvvAFM//883fT0rK29TpW25SW0uyeENCCJrhNeoPVY6T2T4YuVTf9ruv1o2mKkm85SKr3jW98w2iINFnPPmvqkOxrUsP89957b3wTQPKaVD5aVg+zPiSqR89OS8G6jtHQrb3dXlaZb7jhhu6mV73qVeatb31rd72MhdmzZ8dBqMqfpKdh0x/84Adx8Jhsy/u89tprpw6dOXMmEw2nRFjxTYCAzrcWKVAeXcOiuZL0qXyzzTaLr7OxP6HqU/ynPvWpVK9GgWxafYretDT0laeHKQulHr3vfe97qc0bbrhh/NVCuiZKF5vbO7U+MTFh1Ms6ZcqU7i5N9aCgSGXpbgxgQW/0xxxzjFEvRwDF9bKI6iXThOG9vk1BAa2un1NQZxdec0/q2jp7W7KsAEvXhSXretY1Z2efffbAOeE0FKm/M8k3Kug8PXTN3aDfDfWc2deKKh19E47OLeOhYE6/S8n3wipNBXM//vGPzfvf/36tjvx405veFN98kpwoyz/96U/JKs8IjCxQ9QkEdFULj5G+/gDqIucoiuJgLIp6P+suscUXX9womNMfWzvLaZ0hlZ/85CdGd27Z21keTSDbw/T2t7891UvULzUFX5qmwQ5m3vCGNxgFeLpTsd952q67QT/f6dnTcvJQT8mgXpfkOJ+eNWyoGzuSMm2wwQbJIs85BN75zneaY489tufQanJ6FM25YzQ7Bcjtt9+eHJJ6VnBy5513drfpg8OBBx44MI/kYAWQe+yxR+p7V9VLqOtLk2Oyz7quTb8LyXbdoKVeumR9nOeHH344/srDMoM5lUc91vpd1bIe6qFUYKrlcR+6LlYeVTyU9rjl4/wwBQjowmy3oaVWL496lE4++WSja7SGnuDpAbrwuu6iZXuYXvva15rPfe5zcZA9rGwaPrWDGR2/8847m7xDgLpWStc/6jw91OuiYS8th/BQz7GGipOyathQU1Uk6zwPF1Dvep4PZIsttphZffXVUwnaQZu9Q9fI6WYGDStqWb1b2WDQPj67rMsF9GEz2a7fEQVWybr9rEsOfv3rX9ub4nLqg2hqY4EVBZLbbbedueaaa7pn65rC0047rXDPXJKQAk4Fnsm6nkP63VN5ebRLgICuoe2tYVj9wV5jjTXM1VdfHey0F7oLr+4m+ulPfxpPd5CUQz0ZGo5J1gc96xO9elqTY9QTMsoQ0NJLL210cbaCSF2YrrzzBoOm5n/qffjud79rdN2XiqJrvI444ohJ8yNqH4/eAuolUk9t773prVEUGc1HZ29VMKV2sLdpeZVVVjG6yUbzzino1tBkGQGW0s4+FOxpiNfeng2U7H15lxXMaejXvg5QwdwZZ5wR3+WbN51+x8lDQ8P2fr2We3nax7CMQF0CBHR1yTvKV7faa4hLc1ONO+1F1UXWnWXZP/T2MErV+fdKX292hx12WDcgVg+TrjXqdWyvbb/97W+752q/LgTP1lHb+z30pqJ5x9TTN2PGDKO7XVdaaaV+h3u1Xd8K8OUvf7lbJr35Tp06tbvOwnCBN77xjUY9aMOP7H2EenSz81H2PrK6rZrI2f5Qo5yGXW6gYwY9lKY+sNrBXBRF5tRTTy0lmEvyzt4d7YNnUjaeEcgKENBlRTxa10XDeiPXJ8Jhj7/97W9G11ZpqEFBR7YaX/rSl8zhhx+eCi6yx/iwrp4Duxy6EDz76d7eX+WyzHv1MGX/yA8qgy4Wt/erTRW42tuauKwPD7pzVjdyqH6aQuWggw7KdY2Wjnf90N2dUdT7GlVdvrDccsuZj33sY0bT1qhnyFX5lHcURa6yG5iP2lQ9VEceeaTRTT3ZIK3fyfoblrwOdIxuVtDUK1ou8tD1qJ/85CeN7l61z9fvq753VeW0t4+znO2J100RdQfI49TH4blkVYMAAV0N6FVkqSBBPT+6nkQTeOpGCP3htPNSQKdpDuxtg5Z1QX4URfG1YlE0+VnX0GhuJwWL+kM3KK28+9SbaJdb16wccMABuSYuNSX/y/Ywbb/99maUHia9wWjIyy6WLiiPosje1MhlTfGg3pKkcvo6qV53aCb7fX7WtCH6sHT66afH8wRq2FzTArm4vlO/0/rdduWj16xubtBNDBq63HvvveMpP9SjpnkK1cOsibX7XZvnopz6ndKlDL3y0l26Cup67Stjm/LW66GMtEgDgbIFCOjKFvUgvSiKjHoc9Iaq65aSIukPkYIvXdOSbBvnWdMUaMhDNwio50lfG6QgaJw09aavWfHtNE466SSjyWH7vYFq+EV39+64446pi6PtNEZd1qf8bA+T6qlrdPKmpU/yGqKxj89+4rf3NWVZPVgaptbrTXXSfHhqmygqMZBVwjU+dMORghtd0lBjMUrJWq91TQy8/vrrx3euqjdVN0togl7dXavfcfurxkbNVH9v1Ks26nl5j7f/xikg3W+//eLRirznDzquqg9g8o6iqO+H5WiJGzsAABAASURBVCgqvk9pD6oT+5orME9zq0bNFNTpuiVb4vrrrzd33XWXvam0ZV1grTdvzTmmmzKKJKw/oOqRUy+Ifb6CU81Urzca3SWqh3oH1XOgu9E0ZYsu7E6CCPvcIstN6mEqUv9xztE3AiR3HUZRZNSe4wyxjVOWvOfqLk/N9dbroXkce13Hpl5pnadhyLz5+HScgp8rr7zS6JpM/a3Q5Q15f3/UO28HUoPqpWBQPVuDjimyT/lr4uyf/exnRstJGppY+OijjzZl5Km/OfqblKTNMwI+CxDQ9W6dRmxVb5LujLQro2vt8l77ornWer3BaZvS1Z2XdtrJsiY5/cpXvpKsjvysu/p07ZrKb5+sNxsNBanHTo9xew7stO3lsnqY5ptvvkl3dNZ9k4ddzyqWZ82aFc+ZlqStO3oVLCTrvj5rCFXfdtDrocsUdHOMrgPTtVt2HbRNN6qol8ve7vuygjl9k4QC0nvuuWdgcfV7rt93BUm6nEM9bvq6sKWWWmrgeclOBUW6uSdZL+NZAZy+AUTfgKOA+7//+79Tyaod9f2rqY0FVtTu+raOAqdyCgLOBeZxniMZOhXIfn2UMs87LKq7OfWHsddDd1zqYmcNpehGDPu6N+Vx/PHHm/vuu0+LhR5bbrmlUY+B5rvKm4AuINcf+rzH9zuurB4mvYll5wDUm6HeTPvlHfJ21UuBvHpIVA+9JvSVXE3p4dDNMAoi9IFG9UseF154odHdzMl6CM/6YKQPXvqQZJd31VVXNQr0NPGwPvypTfV7rt93XU+nD1v6oGKfM2xZ7a/r74Ydl3d/FEVGd08rmIuiKB4m1vW+CjyTNFSvPffcM/4Ks2Rbked8vXxFUuYcBMoXIKAr37RVKaoXTTdiaEjUDqZ07dill146loXu1tXFz5oHbpNNNklNkKy8NOGueg70nZR333230cXcmlV/nEzL7mHKzmOl3lFd8zdKGXVNjC6M18SvmpRX3zLh4xuNggT1nCZ1U+CjACBZb8KzXu+77babsS8JUA+Obt4JpX567SjwVrmTMqteumRBEwBrImNdH6jXXLJ/nGd9sNGHrXHSsM9VgKjr/aIo6m7W9C6ao7G7obOgoXANySoo7ayW8qO66G/PuInp2xxUrioeSnvc8nF+mAIEdGG2W+5S97qRQDce5E4g54EKuLLBlL7DNOfpfQ/TG43+QOmmBwVCyR9AXaOnSYfVc/C///u/Rj15475p6FO93ujK7GFabbXVUnVT76jKndo4ZEXXJuoGC91ZqMBZ1wwNOcX5bvU86i7qJEjQVybp66GiaO6brvNCVZSh7jxVwGMnP2qb2ue6XtaHCl0jauer3rqtttoqvkjf3t5vWfV97LHH+u1Obdf1kxp2TTbqNaJev2S9rGd9sNQQsp2eevL0QcPeNsqyfl/t4zXRd7bX3d7PMgJ1ChDQ1alfcd76JJ792ikNg+mC5rKz1qd5vdHZ6YZ2XZF6J8ruYVKvmnoSExd9H6Su/UvWhz3rer7s8XrTUk/BsHNd7r/oootS36ahiayXXXZZl0VwllcURWbcDw+mxn8KpnTtX1KEKIqMpguKovzBd3ItXZLGoGf9bdBd8PYxKoO9Xsay8tHd1fobl6Sn4FGvRf0eJdtGedZIg328/sYpH3sbywj4IjCPMb4UhXKULaCLgjWMYqf7X//1X0bDE/a2Mpafe+45Y79JKE31ruk5hId6/zRkozcAlbesHiZ9os/2XOr6Qg3tKp9hDwVzdg+Dhvr0VWDDztN+TT8x6vVOOm/Uh970ZKfeU52r+mrKCy038aEL5dVbatct7w0C9jl1Let3VT3cSf5qt1E+fOnyBk0unJw/7FkBUDagUy/hsPOK7NcQv+Y8tM/VHdcnn3yyvSnXsj4QZwPP7CUUuRLiIAQcCdBD5wjadTY33HCD2XbbbY2GEe28p02bZhZaaCF7UynLmg5FdwPaiekaOHvd5+Wbb745NYedPtWX0cOknjRdc2VfFK4hXc2rN6zXQG+cuthbb7iJnaahUa9fsj7oWUNDyn/QMWXsU9Cp65WUlq4v0jQlVbzGlH7dDwVC6sW1v4hePUJ526Tu8it/TcGiIEvLyUMf/PIEdXfffbeZmJgwmoMyOTd57nd+FEVGd8wnx+lZ8/cpsNRymY8oiozuWNb0SXa6uhzglltusTcNXX7qqaeMruG1D8xeQmHvYxmBugUI6OpugZLy15u+bgrQtWaak2299dab1GOmAEt3rpaUZZyMgpKjjjrKbLrppkZ3vMYbO/9pmHHjjTfuLIX3U3YP0zrrrGOy010oCJo6dWp8d6TazlZS0KB21ETN9jQn6nHTnXu9gjS9mepaOzudOpZH/TaNOspYJE+1kQJs/f7o9W6noYmwq7gu1c6jzGV9UMmW95RTTjG777676XXNrfLW35ZDDz3U6LwkeNd2+2G/Vu3tWlbPmf261U0k+tuhfWU/dM2ePlRE0dwhZAVn6kXWtZ5581PPs+YaTI5fYoklDD10iQbPPgoQ0PnYKi+WScMSut4tiqL4YuUo6v+snhG94SuYUzDwYhLdpylTphjNbq+pF7obhyzoeys1gW+vh4IUTeqrdPfdd99JX82lwGO55ZYbksOk3bVvkKPeDMrsYYqiyGiuMs2XZVdQvRSrrLKK0RvFRz7yESNn9X4ob7WjPYStculu3qTnQUO2egPWOfoWBk0OqxtE7PSVtr1e9bJef6N+m0bVZcqbvu6GlGX2obuK1fv28pe/3OhbPs4777xUknr96/WiOy9TOzxe0etr1113nVTCE0880ejmhbe97W1GrylZ6HWpD2dq24MOOqj7e67LKXQ9mZ2IPojY6/ayDN/85jd3N+lv26AAsHtgwQVNe6SbPOzTdT3xOeecY28auKz5+TR1S3LQ6quvbvT3OFnnGQHfBObxrUCUp3wB/THWHzJ9Sh4ldQ1Danip10MXRWsG+F7p7bLLLkbDjL32+b5NE5RuuOGGpRdTb6Jqg+ybjDLSNVka8pKzvoNXd7Rqe/JQMKeJlvUmlWxTj4muC9I5msZEbz7JPj2rzXXnsZZdPRTMJQGnqzzLyueyyy4zssw+dFexrpdTD2g2L7WL2mDU36tsOnWsK1DT72k2b12ioTno9JqShV6X2evIdEe55ojM/o6r5049mdk0ta4PkraTrk/T8dpXxUMBpwJQ/R7Y6WsuPfW02tv6Lc+cOTO1Sx+y5ptvvtQ2VuoUIO+sAAFdVqRB6/qjpjdZvdlrWKjqqqmXQj0d6glU3lXnV3b6+uOvnkV7aKjMPBTUnXHGGeb00083vSZ87pWXhsn1Bjtt2rS4l7bXMdltCjT0HZwaHsvuq2pdgZyC4arS9y1dBTX62ixd0+hb2fKUR7+fX/3qV42+pk/Lec7Ra1bn6PWo16V68qIo6p6qIC8b/CU7oygyCiKjaO7xml+yiuvokjz1mtQ1qMm6nnXt3xFHHNHtadS2Xg/1juuyiGSfemKnTp2arPKMgJcCBHReNkuxQuliZw2zKSjRHyP19OiNXX+Ii6U4+CwFDhqO0ZuaPslrXioN5YQ6pYOCX70JDK71eHtloztA9YahNzTZqd3sVDWso6E+vUHq5pZegZluspC9fZ7emPVVW+o9HSUAtNMoshxFkdH1Vbp2qcj5vp5jl0u2un5KvVK6VlG9dprqwz4mtGXVSTf/KMjR/Itrr712avJu1Ud3p+q1eMkll8TX5OqGA31w0z7dMS8TLesxe/ZsozvrtdzrscYaaxhdGpDs0zRB/QLA5Jhxn3Xzka6JtdNRr6um2bG3ZZd1jd9dd93V3axrhDVs3N3AAgIeChDQedQomtxTQxZFHxq603VZmkxTPXL6gz1K9aZPn25GyVvXzGiC0bPPPtvoYnHdVdkvP93lpgAzSV9//O2v6ul33ijbdeeehkmSPPSsSYl7paHt2m8/5N/r2F7bsvVR3bSt17G9tqltVAbZqd3scuhibF2krhtbFAD2Ol9vpnrDsc/TTSm6TkhvnL3OGbRNbaE2SdIbVB85JcfpWcN09nDwoHy0T/XWeclD+Sp/7cvzkLPKl5yvZW3Lc66O6fU6SdLq9yxbvcnrq78U+PRrF6U/ziNrq9/JUdLLnq/fB9V3UBoaDtX1mApUNX2PbaC20WtRNzjpNWuns/jii8d3gdrHa3Jf+xh7WT3g+juRbNOdwhrqTtb7Peu1oXIk+YzS3uoVv/rqq1N/1/R3a9j3Cyvg07CwyhRFkVFQW1XPvfLw9ZH9Xc3zevK1Lm0oFwFdba1MxggggEC7BBQY2T3LuslklDtPXWg98sgj5txzz+1mpWv/dMd5dwMLCHgqQEDnacNQLAQQQKBpApoyxb4xSEO0GlXwqZ4qk3pjkzLpMhL19CXrtTyTKQI5BAjociBxCAIIIIDA+AJRFJmddtrJaPhVqWko+4c//GE8JKr1uh/qLdQQc1IO3fyhu1uTdZ4R8FmAgM7n1qFsCLgRIBcEnAnoJh97yhQNb+pOfGcFGJDRTTfdlLqxQzfB6BrDAaewCwFvBAjovGkKCoIAAgg0XyCKongS7eQ7pXWXrW7+0E0PddZecw1q2iX1GqocG220Ufw1Z1rmgUAIAm4CuhAkKCMCCCCAgBOBpZde2mji3yQzTZxddy+d7vLVxN4qk6YF0jeADLtDWMfyQMAXAQI6X1qCciCAAAItEtBEw8k0Juql04Tk6qWrg0DXzmmS5aR3Tt8osf7669dRFPJEoLAAAV1hOk5EAAEEECgqoHntjjzySKN55pSGvmpMkw1r2fVDk3xfeOGFcbaaiFiTjEfR3G+1iHfwHwKeCxDQed5AFK9sAdJDAAFfBHQdna5b07fOPPvss+bggw826i1zWT5N7H3YYYfFd9rqK76OO+44wzQlLluAvMoSIKArS5J0EEAAAQRGFtDX3+nbGzTcev7555vkq8VGTqjgCfrKuttvvz0O6J588kmjiYQLJsVpTRMIrD4EdIE1GMVFAAEEEEAAAQSyAgR0WRHWEUAAATcC5IIAAgiUJkBAVxolCSGAAAIIIIAAAvUIENDV4+4mV3JBAAEEEEAAgVYIENC1opmpJAIIIIAAAv0F2BO+AAFd+G1IDRBAAAEEEECg5QIEdC1/AVB9BNwIkAsCCCCAQJUCBHRV6pI2AggggAACCCDgQKAxAZ0DK7JAAAEEEEAAAQS8FCCg87JZKBQCCCCAQEUCJItAIwUI6BrZrFQKAQQQQAABBNokQEDXptamrm4EyAUBBBBAAAHHAgR0jsHJDgEEEEAAAQQQkECZDwK6MjVJCwEEEEAAAQQQqEGAgK4G9H5ZHn300SaKokKPl73sZWb55Zc306ZNMxdffLF57rnn+mXDdgQQ8FQg+zdghx12GLOkvU9/5plnzNSpU1N/a84///zeB1e89ZxzzjHzzjtvXJbNN9/c/OMf/0jl+NBDD5nXv/718f4oiswCCyxgbr755tQx46z7/x3UAAAQAElEQVQ88MADZqWVVorTf/WrX21++ctfjpNco87VayKK5r4n6TWj106jKtmgyhDQNaQx//Wvf5l7773XTJ8+3Wy22WZmwQUXNMccc8ykP44NqS7VQACBBgjMnj3b7LvvvuY///mP0YfSvffe28w///xOa7bUUkuZ/fffP87zqaeeMvvtt595+umn43X+QyAkgXlCKixlzS+gAG+fffYxm2yyiXn44YfznzjikRyOAAIIFBHQ36iDDz7Y/PGPf4xP//jHP27WXXfdeNn1fxMTE2aDDTaIs73iiivMN7/5TfPCCy/E6/yHQCgCBHShtFTBcl5zzTVmu+224xNnQT9OQwCBagTOPffceERBqS+yyCJmzz33NC95yUu06vzxyle+Mu6lm2eeOW+Jhx9+OEOv5bcCKVYsMOfVW3EmJF9MYJllljF//vOf40+K+rTY7/HPf/4z7oW77LLLjD7lZnPTJ85vfetb2c2sI4AAArUI6Lo19c7pb5oKsMsuu5iVV15Zi7U9dH3Yhz70oTj/Z5991hxwwAGG68ViDv4LRICALpCGGlTMl770pWbxxRc3733ve82pp55qrrvuOjNlypTUKV/72tfMfffdl9rGCgKNEqAyQQgoiPv2t79t/vCHP8Tlfd3rXmf+53/+J74pId5Q03/6O/qZz3wmvpZPRdAH5BkzZmixtQ/dpKL2Sh4zZ8406s1sLYjnFSeg87yBihRvvfXWM1/84hdTpz744IPm+uuvT21jBQEEEHAtcMcddxh7xOATn/iEWW655VwXo2d+uoZvyy237O476qijzKOPPtpdZwEBnwUI6PK3TlBH6pOVbvW3C33VVVfZqywjgAACTgXU03PSSSeZxx9/PM5XIwlbbbVVvOzDf7qGT1PFRFEUF+d3v/ud0bV+8Qr/IeC5AAGd5w1UtHgLL7ywectb3pI6fdasWebvf/97ahsrCCCAgCsB9c798Ic/7Ga36aabmhVXXLG77sOCeunWWmutblG+/vWvF+il657OAgLOBAjonFG7zWi++eYzunPMzvXf//53fIOFvc1eTj6ZRlEUX8+iSU7t/eMsayJQTQgaRXPSVu+hJgy109QFyLowOYrmHBNFkdHElvYxg5ZHOV/pRtHcfJSvzh+UfrJP0y1svfXWsVEUzUlDdVMdk2OGPSuNSy+9NJ4IWhZRNCedKIrMYostZtRroTLquGFpJfvVXlE0N50oKr48qD7ZfPS6Scow7PmJJ54werOMorllU/3t14IclX8UzT0mioovKy2lmZRN7az2jqK5aco62e/r8/PPP28uv/xy89GPftS85jWv6b7+NCnv2972tnjeSdtxnHroettPf/rTRte3RdEcJ80Tt84665gTTjjBqB2LpH/WWWd1e+eiKDJ67ahXrEhaw86RlSYKjqI55Y+iyGh92KUnCy20kPngBz/YTV69dFdeeWV3vU0L+r2Iorl++r3R70+bDEKq6zwhFZay5hdQ8JbtjdMbJxe05jfsd6QuDNbs9v32D9quN+Uf/ehH8Rul5gicPn26uf/++1OnPPbYY0bpf+ADH4iPu+CCCyYF4qkTAlrRG/qvfvWrgErsR1F//vOfmxVWWMFstNFG5swzzzRPPvlkt2CalPe2224zmndyySWXNHvttVfhCcX1LQ06/w1veEM8F5vusk8y0oeLX/ziF2aPPfaIP3ToOfs3Jjm21/MjjzwSlz3Zp/qsttpqyWqpz/q2hw9/+MNGEwUnCWt498ILLzS6xjjZ1u9ZN5i94hWv6O4+5ZRTCpt2E2EBgYoFCOgqBq4reX2C1idLO/88f8js41meLCBXzSqvN9HJewdv+ctf/mLe9773mW233dYoaBt89Jy9Ok7XQx5yyCFGb6hztob5/913320OPfTQMAtfU6l1zZmG/N797nebe+65J1cpjjvuOKML+0f9tgMFPzpP5w/LSK9/9dSpx0ZTkAw7XvsVDCZ3tmpdvX3qjdZymQ8Fc/qwpPok6SqY04eJvH8DFWyuueaayelG1x/feuut3fVxF7I9X1E0txcsisZbVtrjlo/zwxToE9CFWRlKPVdAt9zbfzw1dLLxxhvPPYClQgJ6UyjSw6Q3Vw3Tapg1m7GGBLfYYguz0047GR3T601OAd1Xv/rV7KkD1zXkPm3atDhdpT3ooSBTQ2oDExxjZxKY5BkS1PWfuvOxX3knJibi4cakOFEUGW3rd7zSUprJ8SE9q6d29913j78aKym3Xh96nai+73nPe4ym20j2Jc8XX3xx3MMm92TbsGf1uOk8+7g11lgjfv1sv/32Rr1/9j4t33TTTfFlA3p9a73fQyMG6pm296sXLIoie9PYy7///e/NNttsY3oFc8ovbwYayXjHO97RPVxzfV5yySXddRYQ8FGAgM7HVhmzTLp2RPMp2cnoephll13W3sTyiAJFe5j0Zvb5z3/eaIJnO8vll1/eKMDTm+GMGTPMd77znXhISsNc5513Xvx9vPbxmkIh2+tq788u66YYzT+odIc91CuzxBJLZJMobf3aa681J554Yq709DpV70+/Mn/hC19Ifd+nvvtT2/odr7SUZq7MPTtIE9yqN0zFUo+R2j8ZulR99buu14+mKUq+5UDH6vGNb3zDzJo1S4u5HupBTg785Cc/GX+7jD68KB9dGqCeuFtuucVkb2K44oorzEEHHWQGBY8q8w033GCSf6961avMW9/61mS1lOfZs2cbfTC69957u+lp2PQHP/hBPEdnd2POhbXXXjt15MyZM5loOCXCim8CBHS+tUiB8ui6LM2VpE/Xm222WXydjf0JVZ/iP/WpT6V6NQpk0+pT9Galoa88PUxZKL0pfu9730tt3nDDDeOvFtI1Ubqo3d6p9YmJCaNe1ilTpnR3aaoHBUUqS3djAAu6LuuYY44x6uUIoLheFlG9cZowvNe3KSig1fVzCurswmvuSV1bZ2/Ls6ybXhQMLrjggqnDoygyq666ajxxuV6/9k5NRfLrX//a3pRaVs+Zfa2ohjT1TTipg8ZYUTCn36Xke2GVlIK5H//4x+b973+/Vkd+vOlNb4pvPklOlOWf/vSnZJVnBLwTIKDzrknmFkh/ADXMEUVRHIxFUe9n3SWmb4pQMKegbm4KxkzrDLn95Cc/Mbpzy94e0LIXRc32ML397W9P9RL1K6SCL03TYAczuuBcAZ7uVOx3nrbrblD17Gk5eagnb5Rel+S8Op81bKgbO5IybLDBBskizzkE3vnOd5pjjz2259BqcnoUzbljNNt7dvvttyeH5HpW4LjnnnvGf2/6naDXrXrtXvva13YPUU/i97///b69dLquTb8LyQm6QUu9dMn6OM8PP/xw/JWHZQZzKs8SnR5r/a5qWQ/1YCow1fK4D10XK48qHkp73PJxfpgCBHRhttvQUquXRz1KJ598stE1WkNP8PSAv/71r7WXLNvDpDeyz33ucwPf9JJCa/jUDma0feeddzbLLrusFoc+dK2Urn9MDlSvi31tZLLd12f1HGuoOCmfhg01VUWyzvNwAfWu5/lApmvrVl999VSCd955Z2p90IpeZ/vuu+/AwDE5/41vfKPR6zhZ17MuKVB7a9l+6JKDbO+dyqkPovZxRZY13LzddtuZa665pnu6rik87bTTCvfMJQkp4FTgmazrOaTfPZW3fY9215iArqHtr2HYXXfd1eii5quvvrrvJ2ffq6/rduou409/+lOj6Q6Schx44IFGwzHJ+qBnfaJXT2tyzJQpU0Z6o1l66aWNLs5WEKnrg5R33mDQ1PxPvQ/f/e53ja77UlF0jdcRRxwxaX5E7ePRW0C9ROqp7b03vTWKIqP56OytCqbUDva2fssTExNmlNeWeoI0rJmkp2tM7V6yZLs+EOkaumRdz9lASdtGfSiY+9CHPpS6NlXB3BlnnBHf5TtqetnjFXBqaNjertdyXk/7PJYRcCFAQOdCucY8dKu9hrg0t5Tv017ozrLsH/pebxAuOdXjcNhhh3UDYvUwaX6rvGX47W9/2z1X5+hC8Gwdtb3fQ28qmndMPX0zZswwutt1pZVW6ne4V9v1rQBf/vKXu2XSm+/UqVO76yEuuC6zesIWXXTRwtmqRzfvXHGaGiWKotx5aTjSvqZPwaOGVrMJaCJa+0ON9mvYVs9FH0pTH1jVK5ikEUWROfXUU0sJ5pI0s3dHj+KZpMEzAq4ECOhcSRfIRxcN641cnwiHPf72t7/Fd7RpqEFBRza7L33pS+bwww9PBRfZY3xYX2WVVVLF0IXg2U/3qQMqXJF5rx6m7B/5QUX4zW9+k9qtNlXgmtrYwBV9eNCds7qRQ9XTFCq6E1I9KFr37aFJnKMoiofRoyj9rMsXlltuOfOxj33MaNoa9Qy5Kr/yjqKo8uzU0zbKBw0VqNeQpIJ47bMf+huWvA60XXlpeFjLRR66HlV34eruVft8/b7qe1f12rO3j7Oc7YnXTRF5A+Rx8uVcBIoIENAVUavsnOIJK0jQH2RdT6IJPHUjhP5w2ikqoNM0B/a2Qcu6ID+Kop5vclEUxfNSaW4nBYv6Qzcorbz71Jtol1vXrBxwwAG1TKqrNye7h0lzcY3Sw6Q3GPVaGOuf7kiMosja0sxFTfGg3pKkdp/97GeN3ZuTbA/hWdOG6EaU008/PZ4nUMPmmhbIxfWd+p3W73bVTvpKLN1YNUo+6j3OXp9bZjDVryz6ndKlDL32n3322UZBXa99ZWxT3no9lJEWaSBQtgABXdmiHqQXRZFRj4PeUHXdUlIk/SFS8KVrWpJt4zxrCg8NeegGAfU8rbvuukZB0Dhp6k1fQz92GpoSQZPD9nsD1fCL7u7dcccdUxdH22mMuqw3pmwPk+o5Sg+TPslriMbOO/uJ397XlGX1YGmYWq831Unz4altoqg5gaxuONLwuS5pUB1Df6gnUI9R65G9xqzX+fp7o161XvvK2Gb/jdOHqP322y8erSgj7ao+gOnbHKIo6vthOYpy7OtzjNIuo+6kEZ7APOEVmRLnFVBQp+uW7OOvv/56c9ddd9mbSlu+8cYbjd68NeeYbsookrD+gKpHTr0g9vkKTtWLoMk+dXedHuod1LU4GvrRlC2acyoJIuxziyw3qYepSP3HOUffCJDcdRhFkVF7jjPENk5Z8p6rOcw0ZUevh+Zx7HUdm3qldZ4ulM+bT9OO04eWYXXS986qZ2vYcaPuVyCnibN/9rOfGS0n52tiYc2lV0ae+pujv0lJ2jwj4LMAAZ3PrTNm2dSbpDsj7WR0rV32AmV7v72sudZ6vcFpm9LVnZf28cmyJjn9yle+kqyO/Ky7+nTtmspvn6xgTRddq8dOD/UO6s3CPqaM5bJ6mOabb75Jd3TWfZPHCD6FDp01a1Y8Z1pysiZ11QeLZN3XZw2ham61Xg9dpqCbY3QdmK7dsuugbbpRRT269vbQlvUBTI9Ry53nLnQFRRqeHTXtQccrgNM3gOgbcBRw//d/mmLergAAEABJREFU/3fqcLXjVVddldpWZEXtrjn2ipzLOQi4FpjHdYbk51YgO9u7cs87LKq7OfWHsddDd1zqYmcNpehGDPu6N+Vx/PHHm/vuu0+LhR5bbrllPCO9vh4rbwIaMtIf+rzH9zuurB4mvYllrzHS8JOGhfrlHfJ21UuBvHpIVA+9JvSVXE3p4dDNMAoi9IFG9UsemtJGdzMn6yE+64PRqDcfqQcs20O31FJLTaq+2r/M7wmOosjo2lYFc1EUGf2e6Xpf+wOmPvxpgmQFZJMKNMIG1XGEwzkUgVoF6gvoaq02mZcloF403YihIVE7mNK1Y5deeulY2ehuXV38rHngNtlkk9QEycpLE6Gqp/Bb3/qW0RxYTzzxhNGs+uNkWnYPU/YaI/WO6pq/Ucqoa2J0Yby+BUCT8upbJnx8o0l6T5O6KfBRb2uy3oRnvd532203Y18SoB4c3bwTcv1Uh1GDH329oH4/7XrrGlh7XcsKuPRhS8tlPBQgrr/++vH1Z0l6mt5FczQm63rWULiGZPVBQ+tlPFQX/e0ZNy3N4adyVfFQ2uOWj/PDFCCgC7Pdcpe6140Evf7o5k6wz4EKuLLBlL7DtM/huTfrDVR/oHTTgwKh5A+ghoc03KOewv/93/816skb901Dn+rL7mFabbXVUnVV76jKndo4ZEXXJqonRLP+K3DWNUNDTnG+Wz2PuotagYEy1xxle+yxR+pNV9ub8NCdp7ohwq7LqG1qn+vLsr7ebpSy6PIBfZBKzlGPrD50JOvJs66f1LBrsq7XiHr3k/U8z3mO0QdLXdNoH6uePH3QsLeNsqzfV/t4TfSd7XW397OMQJ0CBHR16lect3pxsl87pT+6Sy65ZOk5qwdJb3R2wqFdV6SvJ9K1eUkdyuhh0hucehKTNPV9kLr2L1kf9qzr+bLH601LPQXDznW5/6KLLkp9m4Ymsl522WVdFsFZXlEUmXE/PBgP/+l1ptdbnqLpg1X2O4r/67/+y6inLHu+/jboLnh7exUBnfLR3dX6G5fkpeBRr8W89UrOS5410pAs61l/45SPlnkg4JsAAZ1vLVJieXRRsO78tJPs90fXPqbI8nPPPWd0gbh9rnrX7HV/l41R75+GbPQGoHKW1cOkT/TZnktdX6ihXeUz7KE3WbuHQUN9+iqwYedpvybz1Y0ZWq7yoTc92elNXvmovttss40WG/nQ0KR6S+3K9bp2zN4fwrLmr9T1o3nKqtfk97///dSh6iFbaKGFUtu0ogAoG9Dp0gPtK/uhIX7NeWinqzuuTz75ZHtTrmV9IM4GntlLKHIlxEEIOBIgoHME7TqbG264wWy77bZGw4h23tOmTTO9/ujaxxRZ1nQouhvQPlfXwNnrPi/ffPPNqTns9Km+jB4m9aTpmiv7onDdNKB59Yb1Gmg4Sxd7J4GS/DQNjXr9tDzsoaEh5T/suHH3K+jU9UpKR9cXaZqSKl5jSr/uh4b61Yv78MMPd4uiHqG8bdI9ydOFfffd1+h3eVDx9Lr8+Mc/bpIPPzpWPXO6nlXL2UcURUZ3zNvbNX+fPgTa28pYjqLI6I5lTZ9kp6fLAW655RZ709DlXtcIZi+hGJoIBzRPwOMaEdB53DijFE1v+ropQNeaaU629dZbb1KPmQIs3bk6SrrDjlVQctRRR5lNN93U6I7X5HgNM2688cbJalDPZfcwrbPOOiY73YWCoKlTpxrdHam2s4EUNKgdNVGzrlNK9qnHTXfu9QrSNLyta+2SY+t6HvXbNOoq56j5qo0UyOj3R693+3xNhF3Fdal2Hq6WFcTodalpg/SasvPt97qMoij+WkH1RtvH28vqObNft7qJRH877GPKWtY1e/pQEUVRN0nVS73Iutazu3HIgnqeNddgctgSSyxh6KFLNHj2UYCAzsdWebFMGpbQ9W5RFMUXl0dR/2f1jOgNX8GcgoEXk+g+TZkyxWh2e0290N04ZEHfW6kJfHs9FKRoUl+lq0/12T/+CjyWW265ITn4t1uOejMos4cpiiKjuco0X5ZdY/VS6Ltr9UbxkY98xMh5YmIi7kFVO9pD2CqX7uZNeh40ZLv77rvH5+hbGFZaaSUzY8YMO3mjtFMbKl7R62/Ub9OouEi5k9fdkPLPPnRXsXrfXv7ylxt9y8d5552XSlOvf71edOdlakfxlVrO1MTJG264YZy3fpfVg6weXr0eZaLXp9o3+7rUCRri1DRDWu73kOGb3/zm7m79bbM/rHR3lLSg8my11Vap1HQ98TnnnJPaNmjlnnvuMZq3Mzlm9dVXj7/uMFnnGQHfBAjofGuRCsqjP8T6Q6ZPyaMkr2FIDS/1euh6G81d1Su9XXbZxWiYsdc+37dpgtLkja3MsipAVBtk32SUh67J0rWOctZ38OqOVm1PHgrm1GOiN6lkm3pjdV2QztE0JnrzSfbpWW2uO4+17OqhYC4JOF3lWVY+l112mZFl9qG7inW9nIKcbF5qF7XBqL9X2XR8WFdAqm9XWGONNbrFUZ31epSJXp/q5erufHFBNyF88YtfNMOul9UHSdtJ16clw/QvJlXqk8pz0EEHTZrYe++9946nOMqTmb4txj5OwayLa1LtPFlGYBQBArpRtAI7Vn/U9CarN3sNC8XFr/A/vSmop0M9gcq7wqwqSVpBkHoW7aGhMjNSUHfGGWeY008/3fSa8LlXXhomv+2228y0adPiXtpex2S3KdA49thjjcthQAVyCoazZWnquqbJufLKK42uaWxKHXVjxyWXXGI0rDysTqq/LhvYf//9hwZzSiuKIqNeviiKtBo/NL9kFdfRxYl3/tNrUtegdha7Pw899JA54ogjjILV7sYeC+odV/2SXVM6IxxTp05NVnlGwEsBAjovm6VYoTRsomE2BSX6Y6SeHr2x5w0eRs1VgYOuldObmj7BP/bYY2bXXXcNdkoHBb96ExjVYZTjNd2F7gDVG4be0GSndrPT0DC7hvquu+46o5tbegVmuslC9vZ5CqL1VVvqPR0lALTTKLIcRZE59NBDja5dKnJ+COfIVtdPqedZ1yqq126DDTYIoegjlVGXUZx55plGdVQAZs8fpyFY9frqdasJhfUhMYrmBmjDMlLvny4NSI7TNEHZu0iTfWU9a+hY18Ta6anXVdPs2Nuyy7rGz/7Oa10jrGHj7HFNX6d+YQkQ0HnUXvvss4/RxddFHxq603VZmkxTf2z1JjRK9aZPnz5S/rpIWhOqnn322fGnev3B75ef7nJTgJnUbfbs2cb+qp5+542yXdMjaJgkyUPPmpS4Vxrarv32Q/69ju21LVsf1U3beh3ba5vaRmWQndrNLocuxj7llFOMbmxRANjrfE0/ozcc+zzdlKLrhPTG2eucQdvUFmqTJL1B9ZFTcpyedSe1PRw8KB/tU711XvJQvspf+/I85KzyJedrWdvynKtjer1OkrT6PctWb/L66q+11167sg8tWVv9TqrMeR/Z82fOnGlU3+z52qZ9SX3tNoiiyKiO6k3WvInJMZraR9fnqv30+s2mOWxdPeB275/uFNZQ97Dz9NpQ+ZJyjNLe6hW/+uqrU3/X9Hdr2PcLK+DTsLDKFkWR0QesqnrulQcPBMoQIKArQ5E0EECggACntE1AgZHds6ybTEa589SF1yOPPGLOPffcbla69k93nHc3sICApwIEdJ42DMVCAAEEmiaw7LLLGvvGIE1+rlEFn+qpMqk3NimTLiNRT1+yzjMCvgo0OqDzFZ1yIYAAAm0UiKLI6Cv1NPyq+msoW18hpuFUrdf9UG+hLndIyqGbknR3a7Letufsd9nqshqGnv19FRDQ+ds2lAwBBBBonIBu8tHURknFNLypO/GT9Zqe42xvuukmox66eKXzn26C0ZQrncVW/uh6XrviCsSZusUW8WuZgM6v9qA0CCCAQKMFoiiKJ8TW14WpoppKRDd/1N1Lp6lMNO2Seg1Vro022shoYmUtt/GhycsvvPDCVNU1i0JqAyteCRDQedUcFKaxAlQMAQS6AvqaME38m2zQxNl199JpqhZNpKwyaVogfQOI7gbWehseCqw1FY+mq9FDPan33ntvt+oy4eaQLoeXCwR0XjYLhUIAAQSaLaCgIZnGRMGEJiSvq5dO184dc8wx3e+j1jdKrL/++s1ugEztFFBff/31RnOK6iET+5AtttjCFJkSyU6D5XwCRY8ioCsqx3kIIIAAAoUFNJfdkUce2Z2PUl8xpsmGCyc4xomaLDkZXtRExJpkPIryT5o8RtbenKqvYkvm3ssWSoGc5jdVm2X3se6PAAGdP21BSRBAAAEHAv5koevodN2avnXm2WefNQcffLDJ9gxVXVpN7H3YYYfFkw/rK76OO+4408ZpSuS/zDLLpLj1zTm6vlGTM+ur4VI7WfFOgIDOuyahQAgggEB7BPT1d/r2Bg23nn/++UbfCe2y9vrKuttvvz0O6J588kmjiYRd5u9LXvrKSPsbOdQectl+++2dt4kvJqGVg4AutBYLoLwUEQEEEEAAAQTcChDQufUmNwQQQAABBBCYI8D/JQoQ0JWISVIIIIAAAggggEAdAgR0daiTJwIIuBEgFwQQQKAlAgR0LWloqokAAggggAACzRUgoBuvbTkbAQQQQAABBBCoXYCArvYmoAAIIIAAAs0XoIYIVCtAQFetL6kjgAACCCCAAAKVCxDQVU5MBgi4ESAXBBBAAIH2ChDQtbftqTkCCCCAAAIINERghICuITWmGggggAACCCCAQMMECOga1qBUBwEEEKhdgAIggIBzAQI65+RkiAACCCCAAAIIlCtAQFeuJ6m5ESAXBBBAAAEEELAECOgsDBYRQAABBBBAoEkC7akLAV172pqaIoAAAggggEBDBQjoGtqwVAsBBNwIkAsCCCDggwABnQ+tQBkQQAABBBBAAIExBAjoxsBzcyq5IIAAAggggAACgwUI6Ab7sBcBBBBAAIEwBChlqwUI6Frd/FQeAQQQQAABBJogQEDXhFakDgi4ESAXBBBAAAFPBQjoPG0YioUAAggggAACCOQV8Cugy1tqjkMAAQQQQAABBBDoChDQdSlYQAABBBAIRYByIoBAWoCALu3BGgIIIIAAAgggEJwAAV1wTUaB3QiQCwIIIIAAAuEIENCF01aUFAEEEEAAAQR8E/CkPAR0njQExUAAAQQQQAABBIoKENAVleM8BBBAwI0AuSCAAAJDBQjohhJxAAIIIIAAAggg4LcAAZ3f7eOmdOSCAAIIIIAAAkELENAF3XwUHgEEEEAAAXcC5OSvAAGdv21DyRBAAAEEEEAAgVwCBHS5mDgIAQTcCJALAggggEARAQK6ImqcgwACCCCAAAIIeCTQuoDOI3uKggACCCCAAAIIlCJAQFcKI4kggAACCDRMgOogEJQAAV1QzUVhEUAAAQQQQACByQIEdJNN2IKAGwFyQQABBBBAoCQBArqSIEkGAQQQQAABBBCoQiBPmgR0eZQ4Btf8MmMAABAASURBVAEEEEAAAQQQ8FiAgM7jxqFoCCCAgBsBckEAgdAFCOhCb0HKjwACCCCAAAKtFyCga/1LwA0AuSCAAAIIIIBAdQIEdNXZkjICCCCAAAIIjCbA0QUFCOgKwnEaAggggAACCCDgiwABnS8tQTkQQMCNALkggAACDRQgoGtgo1IlBBBAAAEEEGiXAAFd+e1NiggggAACCCCAgFMBAjqn3GSGAAIIIIBAIsAzAuUJENCVZ0lKCCCAAAIIIIBALQIEdLWwkykCbgTIBQEEEECgHQIEdO1oZ2qJAAIIIIAAAg0WGDOga7AMVUMAAQQQQAABBAIRIKALpKEoJgIIIBC0AIVHAIFKBQjoKuUlcQQQQAABBBBAoHoBArrqjcnBjQC5IIAAAggg0FoBArrWNj0VRwABBBBAoI0CzawzAV3Odo2iyEQRjyjCIIowiCIMogiDKMIgijCIonINcr4tc1hGgIAuA8IqAgggMK4A5yOAAAKuBQjoXIuTHwIIIIAAAgggULIAAV3JoG6SIxcEEEAAAQQQQGCuAAHdXIvsUtTZwMMYDDAI8TVgMv9CrANlNvz9MWZMg2acb/g3XICAbrgRRyCAAAIIIIAAAl4LENB53TwUDgHvBSggAggggIAHAgR0HjQCRUAAAQQQQAABBMYR8D+gG6d2nIsAAggggAACCLRAgICuBY1MFRFAAIE2CFBHBNosQEDX5tan7ggggAACCCDQCAECukY0I5VwI0AuCCCAAAII+ClAQOdnu1AqBBBAAAEEEAhVoIZyE9DVgE6WCCCAAAIIIIBAmQIEdGVqkhYCCCDgRoBcEEAAgZQAAV2KgxUEEEAAAQQQQCA8AQK68NrMTYnJBQEEEEAAAQSCESCgC6apKCgCCCCAAAL+CVAiPwQI6PxoB0qBAAIIIIAAAggUFiCgK0zHiQgg4EaAXBBAAAEEhgkQ0A0TYj8CCCCAAAIIIOC5AAGdMcbzNqJ4CCCAAAIIIIDAQAECuoE87EQAAQQQQKArwAIC3goQ0HnbNBQMAQQQQAABBBDIJ0BAl8+JoxBwI0AuCCCAAAIIFBAgoCuAxikIIIAAAggggECdAtm8CeiyIqwjgAACCCCAAAKBCRDQBdZgFBcBBBBwI0AuCCAQkgABXUitRVkRQAABBBBAAIEeAgR0PVDY5EaAXBBAAAEEEECgHAECunIcSQUBBBBAAAEEqhEg1RwCBHQ5kDgEAQQQQAABBBDwWYCAzufWoWwIIOBGgFwQQACBwAUI6AJvQIqPAAIIIIAAAggQ0Ll5DZALAggggAACCCBQmQABXWW0JIwAAggggMCoAhyPQDEBArpibpyFAAIIIIAAAgh4I0BA501TUBAE3AiQCwIIIIBA8wQI6JrXptQIAQQQQAABBFomUEFA1zJBqosAAggggAACCNQsQEBXcwOQPQIIINBaASqOAAKlCRDQlUZJQggggAACCCCAQD0CBHT1uJOrGwFyQQABBBBAoBUCBHStaGYqiQACCCCAAAL9BcLfQ0AXfhtSAwQQQAABBBBouQABXctfAFQfAQTcCJALAgggUKUAAV2VuqSNAAIIIIAAAgg4ECCgc4DsJgtyQQABBBBAAIG2ChDQtbXlqTcCCCCAQDsFqHUjBQjoGtmsVAoBBBBAAAEE2iRAQNem1qauCLgRIBcEEEAAAccCBHSOwckOAQQQQAABBBAoWyDMgK5sBdJDAAEEEEAAAQQCFiCgC7jxKDoCCCCAwGAB9iLQFgECura0NPVEAAEEEEAAgcYKENA1tmmpmBsBckEAAQQQQKB+AQK6+tuAEiCAAAIIIIBA0wUqrh8BXcXAJI8AAggggAACCFQtQEBXtTDpI4AAAm4EyAUBBFosQEDX4san6ggggAACCCDQDAECuma0o5takAsCCCCAAAIIeClAQOdls1AoBBBAAAEEwhWg5O4FCOjcm5MjAggggAACCCBQqgABXamcJIYAAm4EyAUBBBBAwBYgoLM1WEYAAQQQQAABBAIUIKDr02hsRgABBBBAAAEEQhEgoAulpSgnAggggICPApQJAS8ECOi8aAYKgQACCCCAAAIIFBcgoCtux5kIuBEgFwQQQAABBIYIENANAWI3AggggAACCCDgu4ACOt/LSPkQQAABBBBAAAEEBggQ0A3AYRcCCCCAgC3AMgII+CpAQOdry1AuBBBAAAEEEEAgpwABXU4oDnMjQC4IIIAAAgggMLoAAd3oZpyBAAIIIIAAAvUKkHtGgIAuA8IqAggggAACCCAQmgABXWgtRnkRQMCNALkggAACAQkQ0AXUWBQVAQQQQAABBBDoJUBA10vFzTZyQQABBBBAAAEEShEgoCuFkUQQQAABBBCoSoB0ERguQEA33IgjEEAAAQQQQAABrwUI6LxuHgqHgBsBckEAAQQQCFuAgC7s9qP0CCCAAAIIIICAcRTQIY0AAggggAACCCBQlQABXVWypIsAAgggMLoAZyCAQCEBArpCbJyEAAIIIIAAAgj4I0BA509bUBI3AuSCAAIIIIBA4wQI6BrXpFQIAQQQQAABBMYXCCsFArqw2ovSIoAAAggggAACkwQI6CaRsAEBBBBwI0AuCCCAQFkCBHRlSZIOAggggAACCCBQkwABXU3wbrIlFwQQQAABBBBogwABXRtamToigAACCCAwSIB9wQsQ0AXfhFQAAQQQQAABBNouQEDX9lcA9UfAjQC5IIAAAghUKEBAVyEuSSOAAAIIIIAAAi4EmhPQudAiDwQQQAABBBBAwEMBAjoPG4UiIYAAAghUJ0DKCDRRgICuia1KnRBAAAEEEECgVQIEdK1qbirrRoBcEEAAAQQQcCtAQOfWm9wQQAABBBBAAIE5AiX+T0BXIiZJIYAAAggggAACdQgQ0NWhTp4IIICAGwFyQQCBlggQ0LWkoakmAggggAACCDRXgICuuW3rpmbkggACCCCAAAK1CxDQ1d4EFAABBBBAAIHmC1DDagUI6Kr1JXUEEEAAAQQQQKByAQK6yonJAAEE3AiQCwIIINBeAQK69rY9NUcAAQQQQACBhggQ0I3QkByKAAIIIIAAAgj4KEBA52OrUCYEEEAAgZAFKDsCzgUI6JyTkyECCCCAAAIIIFCuAAFduZ6khoAbAXJBAAEEEEDAEiCgszBYRAABBBBAAAEEQhToF9CFWBfKjAACCCCAAAIItFKAgK6VzU6lEUAAgbIESAcBBHwQIKDzoRUoAwIIIIAAAgggMIYAAd0YeJzqRoBcEEAAAQQQQGCwAAHdYB/2IoAAAggggEAYAq0uJQFdq5ufyiOAAAIIIIBAEwQI6JrQitQBAQTcCJALAggg4KkAAZ2nDUOxEEAAAQQQQACBvAIEdHml3BxHLggggAACCCCAwMgCBHQjk3ECAggggAACdQuQPwJpAQK6tAdrCCCAAAIIIIBAcAIEdME1GQVGwI0AuSCAAAIIhCNAQBdOW1FSBBBAAAEEEECgp0CNAV3P8rARAQQQQAABBBBAYEQBAroRwTgcAQQQQMCxANkhgMBQAQK6oUQcgAACCCCAAAII+C1AQOd3+1A6NwLkggACCCCAQNACBHRBNx+FRwABBBBAAAF3Av7mREDnb9tQMgQQQAABBBBAIJcAAV0uJg5CAAEE3AiQCwIIIFBEgICuiBrnIIAAAggggAACHgkQ0HnUGG6KQi4IIIAAAggg0DQBArqmtSj1QQABBBBAoAwB0ghKgIAuqOaisAgggAACCCCAwGQBArrJJmxBAAE3AuSCAAIIIFCSAAFdSZAkgwACCCCAAAII1CXQ7ICuLlXyRQABBBBAAAEEHAoQ0DnEJisEEEAAAT8FKBUCoQsQ0IXegpQfAQQQQAABBFovQEDX+pcAAG4EyAUBBBBAAIHqBAjoqrMlZQQQQAABBBBAYDSBgkcT0BWE4zQEEEAAAQQQQMAXAQI6X1qCciCAAAJuBMgFAQQaKEBA18BGpUoIIIAAAggg0C4BArp2tbeb2pILAggggAACCDgVIKBzyk1mCCCAAAIIIJAI8FyeAAFdeZakhAACCCCAAAII1CJAQFcLO5kigIAbAXJBAAEE2iFAQNeOdqaWCCCAAAIIINBgAQK6MRuX0xFAAAEEEEAAgboFCOjqbgHyRwABBBBogwB1RKBSAQK6SnlJHAEEEEAAAQQQqF6AgK56Y3JAwI0AuSCAAAIItFaAgK61TU/FEUAAAQQQQKApAqMEdE2pM/VAAAEEEEAAAQQaJUBA16jmpDIIIICADwKUAQEEXAsQ0LkWJz8EEEAAAQQQQKBkAQK6kkFJzo0AuSCAAAIIIIDAXAECurkWLCGAAAIIIIBAswRaUxsCutY0NRVFAAEEEEAAgaYKENA1tWWpFwIIuBEgFwQQQMADAQI6DxqBIiCAAAIIIIAAAuMIENCNo+fmXHJBAAEEEEAAAQQGChDQDeRhJwIIIIAAAqEIUM42CxDQtbn1qTsCCCCAAAIINEKAgK4RzUglEHAjQC4IIIAAAn4KEND52S6UCgEEEEAAAQQQyC3gWUCXu9wciAACCCCAAAIIIPCiAAHdixA8IYAAAggEJEBREUAgJUBAl+JgBQEEEEAAAQQQCE+AgC68NqPEbgTIBQEEEEAAgWAECOiCaSoKigACCCCAAAL+CfhRIgI6P9qBUiCAAAIIIIAAAoUFCOgK03EiAggg4EaAXBBAAIFhAgR0w4TYjwACCCCAAAIIeC5AQOd5A7kpHrkggAACCCCAQMgCBHQhtx5lRwABBBBAwKUAeXkrQEDnbdNQMAQQQAABBBBAIJ8AAV0+J45CAAE3AuSCAAIIIFBAgICuABqnIIAAAggggAACPgm0L6DzSZ+yIIAAAggggAACJQgQ0JWASBIIIIAAAs0ToEYIhCRAQBdSa1FWBBBAAAEEEECghwABXQ8UNiHgRoBcEEAAAQQQKEeAgK4cR1JBAAEEEEAAAQSqEciRKgFdDiQOQQABBBBAAAEEfBYgoPO5dSgbAggg4EaAXBBAIHABArrAG5DiI4AAAggggAACBHS8BtwIkAsCCCCAAAIIVCZAQFcZLQkjgAACCCCAwKgCHF9MgICumBtnIYAAAggggAAC3ggQ0HnTFBQEAQTcCJALAggg0DwBArrmtSk1QgABBBBAAIGWCRDQVdDgJIkAAggggAACCLgUIKBzqU1eCCCAAAIIzBVgCYHSBAjoSqMkIQQQQAABBBBAoB4BArp63MkVATcC5IIAAggg0AoBArpWNDOVRAABBBBAAIEmC4wb0DXZhrohgAACCCCAAAJBCBDQBdFMFBIBBBAIXYDyI4BAlQIEdFXqkjYCCCCAAAIIIOBAgIDOATJZuBEgl8YIrNypyaGdx5TOo+4fleGwTiFUps4TPwgggICfAgR0frYLpUKgzQJ3dCq/ducxq/M4uPNYsPNw/aNA7pBOprM7jzU7D5Wp88QPAgg0QKCRVSCga2SzUikEghc4qFPVVYfBAAAQAElEQVSDhToPPSuoOrCz7CKwUx7KU8FkkqeCyk72/CCAAAL+ChDQ+ds2lAyBNgvc2Kn8pZ2HfpLeMgVZX+hsUNDVeSr1R2kqbQWPCuAUTCqDSzr/qSydpxF+OBQBBBBwLEBA5xic7BBAILeAAiv74Fd3VnQ92/2d5/06j1d2HuP+KA31xClNpa3g0U4zWwZ7H8sIIICANwIEdN40xUgF4WAE2iBwQ6eSV3Qe2R/1nh3R2ageu307zwrKOk8j/egcBYXqkdO1ckozm4B6COmdy6qwjgACXgoQ0HnZLBQKAQReFFDv2YuLk54W7mw5svNQYLd35/kVncewnySQ0zkKCl8z4ARdSzdgN7sQCEGAMrZFgICuLS1NPREIU+D6TrGv7DwG/SiwO7pzgIK0vTrPvQI7bduns+++zkOBnM7pLPb9oXeuLw07EEDARwECOh9bhTIhEJCAg6IO6qWzs1+0s3JM56HArvOU+tHQ6lGdLYt0Hnl+6J3Lo8QxCCDgjQABnTdNQUEQQKCPwHWd7b2upets7vmjwC67I28gp/O4s1UKPBBAICiBAAK6oDwpLAIIVCOgKUWqSXlyqtzZOtmELQgg4LkAAZ3nDUTxEEAgFtDdplfFS9X+x7Vz1fpWmzqpI9BiAQK6Fjc+VUcgMAF9v2vVRebauaqFSR8BBCoRIKCrhJVEGypAteoVmNnJ/prOo6ofrp2rSpZ0EUCgcgECusqJyQABBEoUqLIHjWvnSmwokkKg3QLua09A596cHBFAoLiArqPT9XTFU+h95uWdzVWk20mWHwQQQKB6AQK66o3JAQEEyhXYv9zk4tQOiP8P6D+KigACCNgCBHS2BssIIBCCgL45oszeNHrnQmh1yogAAgMFCOgG8rR5J3VHwGuBMnvUykzLazQKhwACzRUgoGtu21IzBJosUFavmr6BoszeviabUzcEeguw1QsBAjovmoFCIIBAAYG83/E6KGmX30AxqBzsQwABBMYSIKAbi4+TEUDAgUC/LC7r7Bind43euQ4gPwgg0AwBArpmtCO1QKCtAuPMS0fvXFtfNdQbgQYKENCpUXkggECoApd2Cl6kl67sO2U7xeAHAQQQqE+AgK4+e3JGAIFyBIp8w0MVc9mVUxtS8VqAwiHgqwABna8tQ7kQQCCvgL6D9Za8B3eOo3eug8APAgg0S4CArlntSW2CF6ACBQX2G+E8eudGwOJQBBAIQ4CALox2opQIIDBY4OLO7jy9dFV9F2wne34QQAABhwKZrAjoMiCsIoBAsAJ5et64szXY5qXgCCAwSICAbpAO+xBAICSBizqFHdRLp9656zvH8JNPgKMQQCAgAQK6gBqLoiKAwFCBQd/LOsp1dkMz4gAEEEDAJwECOp9ao21lob4IlC9wYSfJmzqP7A93tmZFWEcAgUYJENA1qjmpDAIIdAQO6TyyP4N67rLHso4AAp4JUJzhAgR0w404AgEEwhK4oFNcu5eOa+c6IPwggECzBQjomt2+1A6BtgrYd7PmuHaurUzUGwEEmiLgc0D3QgeZhzEYYMBrYPTXgOal6/wJiX9u6PyP4eiGmGHGa2DOa6DzJ8T/H58DOv/1RighhyKAAAIIIIAAAlUJENBVJUu6CCCAAAIIjC7AGQgUEiCgK8TGSQgggAACCCCAgD8CwQR0L7zwguGBAa+BEl4D/C7xt4TXAK8BXgN9XwP+hGijlSSYgG60anE0AggggAACCCDQHoEqArr26FFTBBBAAAEEEEDAAwECOg8agSIggAAC7RSg1gggUJYAAV1ZkqSDAAIIIIAAAgjUJEBAVxM82boRIBcEEEAAAQTaIEBA14ZWpo4IIIAAAgggMEgg+H0EdME3IRVAAAEEEEAAgbYLENC1/RVA/RFAwI0AuSCAAAIVChDQVYhL0ggggAACCCCAgAsBAjoXym7yIBcEEEAAAQQQaKkAAV1LG55qI4AAAgi0VYB6N1GAgK6JrUqdEEAAAQQQQKBVAgR0rWpuKouAGwFyQQABBBBwK0BA59ab3BBAAAEEEEAAgdIFAg3oSncgQQQQQAABBBBAIFgBArpgm46CI4AAAggMFeAABFoiQEDXkoammggggAACCCDQXAECuua2LTVzI0AuCCCAAAII1C5AQFd7E1AABBBAAAEEEGi+QLU1JKCr1pfUEUAAAQQQQACBygUI6ConJgMEEEDAjQC5IIBAewUI6Nrb9tQcAQQQQAABBBoiQEDXkIZ0Uw1yQQABBBBAAAEfBQjofGwVyoQAAggggEDIApTduQABnXNyMkQAAQQQQAABBMoVIKAr15PUEEDAjQC5IIAAAghYAgR0FgaLCCCAAAIIIIBAiAIEdP1aje0IIIAAAggggEAgAgR0gTQUxUQAAQQQ8FOAUiHggwABnQ+tQBkQQAABBBBAAIExBAjoxsDjVATcCJALAggggAACgwUI6Ab7sBcBBBBAAAEEEPBeIA7ovC8lBUQAAQQQQAABBBDoK0BA15eGHQgggAACGQFWEUDAUwECOk8bhmIhgAACCCCAAAJ5BQjo8kpxnBsBckEAAQQQQACBkQUI6EYm4wQEEEAAAQQQqFuA/NMCBHRpD9YQQAABBBBAAIHgBAjogmsyCowAAm4EyAUBBBAIR4CALpy2oqQIIIAAAggggEBPAQK6nixuNpILAggggAACCCBQhgABXRmKpIEAAggggEB1AqSMwFABArqhRByAAAIIIIAAAgj4LUBA53f7UDoE3AiQCwIIIIBA0AIEdEE3H4VHAAEEEEAAAQSMcRXQYY0AAggggAACCCBQkQABXUWwJIsAAgggUESAcxBAoIgAAV0RNc5BAAEEEEAAAQQ8EiCg86gxKIobAXJBAAEEEECgaQIEdE1rUeqDAAIIIIAAAmUIBJUGAV1QzUVhEUAAAQQQQACByQIEdJNN2IIAAgi4ESAXBBBAoCQBArqSIEkGAQQQQAABBBCoS4CAri55N/mSCwIIIIAAAgi0QICArgWNTBURQAABBBAYLMDe0AUI6EJvQcqPAAIIIIAAAq0XIKBr/UsAAATcCJALAggggEB1AgR01dmSMgIIIIAAAggg4ESgQQGdEy8yQQABBBBAAAEEvBMgoPOuSSgQAggggEClAiSOQAMFCOga2KhUCQEEEEAAAQTaJUBA1672prZuBMgFAQQQQAABpwIEdE65yQwBBBBAAAEEEEgEynsmoCvPkpQQQAABBBBAAIFaBAjoamEnUwQQQMCNALkggEA7BAjo2tHO1BIBBBBAAAEEGixAQNfgxnVTNXJBAAEEEEAAgboFCOjqbgHyRwABBBBAoA0C1LFSAQK6SnlJHAEEEEAAAQQQqF6AgK56Y3JAAAE3AuSCAAIItFaAgK61TU/FEUAAAQQQQKApAgR0o7QkxyKAAAIIIIAAAh4KENB52CgUCQEEEEAgbAFKj4BrAQI61+LkhwACCCCAAAIIlCxAQFcyKMkh4EaAXBBAAAEEEJgrQEA314IlBBBAAAEEEEAgSIG+AV2QtaHQCCCAAAIIIIBACwUI6FrY6FQZAQQQKFGApBBAwAMBAjoPGoEiIIAAAggggAAC4wgQ0I2jx7luBMgFAQQQQAABBAYKENAN5GEnAggggAACCIQi0OZyEtC1ufWpOwIIIIAAAgg0QoCArhHNSCUQQMCNALkggAACfgoQ0PnZLpQKAQQQQAABBBDILUBAl5vKzYHkggACCCCAAAIIjCpAQDeqGMcjgAACCCBQvwAlQCAlQECX4mAFAQQQQAABBBAIT4CALrw2o8QIuBEgFwQQQACBYAQI6IJpKgqKAAIIIIAAAgj0FqgzoOtdIrYigAACCCCAAAIIjCRAQDcSFwcjgAACCLgXIEcEEBgmQEA3TIj9CCCAAAIIIICA5wIEdJ43EMVzI0AuCCCAAAIIhCxAQBdy61F2BBBAAAEEEHAp4G1eBHTeNg0FQwABBBBAAAEE8gkQ0OVz4igEEEDAjQC5IIAAAgUECOgKoHEKAggggAACCCDgkwABnU+t4aYs5IIAAggggAACDRNoRUB39NFHmyiKCj1e9rKXmeWXX95MmzbNXHzxxea5555r2EuA6iCAQJkCO+yww9C/NfqbZOd5/vnnp86ZOnWqeeaZZ7qHPPTQQ+b1r3996pgoSv9NW2CBBczNN9/cPWechVmzZsV/96Jobh7zzDOPOfPMM8dJNj73X//6l9l5551TdXn5y19urrnmmnj/qP8pvRtvvNF89rOfNauuuqp55StfmUpb6yuuuKLZfffdzeWXXz7233AZyzqK5tpE0ejL8847r1lqqaXMe9/7XnPQQQeZ3//+9+b5558ftfojHa/XlF5bUTS3vHrt9U+k+J5eeUXR3HyjaM6ynX+vc+z9Kk0ef/2u6HdGx7fp0YqAbpwG1R+Le++910yfPt1sttlmZsEFFzTHHHOM+cc//jFOspyLAAIIeCuw7LLLxn/nFMQlhXzhhRfMrrvuan73u98lm0Z+VhrHH3+8Oemkk1LnHnbYYWb99ddPbRu2ojfs//u//zMLLbSQWXfddY3S/c1vfmP+/ve/p07V+p133mm++tWvmo022sgoGNtxxx3NfffdlzrO9cp//vMf8+CDD5orrrjCHHrooWbllVc2K6ywgrnyyiuNnFyXh/zCFyCgG7ENFeDts88+ZpNNNjEPP/zwiGdzOAII2AIs+yvwgQ98wCjwsUv4+OOPxz1dTz/9tL059/Ivf/lLc8ghh6SOV5D1qU99Ku5VS+3os6IP0/pQrV6YL3/5yyN/uFYg9b3vfc+84Q1vMLvtttukALBPtk4233PPPeY973mPUb0I6pyQNyoTArqCzanhge22284U/cNWMFtOQwCBwATe/va3m5122in1eNvb3jZSLeaff36zzTbbpNLYdtttjS4JGSmhEQ5+6Utfag4//HDzlre8JXWWepS+/e1vj9yLNHv2bPPxj3/cPPvss930FFR95zvfiYdJuxsHLOhD9Oabb270oVofrvsd+trXvtYsvfTS5nWve52xexmzx3/ta18za6yxRjzcmd03yvqrX/3qOD/lmeeh8g1Kf++99zbnnnvuoEOC3KfgPfu7IK9RKrPwwgubT3ziE6nfhYmJidwfCEbJK7RjGx7Q9W6OZZZZxvz5z3+O/yDpU1C/xz//+c+4F+6yyy6L/xBlU9Mftm9961vZzawjgAACXYEPf/jDRkGL/dDlG90DcixMmTLFHHXUUal0jjvuOLPEEkvkOLv4IYsttpg58cQTJwWO6mVTb1velNWrpuHaP/7xj91TFGipp03Du92NAxYUEOp6M/3dzR626KKLGl2XqCFM9cDp7/v9999vHnjggfi6NPUsfv/734+vC8ye+4c//MG8613vMjfddFN2V+716dOnG+WX96HyqZwa9t1zzz2Ngmc7M+3TNX/ab28Pffkzn/lM6jWs3wld9zhKvfR6OeGEE1LpfOELXzD60DNKeFI63wAAEABJREFUOk08tpUBXd6G1C/Z4osvHl+0euqpp5rrrrvOTOn8YbXP1ye8pv3S2fVjGQEEqhdQr5P9wXLmzJm5e62qLp2ubTv44INT2aiXTcOxjz76aGp7rxXVS38nL7jggtRuvblvueWWqW39VjQSovyy1++94hWvMKeddlp8LZp6tZZccsmePTXq1Zk2bZrRtXQXXXSRWWSRRVJZKeDbttPjObvTi5jaUeFKFEVGwYmGV3Xtn3or7ewUnCpQtLc1fVk3sOi1r9dM8tDvRtPrXVb9COhGkFxvvfXMF7/4xdQZ+qW7/vrrU9tYQQABBJoiEEWR0TVuurbLrpOCK/WMDBr61PG6S3HffffVYvehtNTLF0VRd1u/BaW/1157xTcP2MdoqFRl0KUv+vBt7+u3rDtLN910U3PbbbeZd77znanD1HuooFHBY2qHg5WVVlrJnHLKKZN6QjWzQh3lcVBlsqhAgIBuRFR9WtDFuPZpV111lb3KMgK9BNiGQLACupP0yCOPnDRC8d3vftf89Kc/7Vsv9Xh97nOfMxpCTA7SKIfSUprJtkHP6lFTPvYxCsYUKKqHy96ed1lD1TpfgaV9joZzTz75ZHuTs2Xdqav3FztDBZkanrW3sYxAPwECun4yfbar6z57kfCsWbO8ulOqT9HZjAACCBQWWGuttYx65OwEFKhpqFN/A+3tWlbPknq8FJRoXY8oioyuO1ZaWh/2UBoK/pRPcqwCQl1DpaAs2VbkWQGl0skOv2r6kzouo3nJS15i1lxzzVRVNO+phrdTG1lpgUCxKhLQjeg233zzTbr+4t///nd8g0W/pLITjeri3X7Hjro9O8mieg81P5OdTp7JGu3js8ujnK9PvVEUxdexRFFkpk5NT5CaTdte19DK1ltv3T03iqJ4zijV0T5u0LLSuPTSS820adOMLKJobll0gfdWW21lVEYdNygde5/aK4rmphNFxZc1B1a/+mTz0evGLseg5SeeeMLoTTKK5pZN9bdfC8pX+UfR3GOiqPiy0lKaSblGeZ0k59T1rOtzFIR86Utfiq+R1WsjitIW2qaL8NU7JN8qy6rXZBTNzX/qCL83VZYrm7am+dBNHvZ2zdOp6+F040OyXb66E1Y9Xsk2PevuxLzXzen4G264wWRvvvj85z9vVlttNe0e+6EP5+pBtBPSZTQXXnihvak1ywpkP/3pT8d3B0fRnNej7qReZ511jILfqn8PQvob4uOLYh4fC+VzmRS8aaJKu4x649TFnPY2lkcXmDlzpjnnnHNGP7FzhmZY/9GPfhT/IdIcgbqYWHecdXZ1fx577LE4fc2vpekMdJG23ni6BwS8cNZZZ5lf/epXAdfATdHV3ldffbVZffXVzXLLLWf0Zq6gQ6+NbAm0TfsUhKgXR0HLX//61+xhQa4XLbSuVdOdqdkL+PW7pN+5JF0FqNnr5hQ8aRoUpZEcN+hZf2uVptosOU6/t/rQl6yX8azpX974xjemkvrBD35Qy5RUdb2+FIzrOkW16ze/+c14FogERB9+f/GLX5g99tjD6EOOnrPvgcmxPNcrQEA3or8+oehCXPs03Sxhr7M8uoBc999//9S1NnlT+ctf/mLe9773Gf1h1ptwnvN0nK5X0YXZ+oOV5xxfj7n77rvjmeZ9LZ8v5VI7601rgw02MLfeeuvIxfr6179u9Luu68JGPrlBJyy77ORvkVD1DjjggPhbJDRViOaJyw6TajJfBQQ6Ns/jT3/606SvA9O1c6POWzYsL6WXnUbmlltuMXfcccewU0vdr7+BmiLLTlTDyvp6MHtb2ctPPfWUUa+ppsEZlrbaVD11Uzs9yGrnYcez360AAd2I3vqF07xFyWn6xLjxxhsnqzzHAqP/V7SHSdfY6BO7hlmzuWpIcIsttognoNQxvd5MFNDpK4Gy5w5aV2+NhnSzE2T2WleQqSGLQemNs0+9Fwo07KHVfunp+k/1NvUqp7ZNTEzEw93J+VEUGW3Tvl4PpaU0k+N9fpaTro3SEGu2nHqdrL322vHrRPXcfvvte85XpvP0YU5fU6XeI6239aFebl0fZ9dfU3/oGruDDjrI2H8jdYx667LXh2n7oIe+NSF7Q4ACCV1rNui8IvtUnyiKuqdqDtLf/va33fWqF/T61NB+tpdd8+P1+rtVZnnU46a7ae00dQdx8rugqWDsfVrWnH3Tpk2rpRdT+fPoLUBA19ul59bLL7/caNjF3qnrDfSJ1d7G8mgCRXuY9Kaq62k0LGbnuPzyyxsFeAr2ZsyYEU9AeeaZZ8bDCOedd178fbz28ZqwVW/U9rZByxo60rxamhRz2EOfevUpe1B64+y79tpr44lf86Sh16k+Xfcrs96M7ck5taxt/Y5XWkozT951H/PrX/960ldOqWcmeZ3ceOON8etEddUwn16Tev2opylbdl0WkA1Yssc0fV3DpgceeKBZccUVU1XV75t64uyNuuZOk+dG0dyAyd7fb1kBlQKdZL8COf3uJetlPmuoUXOO2mm6mo5Kl4voQ6WCXjt/fRDceeedUx+y7P1lLWuEI0nrk5/8ZBykKbBMfhfUE6cey2xb6++ugne7jZJ0Rnrm4NIECOgGUOoXTRNn6tOLuuT1tSXqnk5O0S3vmp8pikb7Q5Wcz7Mx+mOQt4cp66U/Otk3jw033DC+iFptpTmn7HO0rh4n9bJOmTKlu0s9C5oNX2XpbgxgQde96Hom9SYEUNzaiqh21bcE2HcL6quXrrzyStPrdZIUdMEFF4znndS5yTY962+AJoLVcpsfGgpUIKJvfOjn8KY3vckce+yxk74Jod/x9vbskKd6xnv1FtnnFF3WN01kr6PT0Lou0i+a5qDz9Bq6/fbbje7gXWGFFeLr0zScaZ+jnmDdjGBvq3JZN2V94xvfmPSBN4ois+qqq8YT6+vvq12Gk046yejDkr2N5foEWhnQ6WJ5/WH4/+ydS8wlQxuAuzbYSMTKSsbGwjVYEEMyYyESFm6JuCUzNiSEIEHYIJGxITaEFXEnyIjERCRCZGKDjYRkEsxyxMLCxvL3nF99X52aPud0n9P383yZnlNdXdenuqvfeuut6hDCbPQTQvkvI0JGbQhzCHVpM6Fu/vTTTwuWvqf+uusRyDVMl112WaVPuPCSfuedd4pUmGGUjYB35plnLi0Eq0HR7KWB0Cyw6jH1G7obTRHG6LGc2IZFt7+7BLBNyveKfPLJJ4v8Bb4bY9cVQiiYtmcKate3KHjZp+fb6mYVMAsdyuqPoIeAwKKxsuvL/NC+I/SkYdBYoTVO/Zpyo3FEgE/Tw86WbUNSv0XuOGUbQvm7JIR5f779euGFFxbYDTO1nKd73333FetoNfN0qp4zvboqP/pVtHYMhmK6DJIY8NAfRz9/+yOwlQLdJrjR8qBRYvNJbG82SavPuH2tpkrrnGuY6ChYdRhCSIOVurGtSYUZAjE9sWfPHpwrD2zqsH+MAdmqYEzTaGiOmSqO5cc+qc42JzHeNvwiWNx+++0zwYw2R8BgEU3VuvPyPe+88+aC8wmpOY8tPQkhFAgfbIqbI7jnnnuKa665JveudI4gheY8Dcyq5NNPPz31asxdth0V2jkW0vyXSSc/CKyYc/COQcjsIlOeCaZ7q+THIIh+Ni0XU6/0R6mf7n4IKNDV5M407AMPPFAwYmf7g7GOTLCLqFn1xoOzw3y63xM2OUzRVMnol19+KdC0xrBnnHFGcf3118fTlb/YT+3du7dAiEQDQ95VhcGVibccgHsOA+po94fA8txzz520P2LLxRhN8mgWsAVEC8t9jyYWbe5oKjDwgrJxMM9jXsw333yz6MoOLc97bOdMu2Jve+LEiYL3C4qDruqAGUqdvo/dAfiGbiwf9qbcA/Hc3/4IKNCtyZ5tD5jiYhuErkdxdYvMHnloJdJ4fT+AjOiwEUE4oVxomDCexl3lyA2mL7jggtlGwlXiEobp9LhQghc9q135niLXejlqZIpt0YsvvrgT45Zbbin27du3c65DAl0R4DlGE5dPj5I/5hBocxCiOZ/ygRaXQWLZwbWyuiNEff7558Xff/89WxX86KOPnmS/VhavaT+0qCGsnhWJ+TIYSjXWTI/nmz/HsP52S2ArBbqzzz57tuIRYWLVwcPGiP6tt9466bMsNBXbIGBDQjqcD/W4+OKL54p29OjR4o8//pjz6+oEVmUapjpbYORG6bQpgmtXdegrHwYPjOTjdBSG4qw0qzJd0keZl9kWoYVgGu3OO+8s2LaGVaV9lLEsT+5RpvXZYJaNqvktC7fNftyLaD6jpriMBWYMzz77bEHYsuuL/EIIBYOu9DqzI7RL6teUG6Ek3yyX/NF+V8mDldHMGJQdrCLleWXQmD6nvFf4cg2mI23Va1XZ0bTlg/1VcZj2zuMwyFwVz+vNEViU0lYKdItglPkjJHDz3nXXXQW7ZbMQgocgDYtAx5Ymqd8yNwb5IYSFCzJYsIGxMcIim2suS6vqNbSJabnpaNkItG5HWzW/ZeF4+FMNE/t+1dEw0fnRAad5YHsSQki9JunmaxpMZcXKPfLII0U6Wo7+Y/hlVR8vtXfffbfAppFpc7YF6tK+EzsptNVoaVkxfNttt800vbzIsS26++67Z1vgUNbCvzkCn3zySYEtcerJlkFpP8M1Bm+YV+CuemCfDP80PMIS7ZX6NeXGnjcf4KJtoxxN5MFgFbMONFmkG9NkUQH2nQh7ffTFaA9Z+BfLU+UXQTfn0kfZq5R128Io0NVo8RBCgcaBFyodfoxKZ4/wRacQ/Tb5ZZNYDE1ZIIDmCYNjhKBN0uSlj2o9TYMl52wOu+gFSufJ6l42EP3222/TqGu7efBzDRP1TEeuqxJnJM0ihjRcVdu7NM7Y3GiwmKbmfqPs7MlF24QwHUEWY3CmzzFpoI5NHwwGeJYOHjxYMFhD23DuuecWN910U8Gecx9++OGcbWbT+Y8jvdWlZF8yFkPAM4ZGW4xgzCAj+vHL/frYY48VCO+cVz3os9Kwf/31V8EUb+rXlJtn6/fff59LDoEyF1zmAqxxwvYfH330UcHgJY2OQMfG1ynP9HpbbrTkHHXTx+avbhzDt09AgW4Nxgh12C2lUTH+PXbsWOrVmJtNT3l5o0Fg2mGdhNFgoZHLOxKEU0Zp7JSPvQsH2kEMyXnZsWULLzk65XXyzeNMScOU163tc75VGwXrEEJBe7a9i/ymdWKfN7ZEKDvYx5H9v/I80EoTb9lUXh6nyjm2XDy3PEtvvPFGwcCgSjyemXxLiyrxphoG4Qfb4dxujpkHhHG+PIBNbFr/3377bbYpe51BL1sYhbA7WMH8hb3b0nSbcjNjwRR7ml6ef3ptEzfbJrGSNU+DlaZoPXP/IZ5XfXaGWPYpl0mBbo3WRZvEysg0Kp0NUwKp3yI3HUXZCw4/0mXlZVlcNAgvvfRS2aVKfnQkTH9Q/jQCwhpTAWjsONAOMhpOwzTh5kWAhon8SF/3gNcAABAASURBVI8X6zoaprItBpg2I82pHsePH59t0Brrx4peBhbxfKi/TKGyd1XZgZkCGhfsi9ihPq0Dfmgt0Oim/uu60fhdeeWVBV8KWZZGHNwgsGCwTjl4FlgJuCzetlxDg4SGnT4irTMC+L333jvzYnoRTSuC8Mzjv/+wFXvllVf+O1v9wyIlZijSkKSRm1uk19d1s08hdYvxmVakv4znTf8ytX/gwIG5ZOkXEeq63OMQBQHHXEEqnDA4qhDMIB0TUKBbE3jZiJ2pnCrJsZqz7AWH3+HDh2cLNlghxkKM3B4FtXw+NVAlzxjm5ptvnu34ja1L9Fv1i0o+nWJeFX7R9aY0THS2+VQII/+0Q15UhjH6Uy8EebQclJ97AmN0tK6cj/1AAOAzYgxo0rqwpQ2rmVO/ddwMJB588MECzV8aH+0gU4G8zBHceKFiwI5GHG042mnKlsbZdjcaJL5ukHJgAIqgxhR29EdDh3ASz+Mv9sYMHuP5sl9suzA3ScN88803tadu0/hlbmznqFd6jUE3G/+mfk26GVSzmIkVo2m6DEyffvrp2otI0jTquBmsUP86cRCocw0dXw2pk0aNsAatQUCBrgasLoPywLMQgynRVJjCdozvT25SFjpb9o3CUJkVfKlwRF7YjqApfPXVVwv2GGKn/auvvnqTLGedMJ8AiolsqmHKbTjQjmLzF9Ov8vvZZ5/N7Kj4RiGb8vKVCTqrKnG7DMMLEM1pzBPBp03tQcyny1/ud4SuVKuDwThTYZuW48iRI0Wcqo5poU1CE8Lnjvbt21cguIWwO70Xw/m7SwBeCGkIvtGX/oLpQzacjX78hhAKPouI5o7zeDBNi80sQnb0W/TLwI3nMoTddsG+mBWlDHIWxavrj9Y2v8+wqWz7K0B79uw56fvClJ0+n3sWd9sHzxha8jr50Ia8P9I4ub1jek13dwQU6NZkXbaQoI2bGoErF6b4humaxd6JxguUDSJZ9IAgRAfJgfoddTqaQl56aPLQ0O1EXMPBC6BpDdMll1wyVxK0o5R7znPFCZoYRprs+k8nyhTbiiidX0bziFaDjpfMGdFjoxTC7ksO/ykcrCbHBiutS902TePiRkDHCB13PBjQsBHzTMMZPZf8Yk4RtaNLgk36EvchG96iQUoris0tg7/UL7rR2KG5Q4MX/fhFuGbalv6G82UHq/OvvfbauSCskGeQM+e55gkDVrZVSaMzoGXVderXlhubzhtuuGEuefpLPk1XV9CaS6TGCZ9frBG84B6AW4zDjAGD4njub38EFOjWYM9LAluONCo3NduNpH5NuOkUedGlaTVlV5Sm2ab7xx9/LJrWMNGB0PHGcjNVltv1xGtlv2gI8vBoE9AKlIXvy4+ROlOPMX9suxjZx/Mp/YYQik0HD0X2hzCGZin1vuKKK2YaudRvmZv4bRnjL8t3KNcQvNDC5X0egjGDjWXPDJo7zERCmB+AMG2LDeWqOiJ0s+EumsAYlsEN28nQLtFvnV/6AFbqovVL42P3ec4556RerbmpHwJlqpkmMxYEYe8Me87bPOgHYVElD8qTf0ObqWnauUp8w7RLQIFuDb7Y3LDyM4264KZOg6zl/ueffwrse9LIaNfS8yG70f6x/xKdMOVsSsPEXk655pIXB4sHyGfVQSeWjvLpUPkU2Kp4XGd7BhZm4G7zYHoddnSi5EN92bMK9xQPNBJoS9O6bWqbg8Y53nsx3fw8+pf9Mnjihcs0U9n1bfDjOXnmmWfmqsrzwsIHpqrnLpScYLfL9kjpJbRQ999/f1FFKNu/f3+BJjCNj5aIbZjyqb80zDI3n9hihoJ+IA3HymuEvNSvbTdbmaD9zPPBjpPFPLl/0+fsr4p9c5V0uRdef/31uaCYBrU9PT2XoScLCSjQLURTfuG7774r7rjjjoIOKQ3BiqU2bmq2Q8lHsoyM07yH7P7hhx/m7Jea0jChFcDm6pRTTtmpPtNivDhWjTaZLmCLhSgokQBTH2j9cK86sDkk/1XhNr3Oy4aROumgoWCbkjbuMdLv+0DwQovLizaWBa131TaJcfJfNCD5lB8DsiqCP9OMaGv4ikWeLlr69P7Jr0/lnClv+rZcCMaWrmo/xACUgUnelghlTH0jNC/jxbP2/PPPFwhbaTied76pzcbU3D/ptUVu2uyrr74qsEFl6jcNh5CK5rDrZyyEMNvS5fzzz0+LUzCIOHToUCcLJGhP3jVzBchO6DfRjKb3Apq5RVPuWXRPOyCgQLcCMh0AiwKwNWPVG1sf5BozOjZWrq5IqtZlhBI6seuuu65gxWuMzDRjblMSrw39t2kNE1Nn+XYXCEH79u0rWB1J26VM6PRpR1bO8TKJ19C4Pfzwwyd9aojrvGywtcPd51H3axp9lrVO3rQRLwqeH+73NC4amE3tUhG+r7rqqjTZAkEAo3fsLucu/HdCm2NDitb9tdde+893/gftKfaX877TOoMD2sl8wQBtxfMSwvw06rLao2llFX86ACM8X5rIV5jinx8IWewdiACXXkO44NNxaP5pK/aS455Kw+CmD0cwv/TSS2eCYb7iGWEO0wYEPcJ3fbCfJAO2EOaZYv9Zhc+m5UV4pN9kmpd2T9Nb1G+GEAqm3JktScPr7o/AVgp0rIjE3i2EsPDzWyH8/xqaEV74CHMIA3lT0RFUnXqIcelYmEIoOxBS2NSXdBk15Q8XHWlX9h2xvE38wpEOi465ifRII4QwWyWWj9yZpuDbtWeddVbBfk9wvvHGGwvyph1TgZxysZqXPfFIE83NQw89NJviYY889sLi5c61eJB2dHfxy/3HykA0HZvk10dcbK/gnx+sXkRjc+qppxZ85YOVhmn5uP+5X9Cwpf7ruJkSyrV03CO0OQOkeI/Q3hdddFHBdDoC36+//rqTHZqIEMLOOS+5MsFhJ8AEHB988MGc7StVoq1Yrb7OvYhgzZYcpBMPGDLdGDXR0b/sF6Hwiy++KJjCza/TpzNVSnvyTNO/s4cdB0IkzxALHWj3PC73IdopBuv5tS7P2VeS1f9pnvBh707MEVL/ptxs3cOUNunxrmGGg0EQ/SXPLM8G7PJ+k/B8EaSsLbjm0Q+BrRTomkLNjf7xxx/P1Pd10mQakumlsgN7BvYGKkuPDotpxrJrQ/c7ePBgsX///saLiZBGG9x6660npU0niK0jnPkGb65RoeNnRJp2Sozk0RoQh21M0pc6GdDmrDzG3dWBMIfw0VV+Tebz5ZdfzoQCeKYHq4qxl+MlkudHu9AGTWlLEMYYdJUJIWh04j1Ce//0009z5hTEYY88hBsWKMWyshckWvR4PrVfbKWYbk7rRbswBZgv0krDLHOH8P+tTPIBGAMsBqrY2y6LzzUGu7QX06xle4EShoOFDmjhOMruMcJwIEzS5zJw47zPg8ELGlEGM2k5EHYZGCHcpf5NuMmTrXtSzSe86C95XmGN9i7PCyGTe4HnI7/meX8EGhTo+qtE1zlzE/OS5WXPtFDb+fPQ8UAveim1nf+m6SME0WFjC7NpWmXxEeref//9YlUnn8ZlmpyX94EDB2Za2vTaIjcvNLQTm04DLkq/zB9BDmG47NoU/dgmBxsnbBqbrB9CO8Il6VdNl3uD6VkGUWh60qklplxZvV01rTGFQ1Bl24z8RY6AB8dN6sKzyjOUCy20DVucVBFaWAnN4iCENQQL+sc6ZeI5Zo88hHn61WWCYZ10mwi7aIEEfX+ZdrGJPKPmk6n0Venx/GDW8tRTTxW8B1eF93q3BBToKvBGLc00G0IJNzOaHjqltjoCOhymDnipMUL6888/C0aSdGQViju4IAi/CCZtFgw2dPKM9tkwGXa0W5on0zBM9R09erRgcUuZYMb0DOzTeHRcTIUwkuclH8Lu1Fsarml3CKFgxI59TdNpDyU92LJJNEITtopo7dh7rI3ykS6rIhfdH3z2C+0R2kHuI1bz8bKjLKzmzDXMb7/9dicG6+Tf1YFAxRcM6OfSPOHCStcQNr/32UPy0KFDafIzN+mjGZydVPiP/pcvprA1zffff18ghNJP045pdKYQ8af/5rln54CXX365yKfh0zh9uUNYvECChSUs1GmjbGg+0ULzDDLNmjKEH7MSPDc8PygxQtj8PmijHtue5lYIdI8//nhBR7XuwdQdoyM2tORm5iVU58aJO5tXzR/7HFaXYRDLqIkHalF+fKIGATOmzTYATXdUTDV9/fXXcwxZ8l9WJvxjWeIv/MvClvnl9aFu+JWFLfOjbSgD7Gi3WAZ+0apgWI2tDAJgWXwM4Y8dOzZXVxalsAdXOi1RFrfMj7agTcifY1l94ESYeLCSuo5GhHrHuPySL/mXlavMD86Uj7gcuPErC1vmV3afkM6yA7YY3TOtefnllze+D11ezmX3B3sZsqIcWzoEuDRuCKFAS5LWhcEW6aXh1nXnbcfzBs9101s3XgihYBPwtJ644YJ2bd1083iYj5BuenC/cQ/kYVed8yxzn7Jiln6adkzTZSoXf/pvbJQ3bTPyoqxpHrTfqnJWvc4Ajn0P0/Rx82WbutrIPE/uKe4t0uNI+4gQQgF/ZjtShvDDfpw6bsouL4/nzRLYCoGuWWSmNgICFlECEpCABCSwVQQU6Laqua2sBCQgAQlIQAK7BKbjUqCbTltaEwlIQAISkMBoCWAPyQryWIEQQrHpNHNMaxt+Fei2oZWtowQk0BsBM5aABKoRYGU1NnsxNMJcukAj+vtbTkCBrpyLvhKQgAQkIAEJdESARRps4s6CjJglm8PHlebRz9/FBBToFrMZyRWLKQEJDJlA2Zdhjhw5UqvIaC6eeOKJ2RdM2MGfg+2ATpw4USsdA0ugTwLs+8e9G4+9e/cWfJ2Fcz7LxtYzafnYXDxfcX78+PEifs2HeBx8gqytLV3S8gzdrUA39BayfBKQwKgJlH0Zhm8N16kUL6v33ntv7qsbbKTNti910jHslhPoufpsIM0XKOLBJ9fY4J1ztpZJi8eeoGwAnW9In37Nh3gchw8fnm01lcbfRrcC3Ta2unWWgAQkIAEJDJQAm+u/8MILBd//HWgRB1ksBbpBNouFksAoCVhoCUhAArUInHbaaTvh2USfr/H8/PPPs68jheAXKXbgVHAo0FWAZBAJSEACVQlU+TIMXwWpmh7h+OIHu/pjOL7o4OsFfMWA8B4S6JtA/lWKRfct5gTxGitc+eQenwNcVH7uce71GKfsl2eFZ2ZRGlP1H5dAN9VWsF4SkIAEJCABCUhgAwIKdBvAM6oEJCABCQyTgKWSwLYRUKDbtha3vhKQgAQkIAEJTI6AAt3kmtQKdUPAXCQgAQlIQALDIaBAN5y2sCQSkIAEJCABCUyNQEf1UaDrCLTZSEACEpCABCQggbYIKNC1RdZ0JSABCXRDwFwkIAEJFAp03gQSkIAEJCABCUhg5AQU6EbegJ0U30wkIAEJSEACEhg0AQW6QTePhZOABCQgAQmMh4Al7Y9rck0GAAAJhUlEQVSAAl1/7M1ZAhKQgAQkIAEJNEJAga4RjCYiAQl0Q8BcJCABCUigjIACXRkV/SQgAQlIQAISkMCICCjQZY3lqQQkIAEJSEACEhgbAQW6sbWY5ZWABCQggSEQsAwSGBQBBbpBNYeFkYAEJCABCUhAAvUJKNDVZ2YMCXRDwFwkIAEJSEACFQko0FUEZTAJSEACEpCABCQwRAKUSYEOCh4SkIAEJCABCUhgxAQU6EbceBZdAhKQQDcEzEUCEhg6AQW6obeQ5ZOABCQgAQlIQAIrCCjQrQDk5W4ImIsEJCABCUhAAusTUKBbn50xJSABCUhAAhLoloC5LSCgQLcAjN4SkIAEJCABCUhgLAQU6MbSUpZTAhLohoC5SEACEhghAQW6ETaaRZaABCQgAQlIQAIpAQW6lEY3bnORgAQkIAEJSEACjRJQoGsUp4lJQAISkIAEmiJgOhKoTkCBrjorQ0pAAhKQgAQkIIFBElCgG2SzWCgJdEPAXCQgAQlIYBoEFOim0Y7WQgISkIAEJCCBLSbQskC3xWStugQkIAEJSEACEuiIgAJdR6DNRgISkIAElhDwkgQksBEBBbqN8BlZAhKQgAQkIAEJ9E9Aga7/NrAE3RAwFwlIQAISkMBkCSjQTbZprZgEJCABCUhAAvUJjDOGAt04281SS0ACEpCABCQggR0CCnQ7KHRIQAIS6IaAuUhAAhJomoACXdNETU8CEpCABCQgAQl0TECBrmPg3WRnLhKQgAQkIAEJbBMBBbptam3rKgEJSEACEkgJ6J4MAQW6yTSlFZGABCQgAQlIYFsJKNBta8tbbwl0Q8BcJCABCUigAwIKdB1ANgsJSEACEpCABCTQJoHxC3Rt0jFtCUhAAhKQgAQkMAICCnQjaCSLKAEJSEACmxMwBQlMmYAC3ZRb17pJQAISkIAEJLAVBBTotqKZrWQ3BMxFAhKQgAQk0A8BBbp+uJurBCQgAQlIQALbSqCFeivQtQDVJCUgAQlIQAISkECXBBTouqRtXhKQgAS6IWAuEpDAlhFQoNuyBre6EpCABCQgAQlMj4AC3fTatJsamYsEJCABCUhAAoMhoEA3mKawIBKQgAQkIIHpEbBG3RBQoOuGs7lIQAISkIAEJCCB1ggo0LWG1oQlIIFuCJiLBCQgAQko0HkPSEACEpCABCQggZETUKCr0IAGkYAEJCABCUhAAkMmoEA35NaxbBKQgAQkMCYCllUCvRFQoOsNvRlLQAISkIAEJCCBZggo0DXD0VQk0A0Bc5GABCQgAQmUEFCgK4GilwQkIAEJSEACEhgTgVygG1PZLasEJCABCUhAAhKQwL8EFOj+heA/CUhAAhKoS8DwEpDAkAgo0A2pNSyLBCQgAQlIQAISWIOAAt0a0IzSDQFzkYAEJCABCUigGgEFumqcDCUBCUhAAhKQwDAJWKp/CSjQ/QvBfxKQgAQkIAEJSGDMBBToxtx6ll0CEuiGgLlIQAISGDgBBbqBN5DFk4AEJCABCUhAAqsIKNCtItTNdXORgAQkIAEJSEACaxNQoFsbnRElIAEJSEACXRMwPwmUE1CgK+eirwQkIAEJSEACEhgNAQW60TSVBZVANwTMRQISkIAExkdAgW58bWaJJSABCUhAAhKQwByBHgS6ufw9kYAEJCABCUhAAhLYkIAC3YYAjS4BCUhAAi0RMFkJSKAyAQW6yqgMKAEJSEACEpCABIZJQIFumO1iqbohYC4SkIAEJCCBSRBQoJtEM1oJCUhAAhKQgATaIzD8lBXoht9GllACEpCABCQgAQksJaBAtxSPFyUgAQl0Q8BcJCABCWxCQIFuE3rGlYAEJCABCUhAAgMgoEA3gEbopgjmIgEJSEACEpDAVAko0E21Za2XBCQgAQlIYB0CxhklAQW6UTabhZaABCQgAQlIQAK7BBTodlnokoAEuiFgLhKQgAQk0DABBbqGgZqcBCQgAQlIQAIS6JrANAW6rimanwQkIAEJSEACEuiRgAJdj/DNWgISkIAE+iVg7hKYCgEFuqm0pPWQgAQkIAEJSGBrCYxGoAshFCF4hCCDEMbEwLKGIIMQZBCCDEKQQQjDZzBWiXA0At1YAVtuCUhAAhKQgAQksJLAhgEU6DYEaHQJSEACEpCABCTQNwEFur5bwPwlIAEJdEPAXCQggQkTGLJAF/7l7lEUMpCB94D3gPeA94D3QH/3QDGGvyELdGPgZxlTArolIAEJSEACEuiFgAJdL9jNVAISkIAEJLC9BKx58wQU6JpnaooSkIAEJCABCUigUwIKdJ3iNjMJSKAbAuYiAQlIYLsIKNBtV3tbWwlIQAISkIAEJkhAgW7NRjWaBCQgAQlIQAISGAoBBbqhtITlkIAEJCCBKRKwThLohIACXSeYzUQCEpCABCQgAQm0R0CBrj22piyBbgiYiwQkIAEJbD0BBbqtvwUEIAEJSEACEpDA2AlUEejGXkfLLwEJSEACEpCABCZNQIFu0s1r5SQgAQl0ScC8JCCBvggo0PVF3nwlIAEJSEACEpBAQwQU6BoCaTLdEDAXCUhAAhKQgAROJqBAdzITfSQgAQlIQAISGDeBrSu9At3WNbkVloAEJCABCUhgagQU6KbWotZHAhLohoC5SEACEhgQAQW6ATWGRZGABCQgAQlIQALrEFCgW4daN3HMRQISkIAEJCABCVQioEBXCZOBJCABCUhAAkMlYLkkUBQKdN4FEpCABCQgAQlIYOQEFOhG3oAWXwJdEDAPCUhAAhIYNgEFumG3j6WTgAQkIAEJSEACKwkMRKBbWU4DSEACEpCABCQgAQksIKBAtwCM3hKQgAQkMEACFkkCEigloEBXikVPCUhAAhKQgAQkMB4CCnTjaStL2g0Bc5GABCQgAQmMjoAC3eiazAJLQAISkIAEJNA/gWGVQIFuWO1haSQgAQlIQAISkEBtAgp0tZEZQQISkEA3BMxFAhKQQFUCCnRVSRlOAhKQgAQkIAEJDJSAAt1AG6abYpmLBCQgAQlIQAJTIKBAN4VWtA4SkIAEJCCBNgmY9uAJKNANvoksoAQkIAEJSEACElhOQIFuOR+vSkAC3RAwFwlIQAIS2ICAAt0G8IwqAQlIQAISkIAEhkBgewS6IdC2DBKQgAQkIAEJSKAFAgp0LUA1SQlIQAISGC8BSy6BMRJQoBtjq1lmCUhAAhKQgAQkkBBQoEtg6JRANwTMRQISkIAEJNAsAQW6ZnmamgQkIAEJSEACEmiGQI1U/gcAAP//KxRGWgAAAAZJREFUAwATVtdu+IzemgAAAABJRU5ErkJggg=="/>
          <p:cNvSpPr>
            <a:spLocks noChangeAspect="1" noChangeArrowheads="1"/>
          </p:cNvSpPr>
          <p:nvPr/>
        </p:nvSpPr>
        <p:spPr bwMode="auto">
          <a:xfrm>
            <a:off x="460375" y="-60325"/>
            <a:ext cx="3714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data:image/png;base64,iVBORw0KGgoAAAANSUhEUgAAAnQAAAUECAYAAABV7I2AAAAQAElEQVR4AezdCfxtU/3/8bVpIMUtY0KkMtQvQ+aUqzLVX75JisT9/cRPJUO/EDIPmUqaVFQuJTLdQmZu5oooUmS4V2QOJXlU8j/vfe1z197fM+yzz95rr7X36z6+5549ruG5zvd7PmetvdeZx/APAQQQQAABBBBAIGgBArqgm4/CI4AAAq4EyAcBBHwWIKDzuXUoGwIIIIAAAgggkEOAgC4HEoe4ESAXBBBAAAEEECgmQEBXzI2zEEAAAQQQQKAeAXLtIUBA1wOFTQgggAACCCCAQEgCBHQhtRZlRQABNwLkggACCAQmQEAXWINRXAQQQAABBBBAICtAQJcVcbNOLggggAACCCCAQGkCBHSlUZIQAggggAACZQuQHgL5BAjo8jlxFAIIIIAAAggg4K0AAZ23TUPBEHAjQC4IIIAAAuELENCF34bUAAEEEEAAAQRaLuAgoGu5MNVHAAEEEEAAAQQqFiCgqxiY5BFAAAEEcgpwGAIIFBYgoCtMx4kIIIAAAggggIAfAgR0frQDpXAjQC4IIIAAAgg0UoCArpHNSqUQQAABBBBAoLhAeGcS0IXXZpQYAQQQQAABBBBICRDQpThYQQABBNwIkAsCCCBQpgABXZmapIUAAggggAACCNQgQEBXA7qbLMkFAQQQQAABBNoiQEDXlpamnggggAACCPQSYFsjBAjoGtGMVAIBBBBAAAEE2ixAQNfm1qfuCLgRIBcEEEAAgYoFCOgqBiZ5BBBAAAEEEECgaoFmBHRVK5E+AggggAACCCDgsQABnceNQ9EQQAABBMoVIDUEmipAQNfUlqVeCCCAAAIIINAaAQK61jQ1FXUjQC4IIIAAAgi4FyCgc29OjggggAACCCDQdoGS609AVzIoySGAAAIIIIAAAq4FCOhci5MfAggg4EaAXBBAoEUCBHQtamyqigACCCCAAALNFCCga2a7uqkVuSCAAAIIIICAFwIEdF40A4VAAAEEEECguQLUrHoBArrqjckBAQQQQAABBBCoVICArlJeEkcAATcC5IIAAgi0W4CArt3tX2Xtv9NJ/AUeBgODAb8HvAZ4DYz1GtD7SYeQn0ECBHSDdKx9LI4sMDHyGZyAAAIIIIDAZIHzJm9iS1aAgC4rwnoZApt1Elm08+AHAQQQaJsA9S1X4LFOchd1HvwMESCgGwLE7kIC9M4VYuMkBBBAAIGMAL1zGZB+qwR0/WTYPo7AB+2Tf/azn5kXXniBR1kGpMNridcAr4GGvgYWWWQR++1DyzP0H4/hAgR0w404YjSB1HDroosuajbbTJtGS4SjEUAAAQTaJXDRRReZxx9/3K40w622xpDlXgHdkFPYjcBAgdRw68TExMCD2YkAAggggIAEzjtv0ujqpA06jkdvAQK63i5sLS6QGm794AdTq8VT5UwEEPBQgCIhUJ5Aj4CO4dYReAnoRsDi0KECGlvt3t3KcOtQLw5AAAEEEOgIMNzaQRjzh4BuTEBOTwmkxlfLGG5Npc4KAggggEAjBXr0zjHcOmJLE9CNCMbhAwVS46sMtw60YicCCCCAwIsCPQK6UYdbX0ypvU8EdO1t+7JrznBr2aKkhwACCLRAgOHWchqZgK4cR1IxhuFWw79GC1A5BBCoRKBH7xzDrQWkCegKoHFKTwGGW3uysBEBBBBAYJDAjBkzsrsnbcgewPpkAQK6ySZ1bQk5X4ZbQ249yo4AAgjUJKDh1sce0/zB3QJohe9u7XLkXyCgy2/Fkf0FGG7tb8MeBBBAoGSB5iTHcGt5bUlAV55lm1NiuLXNrU/dEUAAgYICDLcWhOtxGgFdDxQ2jSTAcOtIXGEcTCkRQACBqgUYbi1XmICuXM82psZwaxtbnTojgAACYwow3DomYOb0mgK6TClYDVmA4daQW4+yI4AAAjUJMNxaLjwBXbmebUuN4da2tTj1RcC1APk1UoDh1vKblYCufNM2pchwa5tam7oigAACJQkw3FoSpJUMAZ2FweLIAk0Ybh250pyAAAIIIDCeAMOt4/n1OpuArpcK2/IIMNyaR4ljEEAAAQRSAuEOt6aq4d0KAZ13TRJMgRhuDaapKCgCCCDgjwDDrdW0BQFdNa5tSJXh1ja0MnV0KkBmCLRBgOHWalqZgK4a16anynBr01uY+iGAAAIVCDDcWgHqi0kS0L0I0Y6n0mrJcGtplCSEAAIItEeA4dbq2pqArjrbJqfMcGuTW5e6IYAAAhUJMNxaEWwnWQK6DgI/Iwkw3DoSFwcjgAACCEiA4VYpVPcgoKvOtqkpM9za1JZ1Wy9yQwCBlgkw3FptgxPQVevbxNQZbm1iq1InBBBAoGIBhlurBW5uQFetW1tTZ7i1rS1PvRFAAIExBBhuHQMv56kEdDmhOCwWYLg1ZuA/BBBokgB1qV6A4dbqjQnoqjduUg4MtzapNakLAggg4EiA4dbqoQnoqjduSg4MtxZuSU5EAAEE2ivAcKubtiegc+PchFwYbm1CK1IHBBBAwLEAw60jgI9xKAHdGHgtO5Xh1pY1ONVFAAEEyhBguLUMxeFpENANN+IIYxhu5VWAQDMEqAUCTgUYbnXHTUDnzjrknBhuDbn1KDsCCCBQkwDDre7gCejcWYecU/7h1pBrSdkRQAABBEoVYLi1VM6BiRHQDeRhZ0eA4dYOAj8IIIAAAqMJDBtuHS01jh4mQEA3TIj9DLfyGkAAAQQQGFmA4daRycY6gYBuLL5WnMxwayuauYmVpE4IIFCnAMOtbvUJ6Nx6h5Ybw62htRjlRQABBDwQYLjVfSMQ0I1h3oJTGW5tQSNTRQQQQKBsAYZbyxYdnh4B3XCjNh/BcGubW5+6I4BAWQKtS4fhVvdNTkDn3jyUHBluDaWlKCcCCCDgkQDDrfU0BgFdPe4h5MpwawitlJSRZwQQQMATAYZb62kIArp63EPIleHWEFqJMiKAAAKeCTDcWk+D5A3o6ikdudYlwHBrXfLkiwACCAQswHBrfY1HQFefvc85M9zqc+tQNgS8FqBwbRZguLW+1iegq8/e55wZbvW5dSgbAggg4KkAw631NQwBXX32vubs/XCrr3CUCwEEEGizAMOt9bY+AV29/j7mznCrj61CmRBAAAHPBTwcbvVcrNziEdCV69mE1BhubUIrUgcEEEDAsQDDrY7BM9kR0GVAWr7KcGvLXwBUf0QBDkcAgViA4daYodb/COhq5fcuc4ZbvWsSCoQAAgj4L8Bwa/1tREBXfxsMKoHrfQy3uhYnPwQQQKABAgy31t+IBHT1t4EvJWC41ZeWoBwIIIDAyAL1ncBwa332ds4EdLZGu5cZbm13+1N7BBBAoJAAw62F2Eo/iYCudNJgE2S4Ndimc1NwckEAAQR6CTDc2kvF/TYCOvfmPubIcKuPrUKZEEAAAc8FGG71p4E8Cuj8QWlhSRhubWGjU2UEEEBgXAGGW8cVLO98ArryLENOieHWkFuPsiPQNgHq640Aw63eNIUhoPOnLeoqCcOtdcmTLwIIIBCwAMOtfjUeAZ1f7VFHaRhunazOFgQQQACBIQIMtw4BcrybgM4xuIfZMdzqYaNQJAQQQMB3AYZb1UL+PAjo/GmLOkrCcGsd6uSJAAIIBC7AcKt/DUhA51+buCwRw60utckLgQICnIKAjwIMt/rXKgR0/rWJyxIx3OpSm7wQQACBhggw3OpfQxLQ+dcmrkr04nDrnOwWXXRRs9lm2jRnnf8RQAABBBDoJcBway+V+rcR0NXfBnWVgOHWuuTJFwEEEAhR4MUyM9z6IoRnTwR0njWIw+Iw3OoQm6wQQACBpggw3OpnSxLQ+dkuVZdKY6uLJpkw3JpI8FyzANkjgIDnAgy3+ttABHT+tk2VJWO4tUpd0kYAAQQaKsBwq78N266Azt92cF0yhltdi5MfAggg0AABhlv9bUQCOn/bpqqSMdxalSzpIoBAYwSoyGQBhlsnm/i0hYDOp9ZwUxaGW904kwsCCCDQKAGGW/1uTgI6v9unitIx3FqF6shpcgICCCAQlgDDrX63FwGd3+1TdukYbi1blPQQQACBFggw3FpjI+fMmoAuJ1RDDmO4tSENSTUQQAABlwIMt7rULpYXAV0xt1DPYrg11Jaj3AhUJ0DKCAwVYLh1KFHtBxDQ1d4EzgrAcKszajJCAAEEmiPAcGsYbUlAF0Y7lVHK+oZbyyg9aSCAAAII1CLAcGst7CNnSkA3MlmwJzDcGmzTUXAEEECgPgGXw6311TL8nAnowm/DPDVguDWPEscggAACCKQEGG5NcXi9QkDndfOUVjiGW0ujJKGwBSg9AgiMIsBw6yha9R5LQFevv6vcGW51JU0+CCCAQIMEGG4NpzEJ6EpuKw+TY7jVw0ahSAgggIDvAgy3+t5C6fIR0KU9mrjGcGsTW5U6IYBA6ALel5/hVu+bKFVAAroURyNXGG5tZLNSKQQQQKBaAYZbq/UtO3UCurJF/UqP4Va/2sNtacgNAQQQKCjAcGtBuBpPI6CrEd9B1gy3OkAmCwQQQKBpAgy3htei4wR04dW2fSVmuLV9bU6NEUAAgbEFGG4dm9B5AgR0zsmdZchwqzNqMkIAgcEC7A1JgOHWkFprblkJ6OZaNG2J4damtSj1QQABBBwIMNzqALmCLAjoKkD1JMlWDbd6Yk4xEEAAgeAFGG4NswkJ6MJst2GlZrh1mBD7EUAAAQQmCbRguHVSnZuygYCuKS2ZrgfDrWkP1hBAAAEEcggw3JoDydNDCOg8bZgxi8Vw65iAnI5AYQFORCBgAYZbw208Arpw265fyRlu7SfDdgQQQACBvgIMt/alCWIHAV0QzZQq5LAVhluHCbEfAQQQQGCSAMOtk0iC2kBAF1Rz5Sosw625mMI+6JlnnjFTp041URR1HzvssMPIlbrzzjvNLrvsYhZffPFuOlEUxWkrj5ET5ARnAueffz5t5kw71IxGKzfDraN5+XY0AZ1vLTJeeRhuHc+vNWf/4x//MHvttZdZccUVzbe//W3z6KOPtqbuVBQBBCYLMNw62SS0LQR0obXY4PIy3DrYh70dgaefftpsv/325rjjjuusjffD2Qgg0AwBhlvDb0cCuvDb0K4Bw622BsuTBF544YW4R+7ss8+etO+lL32pWXrppePHEkssEQ/nTTqIDQgg0EgBhlvDb1bPA7rwgR3WgOFWh9ihZnXPPfeYr3zlK6niK4i79NJLjYZh77//fqPHGWecYRZYYIHUcawggEAzBRhubUa7EtA1ox1VC4ZbpcCjr4B6577+9a+bhx56qHvMK17xCnPWWWeZjTbayMw777zd7SwgEJwABS4swHBrYTqvTiSg86o5xioMw61j8TX/5FmzZpnsUOtOO+1k1lprreZXnhoigEBfAYZb+9IEtYOALqjm6ltYhlv70pS2I/iEfvzjH5sHH3ywW49FFlnEKKCLoqi7jQUEEGiXAMOtzWlvArpmtCXDrc1ox8pq8cgjj5hTTjklenJPhgAAEABJREFUlf5HPvIRs/LKK6e2sYIAAu0SYLi1ivauJ00Cunrcy86V4dayRRuW3lVXXWX+8Ic/dGv1spe9zHzsYx8b+U7Wo48+Oj4niqKxn3XTxc0339wtk72QzUeTKOed6Pj55583119/vfnoRz9qFltssVQ5X/Oa15hNN900vm7w73//u53lpGVda/j617++e/6g8k46ubNh3PM7SZT+869//cscfPDB3TpF0Zx2fPe7323+8pe/lJ4fCfovwHCr/22Ut4QEdHml/D2O4VZ/28aLkmneua985Supsmy44YZm1VVXTW1rwsrPf/5zs8IKK5h3vOMd5swzzzSPPfZYqlpPPvmkueSSS8zWW29tllxyyfgY3SySOiiAlSJFVD2PP/54c8ghh6RO12tB11Yq2E3tYKXxAgy3NquJCejCb88JuwoTExP2KssIGH1F1C9+8YuUxLRp08z888+f2hbyioIV3cGrniZNzZKnLn/961/jXjwFOOq5ynNOqMfI59hjjzX77LNPqgrvfOc7zemnn24I5lIsrVlhuLVZTU1AF357VjDcGj4KNZgj8MADD5gjjjhizsqL/7/lLW8xCnxeXB3rSTdWKDjUzRXDHttuu63RUO9YGfY5+dxzzzW77767+c9//pM6QpMlb7HFFvHNH/p2DA2hpg7orCigU8+Vgp7OauN+VK/p06ebfffdN1U3BXO6UUaTSKd2sNIaAYZbm9XUBHRhtyfDrWG3X6WlV6/ToYceauxr55Th5z//+fjaMi2P+1Bw+LWvfc185zvfGfrQV41VETz87ne/M7vssksqmNP8eqeddprRdXJ601L5FNTMmjXL6PjscPMBBxxgrr322nE5vDxfwe6OO+6Y8lljjTXinrkq2sNLBAo1SaC04dZJKbOhLgECurrky8l3wk6G4VZbo73LTz31lPnJT34Szy930kknpSDUi6a7W1MbA17597//bdS79vjjj3drMWXKFHPZZZeZ7bbbzqiHrrvjxQXd2XvFFVeY9ddf/8Utxvzzn/80Cury3njRPdHzhXPOOSe+XtDuuVQwp6G2pZZayvPSU7wqBfQayKR/Xmad1cAECOgCa7BMcRluzYC0efXUU0+N71589atfbRTc33rrrSmOPffc05xwwgk9g5zUgX6tDCzNH//4R5N9Y1IP5HrrrTfwPF0zduSRR6aGgH/+85+bCy64YOB5Ie28/PLLzSc+8YlJPXPyIpgLqSWrKat6rjMpz8issxqYAAFdYA1mFZfhVguDxf4Cq6yyirnuuuvMl770pUbdCKEaX3311anpNlZccUUzbdo07Rr6UE+V7vC0D1TPpnr97G3Jsnrx9H23ybrPz7/85S/Nhz/8YaPe2qScGh7X3awEc4lIe58Zbm1m2xPQhduuE3bRJyYm7FWWEegK/OY3vzG6IUDBT3djAxYUeGlo1a7Ke97zntzXB+ou3w9+MNXJbRQIPfHEE3aS3WXlp2lPuhs8XVAdNtlkE5MN5i688ELT66YQT6tBsSoUUC9tJnmGWzMgIa4S0IXYanPKnHonyr4xzTmE/9sksNVWW5nbbrstHlZdfvnlU1XXVB66s1VTe+iux9TOQFf+9re/mdmzZ6dKv+6668bDzqmNA1bUa/WSl7yke8TDDz9sdGewNrzqVa8yyy23nBa7Dw3xdlc8XLjjjjvMNttskwrmlllmGfPTn/6UYK6E9mpKEgy3NqUl0/UgoEt7hLLGcGsoLeWwnLqz861vfavZbbfdzJ133mn0bQt29row/jOf+YzRfGRNCOrUW5YEX6qnArNRe6AWXnhhs+CCC+r0+PHss8+aRx99NF5+5Stfad74xjfGy8l/l156qfF12PWuu+4ym2++ubn33nuT4sbP999/f/zNGfEK/7VegOHW5r4E5mlu1Rpds9T46sTERKMr257KlVfTeeed1+y1116TgjrloPnINJWFlkN56IYF9ZhF0ZyvqoqiyKgXUj1qSR00x52GUZP1PM9TpkwxCtzsYzW0mqx/4AMfSBbjZ33LhKZp8TEg1leNJcFoXFjrv4MOOshoyhZrE4stFWC4tbkNT0AXZtsy3BpmuzktdRRFRne2aqoSO2P11Cmoyw5X2sewPEdgnXXWMRqWnbM2539928Jhhx3Wt6dO1+CdddZZ8XWL6h2bc5bb/+eZJ/2nXb12hxxyiNHchG5LQm6+CTDc6luLFCxPj9PSv/U9DmCTdwIMt3rXJP4WSPOw7b///uZNb3pTqpC6Fuzggw/mDT6lMnllscUWi7/7NBsgqcdroYUWMu9973vNzjvvHD8U/Km3T9+esfXWWxtNGzI5xeq3LL300uZXv/pV/M0Zdm6a1kbDbfY2ltsloPZ/7LHH7Epr5SJ7A8vhChDQhdd2qfHViYmJ8GpAiZ0K6Loy9ShFUZTKV2/wM2fOTG3zdUVB0rRp0+Kv8FKPox567UdRuk5VlH/LLbc0xxxzzKSk1dulCYo1ebMe+r5cfTPFpAMdblAwpxsgVl99dfN///d/qWsA1TO73377da8RHFIsdjdQgOHWBjaqVSUCOgsjkEWGWwNpKJ+KqaBEd8HaZdIbvHrvNERob/dxWcOeunZNX+GVPL75zW8aBTBJee0bGpJtw551g4Pml0uOi6Jo0lx9URSZz372s+b8889P3UCRnNPvWdf09dtXxfbXvva1RsNpq666apy8bNSTGK+8+J++9kwTKvt4DeCLReSpQgG9PjLJM5lwBiTkVQK6sFqvOcOtYbkHX1oNverNXT1ddmU0NHfKKafYm4JZnm+++SbNOTfqNWt//vOfjf21YRoyXXTRRScZRFFk/t//+39Gx5922mlm7bXXTn3jhnzf8IY3mG233dZo/4MPPhjfbaopQyYlVtGGN7/5zUYPO/kPfehDcbntbSeeeKK59tpr7U0st0CA4dbmNzIBXVhtPGEXV0NO9jrLCAwS0HeYqqcpe4y+QeLuu+/ObvZ+XXeoZgOYG2+80YzS+6QeK/uuVvVqve51r+tb9wUWWCD+jljlo5495aWHljXX3w9/+MN4/5JLLmmy1931TbTCHbrr99BDDzWySrJRWdUz+/TTTyebeG6BQMjDrS1onlKqSEBXCqOzRBhudUbdvIyiKDI77rjjpLs2Nd3FUUcdZezAJoTaR1Fk3vWud6WKqm+OmDVrVmpbvxUNt2bf5NZaay2juen6nRPidg3B7r333qmiX3PNNUZD1gpGUztYaawAw62NbdpuxQjouhTeLzDc6n0T+V9A3bV5wAEHTPo2he9///vmqquuGrkCGsLV0OfIJ5Z0ggI6fdF+kpyGOs8444xcvXQadlQAaExytjH6yqwoqv5Gi7k5Vr8URVF8F+6aa66Zykw3etx6662pbaw0U4Dh1ma2a7ZWBHRZEX/XGW71t22CKpkmy33/+9+fKrNukNCdsKMOw2kIUt/QkErM4cqKK64Yf9WVnaUClRtuuMHeNGlZQ8yf/vSnjeqd7FTAs9FGGyWrjXpWr+MRRxyRGgZ+6qmnjObUe+aZZxpVVyozWSDbE905gu9u7SA07YeAzkGLlpQFw60lQbY9GV1XdfDBBxt9VZhtoWG4H/3oR/am1LKm6dC1Y6mNNa9EUWT22GMPozs8k6IoUFFgdvrpp5vnn38+2Rw/a/3iiy826667rtFcfPHGzn+63k3BjQKfzmojf6ZOnRpPdmxXTj2UP/jBD+xNLDdQgOHWBjZqjyoR0PVA8XATw60eNkrIRdI8Zb1ukNAF9Oq9Ut10Ldruu+8eD9fp2ruVVlopnhZD+5LHKquskizW9qzvW9WUJgrKkkJoCpOPfexjRpP/6uYhTf6rZ61vttlmqTtbdY7qp55LLTf1oTtxdTOEHfyqrnaba51HrQKlZ85wa+mk3iZIQOdt06QKxnBrioOVcQWiaM51VQqG7LR0g4TuetUNEpqf7uSTTzaaNPd73/ue0V2c9rG6fk7XnNnb6lrWPHsnnHBCakhRZdFEvz/5yU/iOuhZ69puP3bZZRfzjW98IzUNib2/Sctq7wMPPDBVJbW5JhxWD2xqByuNEGC4tRHNmKsSBHS5mGo/iOHW2pugIQWwqqEpOjQ3nbUpXlTwNuwaNPWGHXvssUZTocQn1fxfFEVm1113NVdeeaVZfvnlc5VmwQUXNLqBQnd7qvcq10kNOGi77bYzGpK2q3L22Webc889197EckMEGG5tSEPmqAYBXQ6kmg9huLXmBmhy9hqGzL65a54y3QmrXrrsnGwKfHRDhb7matq0aZPulq3baoMNNjB33nmnue6668wOO+xgNB+cXSZNGqzJdvX1WJpQ+CMf+Yh3dbDLW8WyJk/WDTD2NZSavkTXVT7wwANVZEmaNQkw3FoTfE3Zlh3Q1VSNRmc7YddOb8D2OsvtFNCb8syZM+PpOfRmrMf06dNHxlA6l156aSodpaW09W0Id911V2qfgr0LLrjArLHGGiPnpWu3Zs+e3U1Pw59vf/vbe6ajGxRUjuSh8qisPQ/ObJx33nnNeuutZ0455RSjaUySNPT86KOPGvVGbb755pUPsY5S30wVcq2qDqpT8pjZeT3kNVLbyj85V8+///3vzVJLLZUrbw4KQ4Dh1jDaqaxSEtCVJVldOgy3VmdLygggUJsAGVctwHBr1cJ+pU9A51d7ZEvDcGtWhHUEEEAAgaECDLcOJWrcAQR0fjfphF08hlttjeHLHIEAAgi0VYDh1va1PAGd323OcKvf7UPpEEAAAS8FGG4dqVkacTABnb/NyHCrv21DyRBAAAFvBRhu9bZpKi0YAV2lvGMlznDrWHycjIBHAhQFAYcCDLc6xPYoKwI6jxojUxSGWzMgrCKAAAIIDBdguHW4UROPIKDzs1VHHW71sxaUCgEEEEDAqQDDrU65vcqMgM6r5ugWhuHWLgULCCCAAAJ5BYYPt+ZNieNCEyCg87PFGG71s10oFQIIIOC1AMOtXjdPpYUjoKuUt1DiDLcWYuMkXwQoBwII1CPAcGs97r7kSkDnS0vMLQfDrXMtWEIAAQQQyCnAcGtOqIYeFmBA19CWmFsthlvnWrCEAAIIIJBTgOHWnFANPYyAzq+GZbjVr/agNAggELJAi8rOcGuLGrtPVQno+sDUtJnh1prgyRYBBBAIWYDh1pBbr5yyE9CV41hWKgy3liXpJh1yQQABBLwQYLjVi2aotRAEdLXypzJnuDXFwQoCCCCAQB4BhlvzKNV9TPX5E9BVb5w3B4Zb80pxHAIIIIBAV4Dh1i5FqxcI6PxpfoZb/WkLSoJAcAIUuL0CDLe2t+3tmhPQ2Rr1LTPcWp89OSOAAALBCjDcGmzTlV5wArrSSQslGMBwa6F6cRICCCCAQIUCDLdWiBtY0gR0fjQYw61+tAOlQAABBIIS8HK4NSjB5hSWgK7+tmS4tf42oAQIIIBAcAIMtwbXZJUWmICuUt5ciTPcmouJgxDoCrCAAAIdAYZbOwj8dBKqk5IAABAASURBVAUI6LoUtS0w3FobPRkjgAAC4Qow3Bpu21VRcgK6XqrutjHc6s6anBBAAIHGCDDc2pimLK0iBHSlURZKiOHWQmychAACCPghUFcpGG6tS97ffAno6m0bhlvr9Sd3BBBAIEgBhluDbLZKC01AVynvwMQZbh3Iw845AvyPAAIIpAUYbk17sDZHgIBujkMd/zPcWoc6eSKAAAKBCzDcGngDVlT8eSpKl2SHCzDcOtyIIxBAAAEEMgIMt2ZAWI0F6KGLGZz/x3Crc3IyRACBMQU43QMBhls9aARPi0BAV0/DMNxajzu5IoAAAkELMNwadPNVWngCukp5+ybOcGsvGrYhgAACCAwUYLh1IE+rdxLQuW9+hlvdm5MjAgggELwAw61zm5ClyQIEdJNNqt7CcGvVwqSPAAIINFCA4dYGNmqJVSKgKxEzZ1IMt+aE4jAE6hMgZwT8E2C41b828alEBHRuW4PhVrfe5IYAAgg0QoDh1kY0Y6WVIKCrlHdS4t3hVu2ZmJjQEw8EEEAAAQQGCjDcOpCHnR0BAroOgsMfhlsdYpMVAggg0ACBuAoMt8YM/DdAgIBuAE7JuxhuLRmU5BBAAIE2CDDc2oZWHr+OBHTjG+ZNITW+ynBrXjaOq1yADBBAwGsBhlu9bh5vCkdA564pGG51Z01OCCCAQGMEGG5tTFNWWhEXAV2lFQgkcYZbA2koiokAAgj4JMBwq0+t4XdZCOjctA/DrW6cyQUBBIIWoPBZAYZbsyKs9xMgoOsnU+52hlvL9SQ1BBBAoBUCDLe2oplLqSQBXSmMAxNhuHUgj9ud5IYAAgiEIsBwaygt5Uc5CeiqbweGW6s3JgcEEECgcQIMt9bapMFlTkBXfZMx3Fq9MTkggAACjRNguLVxTVpphQjoKuU1DLdW60vqCIQrQMkRGCDAcOsAHHb1FCCg68lS2kaGW0ujJCEEEECgPQIMt7anrcuqKQFdWZK906lzuLV3idiKAAIIIOC9AMOt3jeRdwUkoKuuSRhurc6WlBFAAIHGCrgfbm0sZasqRkBXXXMz3FqdLSkjgAACjRVguLWxTVtpxQjoquNluLU6W1IOTIDiIoBAfgGGW/NbceRcAQK6uRZlLjHcWqYmaSGAAAItEWC4tSUNXUE1GxLQVSAzXpIMt47nx9kIIIBAKwUYbm1ls5dSaQK6UhgnJcJw6yQSNiCAAAIeCHheBIZbPW8gj4tHQFd+4zDcWr4pKSKAAAKNF2C4tfFNXGkFCejK52W4tXzTkFKkrAgggEAhAYZbC7Fx0osCBHQvQpT4xHBriZgkhQACCLRFgOHWtrR0Us9ynwnoyvVkuLVcT1JDAAEEWiHAcGsrmrnSShLQlcvLcGu5nqSGAAJjCHBqOAIMt4bTVr6WlICu3JZhuLVcT1JDAAEEWiHAcGsrmrnSShLQlcfbwuHW8vBICQEEEGirAMOtbW35cutNQFeeJ8Ot5VmSEgIIINAagVYMt7amNeurKAFdefYMt5ZnSUoIIIBAawQYbm1NU1daUQK6cngZbi3HkVQQKCrAeQgEKcBwa5DN5mWhCejKaRaGW8txJBUEEECgVQIMt7aquSutLAFdXt7BxzHcOtiHvQgggAACPQQYbu2BwqZCAgR0hdhSJzHcmuJgBQEEEGi3QN7aM9yaV4rj8ggQ0OVRGnwMw62DfdiLAAIIINBDgOHWHihsKixAQFeYrnsiw61dChbcCJALAgg0QYDh1ia0oj91IKAbry0Ybh3Pj7MRQACBVgow3NrKZq+00j0DukpzbFbiDLc2qz2pDQIIIOBEgOFWJ8ytyoSAbrzmZrh1PD/ORgCBsAUofUEBhlsLwnFaXwECur40Q3cw3DqUiAMQQAABBLICDLdmRVgvQ4CArrgiw63F7fKfyZEIIIBAwwQYbm1Yg3pSHQK64g3BcGtxO85EAAEEWivAcGs1Td/2VAnoir0CGG4t5sZZCCCAQKsFGG5tdfNXWnkCumK8DLcWc+MsBAIWoOgIjC/AcOv4hqTQW4CArrfLsK0Mtw4TYj8CCCCAwCQBhlsnkbChJAECutEhKxtuHb0onIEAAgggEIoAw62htFSY5SSgG73dGG4d3YwzEEAAgdYLlDjc2npLACYLENBNNhm2heHWYULsRwABBBCYJMBw6yQSNpQoQEA3GibDraN5cXSoApQbAQRKFWC4tVROEushQEDXA2XAJoZbB+CwCwEEEECgtwDDrb1d2FqeQF0BXXk1cJsSw61uvckNAQQQaIQAw62NaEavK0FAl795GG7Nb8WRCCCAQEkC4SfDcGv4bRhCDQjo8rcSw635rTgSAQQQQOBFAYZbX4TgqVIBArr8vAy35rcK6kgKiwACCFQpwHBrlbqknQgQ0CUSg58Zbh3sw14EEEAAgR4CDLf2QAl3k9clJ6DL1zwMt+Zz4igEEEAAAUuA4VYLg8VKBQjo8vEy3JrPiaMQQGAcAc5tnADDrY1rUm8rREA3vGkYbh1uxBEIIIAAAhkBhlszIKxWKkBAN5y3ScOtw2vLEQgggAACpQgw3FoKI4nkFCCgGw7FcOtwI45AAAEEEMgIhD3cmqkMq94LENANbqLUcOsiiyxiNttMmwafxF4EEEAAgXYLMNza7vavo/YEdIPVU8OtH/xgqrNu8JnsRQCBgQLsRKDJAgy3Nrl1/awbAd3gdklFcAR0g7HYiwACCCAwR4Dh1jkO/O9OoMEB3diIGltdNEmF4dZEgmcEEEAAgUECDLcO0mFfVQIEdP1lU8Otjz/+uImiiAcGvAZ4DfAaaNproOT6vO9978u+s5yX3cA6AmULEND1F00Nt/Y/jD0IIIAAAggMFJgxcC87EShBgICuN2JquLX3IWxFILcAByKAQHsFHutU/aLOgx8EKhUgoOvNS+9cbxe2IoAAAgiMJkDv3GheLT+6ePUJ6Hrb7dzZHPEwGBgMjAnSwGT+8Vo2QbZjE9pN7yeGfwhULUBAV7Uw6SOAAAIeCVAUBBBopgABXTPblVohgAACCCCAQIsECOha1NhuqkouCCCAAAIIIOBagIDOtTj5IYAAAggggIAxGJQqQEBXKieJIYAAAggggAAC7gUI6NybkyMCCLgRIBcEEECgNQIEdK1paiqKAAIIIIAAAk0VIKAbp2U5FwEEEEAAAQQQ8ECAgM6DRqAICCCAAALNFqB2CFQtQEBXtTDpI4AAAggggAACFQsQ0FUMTPIIuBEgFwQQQACBNgsQ0LW59ak7AggggAACCDRCIHdA14jaUgkEEEAAAQQQQKCBAgR0DWxUqoQAAgjUKEDWCCBQgwABXQ3oZIkAAggggAACCJQpQEBXpiZpuREgFwQQQAABBBBICRDQpThYQQABBBBAAIGmCLSpHgR0bWpt6ooAAggggAACjRQgoGtks1IpBBBwI0AuCCCAgB8CBHR+tAOlQAABBBBAAAEECgsQ0BWmc3MiuSCAAAIIIIAAAsMECOiGCbEfAQQQQAAB/wUoYcsFCOha/gKg+ggggAACCCAQvgABXfhtSA0QcCNALggggAAC3goQ0HnbNBQMAQQQQAABBBDIJ+BTQJevxByFAAIIIIAAAgggkBIgoEtxsIIAAggg4L8AJUQAgawAAV1WhHUEEEAAAQQQQCAwAQK6wBqM4roRIBcEEEAAAQRCEiCgC6m1KCsCCCCAAAII+CTgTVkI6LxpCgqCAAIIIIAAAggUEyCgK+bGWQgggIAbAXJBAAEEcggQ0OVA4hAEEEAAAQQQQMBnAQI6n1vHTdnIBQEEEEAAAQQCFyCgC7wBKT4CCCCAAAJuBMjFZwECOp9bh7IhgAACCCCAAAI5BAjociBxCAIIuBEgFwQQQACBYgIEdMXcOAsBBBBAAAEEEPBGoGUBnTfuFAQBBBBAAAEEEChNgICuNEoSQgABBBBojAAVQSAwAQK6wBqM4iKAAAIIIIAAAlkBArqsCOsIuBEgFwQQQAABBEoTIKArjZKEEEAAAQQQQACBsgXypUdAl8+JoxBAAAEEEEAAAW8FCOi8bRoKhgACCLgRIBcEEAhfgIAu/DakBggggAACCCDQcgECupa/ANxUn1wQQAABBBBAoEoBAroqdUkbAQQQQAABBPILcGRhAQK6wnSciAACCCCAAAII+CFAQOdHO1AKBBBwI0AuCCCAQCMFCOga2axUCgEEEEAAAQTaJEBAV3Zrkx4CCCCAAAIIIOBYgIDOMTjZIYAAAgggIAEeCJQpQEBXpiZpIYAAAggggAACNQgQ0NWATpYIuBEgFwQQQACBtggQ0LWlpaknAggggAACCDRWYKyArrEqVAwBBBBAAAEEEAhIgIAuoMaiqAgggECgAhQbAQQqFiCgqxiY5BFAAAEEEEAAgaoFCOiqFiZ9NwLkggACCCCAQIsFCOha3PhUHQEEEEAAgbYJNLW+BHRNbVnqhQACCCCAAAKtESCga01TU1EEEHAjQC4IIICAewECOvfm5IgAAggggAACCJQqQEBXKqebxMgFAQQQQAABBBCwBQjobA2WEUAAAQQQaI4ANWmRAAFdixqbqiKAAAIIIIBAMwUI6JrZrtQKATcC5IIAAggg4IUAAZ0XzUAhEEAAAQQQQACB4gK+B3TFa8aZCCCAAAIIIIBASwQI6FrS0FQTAQQQaLYAtUOg3QIEdO1uf2qPAAIIIIAAAg0QIKBrQCNSBTcC5IIAAggggICvAgR0vrYM5UIAAQQQQACBEAVqKTMBXS3sZIoAAggggAACCJQnQEBXniUpIYAAAm4EyAUBBBDICBDQZUBYRQABBBBAAAEEQhMgoAutxdyUl1wQQAABBBBAICABArqAGouiIoAAAggg4JcApfFFgIDOl5agHAgggAACCCCAQEEBArqCcJyGAAJuBMgFAQQQQGC4AAHdcCOOQAABBBBAAAEEvBYgoDNetw+FQwABBBBAAAEEhgoQ0A0l4gAEEEAAAQSMMSAg4LEAAZ3HjUPREEAAAQQQQACBPAIEdHmUOAYBNwLkggACCCCAQCEBArpCbJyEAAIIIIAAAgjUJTA5XwK6ySZsQQABBBBAAAEEghIgoAuquSgsAggg4EaAXBBAICwBArqw2ovSIoAAAggggAACkwQI6CaRsMGNALkggAACCCCAQFkCBHRlSZIOAggggAACCJQvQIq5BAjocjFxEAIIIIAAAggg4K8AAZ2/bUPJEEDAjQC5IIAAAsELENAF34RUAAEEEEAAAQTaLkBA5+IVQB4IIIAAAggggECFAgR0FeKSNAIIIIAAAqMIcCwCRQUI6IrKcR4CCCCAAAIIIOCJAAGdJw1BMRBwI0AuCCCAAAJNFCCga2KrUicEEEAAAQQQaJVA6QFdq/SoLAIIIIAAAggg4IEAAZ0HjUAREEAAgRYKUGUEEChRgICuREySQgABBBBAAAEE6hAgoKtDnTzdCJALAggggAACLREgoGtJQ1NNBBBAAAEEEOgt0IStBHRnYuUnAAAQAElEQVRNaEXqgAACCCCAAAKtFiCga3XzU3kEEHAjQC4IIIBAtQIEdNX6kjoCCCCAAAIIIFC5AAFd5cRuMiAXBBBAAAEEEGivAAFde9uemiOAAAIItE+AGjdUgICuoQ1LtRBAAAEEEECgPQIEdO1pa2qKgBsBckEAAQQQcC5AQOecnAwRQAABBBBAAIFyBUIM6MoVIDUEEEAAAQQQQCBwAQK6wBuQ4iOAAAII9BNgOwLtESCga09bU1MEEEAAAQQQaKgAAV1DG5ZquREgFwQQQAABBHwQIKDzoRUoAwIIIIAAAgg0WaDyuhHQVU5MBggggAACCCCAQLUCBHTV+pI6Aggg4EaAXBBAoNUCBHStbn4qjwACCCCAAAJNECCga0IruqkDuSCAAAIIIICApwIEdJ42DMVCAAEEEEAgTAFKXYcAAV0d6uSJAAIIIIAAAgiUKEBAVyImSSGAgBsBckEAAQQQSAsQ0KU9WEMAAQQQQAABBIITIKDr2WRsRAABBBBAAAEEwhEgoAunrSgpAggggIBvApQHAU8ECOg8aQiKgQACCCCAAAIIFBUgoCsqx3kIuBEgFwQQQAABBIYKENANJeIABBBAAAEEEEDAb4F5jN/lo3QIIIAAAggggAACQwTooRsCxG4EEEAAgTkC/I8AAv4KEND52zaUDAEEEEAAAQQQyCVAQJeLiYPcCJALAggggAACCBQRIKArosY5CCCAAAIIIFCfADlPEiCgm0TCBgQQQAABBBBAICwBArqw2ovSIoCAGwFyQQABBIISIKALqrkoLAIIIIAAAgggMFmAgG6yiZst5IIAAggggAACCJQkQEBXEiTJIIAAAgggUIUAaSKQR4CALo8SxyCAAAIIIIAAAh4LENB53DgUDQE3AuSCAAIIIBC6AAFd6C1I+RFAAAEEEECg9QJOArrWKwOAAAIIIIAAAghUKEBAVyEuSSOAAAIIjCTAwQggUFCAgK4gHKchgAACCCCAAAK+CBDQ+dISlMONALkggAACCCDQQAECugY2KlVCAAEEEEAAgfEEQjubgC60FqO8CCCAAAIIIIBARoCALgPCKgIIIOBGgFwQQACB8gQI6MqzJCUEEEAAAQQQQKAWAQK6WtjdZEouCCCAAAIIINAOAQK6drQztUQAAQQQQKCfANsbIEBA14BGpAoIIIAAAggg0G4BArp2tz+1R8CNALkggAACCFQqQEBXKS+JI4AAAggggAAC1Qs0JaCrXoocEEAAAQQQQAABTwUI6DxtGIqFAAIIIFCFAGki0EwBArpmtiu1QgABBBBAAIEWCRDQtaixqaobAXJBAAEEEEDAtQABnWtx8kMAAQQQQAABBIwp1YCArlROEkMAAQQQQAABBNwLENC5NydHBBBAwI0AuSCAQGsECOha09RUFAEEEEAAAQSaKkBA19SWdVMvckEAAQQQQAABDwQI6DxoBIqAAAIIIIBAswWoXdUCBHRVC5M+AggggAACCCBQsQABXcXAJI8AAm4EyAUBBBBoswABXZtbn7ojgAACCCCAQCMECOhyNyMHIoAAAggggAACfgoQ0PnZLpQKAQQQQCBUAcqNQA0CBHQ1oJMlAggggAACCCBQpgABXZmapIWAGwFyQQABBBBAICVAQJfiYAUBBBBAAAEEEAhPoHdAF149KDECCCCAAAIIINBaAQK61jY9FUcAAQTGFyAFBBDwQ4CAzo92oBQIIIAAAggggEBhAQK6wnSc6EaAXBBAAAEEEEBgmAAB3TAh9iOAAAIIIICA/wItLyEBXctfAFQfAQQQQAABBMIXIKALvw2pAQIIuBEgFwQQQMBbAQI6b5uGgiGAAAIIIIAAAvkECOjyObk5ilwQQAABBBBAAIECAgR0BdA4BQEEEEAAgToFyBuBrAABXVaEdQQQQAABBBBAIDABArrAGoziIuBGgFwQQAABBEISIKALqbUoKwIIIIAAAggg0EOgtoCuR1nYhAACCCCAAAIIIFBAgICuABqnIIAAAgg4EyAjBBDIIUBAlwOJQxBAAAEEEEAAAZ8FCOh8bh3K5kaAXBBAAAEEEAhcgIAu8Aak+AgggAACCCDgRsDnXAjofG4dyoYAAggggAACCOQQIKDLgcQhCCCAgBsBckEAAQSKCRDQFXPjLAQQQAABBBBAwBsBAjpvmsJNQcgFAQQQQAABBJonQEDXvDalRggggAACCIwrwPmBCRDQBdZgFBcBBBBAAAEEEMgKENBlRVhHAAE3AuSCAAIIIFCaAAFdaZQkhAACJQms3Enn0M5jSudR94/KcFinECpT54kfBBBAwE+BJgd0fopTKgQQGCZwR+eAtTuPWZ3HwZ3Hgp2H6x8Fcod0Mp3deazZeahMnSd+EEAAAT8FCOj8bBdKhUDbBQ7qACzUeehZQdWBnWUXgZ3yUJ4KJpM8FVR2suenuQLUDIHwBQjowm9DaoBAEwVu7FTq0s5DP0lvmYKsL3Q2KOjqPJX6ozSVtoJHBXAKJpXBJZ3/VJbOEz8IIICAvwIEdP62DSVrkABVKSSgwMo+8dWdFV3Pdn/neb/O45Wdx7g/SkM9cUpTaSt4tNPMlsHexzICCCDgjQABnTdNQUEQQCAjcENn/YrOI/uj3rMjOhvVY7dv51lBWedppB+do6BQPXK6Vk5pZhNQDyG9c1kV1hFAoEqBwmkT0BWm40QEEHAgoN6zftks3NlxZOehwG7vzvMrOo9hP0kgp3MUFL5mwAm6lm7AbnYhgAAC/ggQ0PnTFpQEAQQmC1zf2XRl5zHoR4Hd0Z0DFKTt1XnuFdhp2z6dffd1HgrkdE5nse9Pc3vn+laZHQggELIAAV3IrUfZEWiHwKBeOltg0c7KMZ2HArvOU+pHQ6tHdbYs0nnk+aF3Lo8SxyCAgDcCBHTeNEVjCkJFEChb4LpOgr2upets7vmjwC67I28gp/O4s1UKPBBAICgBArqgmovCItBaAU0p4qry3NnqSpp8Wi5A9csUIKArU5O0EECgKgHdbXpVVYlb6XLtnIXBIgIIhCNAQBdOW1FSBNouoO93HcmgwMFcO1cAjVMQQKB+AQK6+tuAEiCAQD6BmZ3Druk8qvrh2rmqZEkXAQQqFyCgG4uYkxFAwLFAlT1oXDvnuDHJDgEEyhMgoCvPkpQQQKB6AV1Hp+vpys7p8k6CVaTbSZYfBIwxICBQsQABXcXAJI8AAqUL7F96isYcUEGaJIkAAgg4EyCgc0ZNRghUKtCmxPXNEWX2ptE716ZXD3VFoKECBHQNbViqhUDDBcrsUSszrYazUz0EEPBVIH9A52sNKBcCCLRRoKxeNX0DRZm9fW1sC+qMAAIeCBDQedAIFAEBBAoJ5P2O10GJu/wGikHlaNQ+KoMAAu4FCOjcm5MjAgiUI3BZJ5lxetfonesA8oMAAs0QIKBrRju2rBZUF4GuwDjz0tE712VkAQEEQhcgoAu9BSk/Au0WKPrdq2XfKdvuVqD2CPgq0KJyEdC1qLGpKgINFSjyDQ9VzGXXUF6qhQACIQgQ0IXQSpQRAQQGCeg7WG8ZdEBmX5m9c5mkWUUAAQTqESCgq8edXBFAoFyB/UZIjt65EbA4FAEEwhAgoPO9nSgfAgjkEbi4c1CeXrqrOseNc2ds53R+EEAAAf8ECOj8axNKhAACxQTy9LxxZ2sxW84KQIAitluAgK7d7U/tEWiSwEWdygzqpVPv3PWdY/hBAAEEGidAQNe4JqVCCFQlEES6Bwwo5SjX2Q1Ihl0IIICAfwIEdP61CSVCAIHiAhd2Tr2p88j+cGdrVoR1BBBolIBXAV2jZKkMAgjUJXBIj4wH9dz1OJxNCCCAQFgCBHRhtRelRQCB4QIXdA6xe+m4dq4D0rAfqoMAAhkBAroMCKsIINAIAftuVq6da0STUgkEEBgkQEDXX+eFzi4exrTTgHqH3u6al67zKxz/3ND5P/T6UH5+J9v8Guj8CvMzTICAbpgQ+xFAAAEEEEAAgT4CvmwmoPOlJSgHAggggAACCCBQUICAriAcpyGAAAJuBMgFAQQQGC5AQDfcKD7ihRdeMDww4DXAa4DXAK8BXgPVvgbiN13+G1mAgG5ksuadQI0QQAABBBBAIGwBArqw24/SI4AAAggg4EqAfDwWIKDzuHEoGgIIIIAAAgggkEeAgC6PEscggIAbAXJBAAEEECgkQEBXiI2TEEAAAQQQQAABfwTaFtD5I09JEEAAAQQQQACBkgQI6EqCJBkEEEAAgSYJUBcEwhIgoAurvSgtAggggAACCCAwSYCAbhIJGxBwI0AuCCCAAAIIlCVAQFeWJOkggAACCCCAAALlC+RKkYAuFxMHIYAAAggggAAC/goQ0PnbNpQMAQQQcCNALgggELwAAV3wTUgFEEAAAQQQQKDtAgR0bX8FuKk/uSCAAAIIIIBAhQIEdBXikjQCCCCAAAIIjCLAsUUFCOiKynEeAggggAACCCDgiQABnScNQTEQQMCNALkggAACTRQgoGtiq1InBBBAAAEEEGiVAAFd6c1NgggggAACCCCAgFsBAjq33uSGAAIIIIDAHAH+R6BEAQK6EjFJCgEEEEAAAQQQqEOAgK4OdfJEwI0AuSCAAAIItESAgK4lDU01EUAAAQQQQKC5AuMFdM11oWYIIIAAAggggEAwAgR0wTQVBUUAAQTCFaDkCCBQrQABXbW+pI4AAggggAACCFQuQEBXOTEZuBEgFwQQQAABBNorQEDX3ran5ggggAACCLRPoKE1JqBraMNSLQQQQAABBBBojwABXXvampoigIAbAXJBAAEEnAsQ0DknJ0MEEEAAAQQQQKBcAQK6cj3dpEYuCCCAAAIIIICAJUBAZ2GwiAACCCCAQJMEqEt7BAjo2tPW1BQBBBBAAAEEGipAQNfQhqVaCLgRIBcEEEAAAR8ECOh8aAXKgAACCCCAAAIIjCHgfUA3Rt04FQEEEEAAAQQQaIUAAV0rmplKIoAAAo0XoIIItFqAgK7VzU/lEUAAAQQQQKAJAgR0TWhF6uBGgFwQQAABBBDwVICAztOGoVgIIIAAAgggEKZAHaUmoKtDnTwRQAABBBBAAIESBQjoSsQkKQQQQMCNALkggAACaQECurQHawgggAACCCCAQHACBHTBNZmbApMLAggggAACCIQjQEAXTltRUgQQQAABBHwToDyeCBDQedIQFAMBBBBAAAEEECgqQEBXVI7zEEDAjQC5IIAAAggMFSCgG0rEAQgggAACCCCAgN8CBHTG+N1ClA4BBBBAAAEEEBgiQEA3BIjdCCCAAAIIzBHgfwT8FSCg87dtKBkCCCCAAAIIIJBLgIAuFxMHIeBGgFwQQAABBBAoIkBAV0SNcxBAAAEEEEAAgfoEJuVMQDeJhA0IIIAAAggggEBYAgR0YbUXpUUAAQTcCJALAggEJUBAF1RzUVgEEEAAAQQQQGCyAAHdZBO2uBEgFwQQQAABBBAoSYCAriRIkkEAAQQQhEiIZQAAEABJREFUQACBKgRIM48AAV0eJY5BAAEEEEAAAQQ8FiCg87hxKBoCCLgRIBcEEEAgdAECutBbkPIjgAACCCCAQOsFCOicvATIBAEEEEAAAQQQqE6AgK46W1JGAAEEEEBgNAGORqCgAAFdQThOQwABBBBAAAEEfBEgoPOlJSgHAm4EyAUBBBBAoIECBHQNbFSqhAACCCCAAALtEig/oGuXH7VFAAEEEEAAAQRqFyCgq70JKAACCCDQTgFqjQAC5QkQ0JVnSUoIIIAAAggggEAtAgR0tbD3zvToo482URQVerzsZS8zyy+/vJk2bZq5+OKLzXPPPdc7k1ZtpbIIhCWQ/Ruwww47hFWBAqU955xzzLzzzhv/3dt8883NP/7xj1QqDz30kHn9618f74+iyCywwALm5ptvTh0zzsoDDzxgVlpppTj9V7/61eaXv/zlOMk16tzzzz8/domiOe9LU6dONc8880yj6tikyhDQNaQ1//Wvf5l7773XTJ8+3Wy22WZmwQUXNMccc8ykP44NqS7VQACBBgjMnj3b7LvvvuY///mP0YfSvffe28w///xOa7bUUkuZ/fffP87zqaeeMvvtt595+umn43X+a5FAA6o6TwPqQBV6CCjA22effcwmm2xiHn744R5HsAkBBBCoT0B/ow4++GDzxz/+MS7Exz/+cbPuuuvGy67/m5iYMBtssEGc7RVXXGG++c1vmhdeeCFe5z8EQhEgoAulpQqW85prrjHbbbcdnzgL+nEaAiUJkExG4Nxzz41HFLR5kUUWMXvuuad5yUteolXnj1e+8pVxL90888x5Szz88MMZenXeCmQ4rsCcV++4qXB+JQLLLLOM+fOf/xx/UtSnxX6Pf/7zn3Ev3GWXXWb0KTdbGH3i/Na3vpXdzDoCCCBQi4CuW1PvnP6mqQC77LKLWXnllbVY20PXh33oQx+K83/22WfNAQccwPVisQb/hSJAQBdKSw0o50tf+lKz+OKLm/e+973m1FNPNdddd52ZMmVK6oyvfe1r5r777kttYwUBBBBwLaAg7tvf/rb5wx/+EGf9ute9zvzP//xPfPF9vKGm//R39DOf+Ux8LZ+KoA/IM2bM0GJrH7pJRe2VPGbOnGnUm9laEM8rTkDneQMVKd56661nvvjFL6ZOffDBB83111+f2sYKAggg4FrgjjvuMPaIwSc+8Qmz3HLLuS5Gz/x0Dd+WW27Z3XfUUUeZRx99tLvelAXq0UwBArpmtqvRJyvd6m9X76qrrrJXWUYAAQScCqin56STTjKPP/54nK9GErbaaqt42Yf/dA2fpoqJoiguzu9+9zuja/3iFf5DwHMBAjrPG6ho8RZeeGHzlre8JXX6rFmzzN///vfUNlYQKF+AFBHoLaDeuR/+8IfdnZtuuqlZccUVu+s+LKiXbq211uoW5etf/zq9dF0NFnwWIKDzuXXGKNt8881ndOeYncS///3v+AYLe5u9nHwyjaIovp5Fk5za+8dZ1kSgmhA0iuakrd5DTRhqp6kJK3VhchTNOSaKIqOJLe1jBi2Pcr7SjaK5+ShfnT8o/WSfplvYeuutY6MompOG6qY6JscMe1Yal156aTwRtCyiaE46URSZxRZbzKjXQmXUccPSSvarvaJobjpRVHx5UH2y+eh1k5Rh2PMTTzxh9GYZRXPLpvrbrwU5Kv8omntMFBVfVlpKMymb2lntHUVz05R1st/X5+eff95cfvnl5qMf/ah5zWte0339aVLet73tbfG8k7bjqPXQa+3GG280n/3sZ82qq64aXysVRXONlI+GRqdNm2b02tXxo+Zx1llndXvnoigyeu2oV2zUdPIcLytNFBxFc+ug9WGXniy00ELmgx/8YDcL9dJdeeWV3fU2Lej3Iorm+k1lYmGvm38er0vXp3BsHi6g4C3bG6c3Ti5oHW437AhdGKzZ7Ycd12u/3pR/9KMfGV0IrjkCp0+fbu6///7UoY899phR+h/4wAfi4y644IKBgXjqZM9X9Ib+q1/9yvNS+le8n//852aFFVYwG220kTnzzDPNk08+2S2kJuW97bbbjOadXHLJJc1ee+010oTi+mYG3TSlD4DqnTr++OPNb37zm0m9+cpnVqeXX69ZvXZ1vF7Lek13CzNg4ZFHHonLnhyi+qy22mrJaqnP+raHD3/4w0YTBScJT5kyxVx44YVG1xgn2/o96wazV7ziFd3dp5xyykim3RNZQMChAAGdQ2yXWaknRJ8s7Tzz/CGzj2d5soBcNau83twm7x285S9/+Yt53/veZ7bddlujoG3w0XP26jhdD3nIIYeYIj0ic1Lx4/+7777bHHrooX4UJpBS6JozDfm9+93vNvfcc0+uUh933HFGF/bn+bYDTR/yrne9y+y2227mr3/9a670k4N0vF7Lu+66a67X5i9+8QuT3NmqNNZZZ524N1rLZT4UzCngfDGYi5NWMKcPE3n/BirYXHPNNeNz9Z+uP7711lu1WMoj2/MVRXN7waJovGWlXUohSSQ4AQK64JosX4F1y739x1M9QhtvvHG+kzmqr4DeFIr0MOnNVcO0GqrKJq4hwS222MLstNNORsdoyDV7jAK6r371q9nNA9fVg6LhMaU77KE3Zn310sAEx9iZBCZ5hgR1/afufOxX5omJiXi4MSlOFEVG2/odr7SUZnJ8SM/qqd19993jr8ZKyq3Xh14nqu973vMeo+k2kn3J88UXXzz02w70mpw2bZq56aabktO6z4suuqhJXpPKR8saruweYC1oCpJhQYRGDNSbZ50WT7MURZG9aezl3//+92abbbYxvYI59brlzUAjGe94xzu6h2uuz0suuaS7zgICPgoQ0PnYKmOWSdeOaD4lO5lPf/rTZtlll7U3sTyiQM8ephxp6M3s85//vNEEz/bhyy+/fHwtkt5YZ8yYYb7zne/EQ1KaTPq8884zCy64oH240RQK2V7X1AGZFd0Uo6E0pTvsoV6dJZZYIpNCeavXXnutOfHEE3MlqNfpCSecEHv0KvcXvvAFM//883fT0rK29TpW25SW0uyeENCCJrhNeoPVY6T2T4YuVTf9ruv1o2mKkm85SKr3jW98w2iINFnPPmvqkOxrUsP89957b3wTQPKaVD5aVg+zPiSqR89OS8G6jtHQrb3dXlaZb7jhhu6mV73qVeatb31rd72MhdmzZ8dBqMqfpKdh0x/84Adx8Jhsy/u89tprpw6dOXMmEw2nRFjxTYCAzrcWKVAeXcOiuZL0qXyzzTaLr7OxP6HqU/ynPvWpVK9GgWxafYretDT0laeHKQulHr3vfe97qc0bbrhh/NVCuiZKF5vbO7U+MTFh1Ms6ZcqU7i5N9aCgSGXpbgxgQW/0xxxzjFEvRwDF9bKI6iXThOG9vk1BAa2un1NQZxdec0/q2jp7W7KsAEvXhSXretY1Z2efffbAOeE0FKm/M8k3Kug8PXTN3aDfDfWc2deKKh19E47OLeOhYE6/S8n3wipNBXM//vGPzfvf/36tjvx405veFN98kpwoyz/96U/JKs8IjCxQ9QkEdFULj5G+/gDqIucoiuJgLIp6P+suscUXX9womNMfWzvLaZ0hlZ/85CdGd27Z21keTSDbw/T2t7891UvULzUFX5qmwQ5m3vCGNxgFeLpTsd952q67QT/f6dnTcvJQT8mgXpfkOJ+eNWyoGzuSMm2wwQbJIs85BN75zneaY489tufQanJ6FM25YzQ7Bcjtt9+eHJJ6VnBy5513drfpg8OBBx44MI/kYAWQe+yxR+p7V9VLqOtLk2Oyz7quTb8LyXbdoKVeumR9nOeHH344/srDMoM5lUc91vpd1bIe6qFUYKrlcR+6LlYeVTyU9rjl4/wwBQjowmy3oaVWL496lE4++WSja7SGnuDpAbrwuu6iZXuYXvva15rPfe5zcZA9rGwaPrWDGR2/8847m7xDgLpWStc/6jw91OuiYS8th/BQz7GGipOyathQU1Uk6zwPF1Dvep4PZIsttphZffXVUwnaQZu9Q9fI6WYGDStqWb1b2WDQPj67rMsF9GEz2a7fEQVWybr9rEsOfv3rX9ub4nLqg2hqY4EVBZLbbbedueaaa7pn65rC0047rXDPXJKQAk4Fnsm6nkP63VN5ebRLgICuoe2tYVj9wV5jjTXM1VdfHey0F7oLr+4m+ulPfxpPd5CUQz0ZGo5J1gc96xO9elqTY9QTMsoQ0NJLL210cbaCSF2YrrzzBoOm5n/qffjud79rdN2XiqJrvI444ohJ8yNqH4/eAuolUk9t773prVEUGc1HZ29VMKV2sLdpeZVVVjG6yUbzzino1tBkGQGW0s4+FOxpiNfeng2U7H15lxXMaejXvg5QwdwZZ5wR3+WbN51+x8lDQ8P2fr2We3nax7CMQF0CBHR1yTvKV7faa4hLc1ONO+1F1UXWnWXZP/T2MErV+fdKX292hx12WDcgVg+TrjXqdWyvbb/97W+752q/LgTP1lHb+z30pqJ5x9TTN2PGDKO7XVdaaaV+h3u1Xd8K8OUvf7lbJr35Tp06tbvOwnCBN77xjUY9aMOP7H2EenSz81H2PrK6rZrI2f5Qo5yGXW6gYwY9lKY+sNrBXBRF5tRTTy0lmEvyzt4d7YNnUjaeEcgKENBlRTxa10XDeiPXJ8Jhj7/97W9G11ZpqEFBR7YaX/rSl8zhhx+eCi6yx/iwrp4Duxy6EDz76d7eX+WyzHv1MGX/yA8qgy4Wt/erTRW42tuauKwPD7pzVjdyqH6aQuWggw7KdY2Wjnf90N2dUdT7GlVdvrDccsuZj33sY0bT1qhnyFX5lHcURa6yG5iP2lQ9VEceeaTRTT3ZIK3fyfoblrwOdIxuVtDUK1ou8tD1qJ/85CeN7l61z9fvq753VeW0t4+znO2J100RdQfI49TH4blkVYMAAV0N6FVkqSBBPT+6nkQTeOpGCP3htPNSQKdpDuxtg5Z1QX4URfG1YlE0+VnX0GhuJwWL+kM3KK28+9SbaJdb16wccMABuSYuNSX/y/Ywbb/99maUHia9wWjIyy6WLiiPosje1MhlTfGg3pKkcvo6qV53aCb7fX7WtCH6sHT66afH8wRq2FzTArm4vlO/0/rdduWj16xubtBNDBq63HvvveMpP9SjpnkK1cOsibX7XZvnopz6ndKlDL3y0l26Cup67Stjm/LW66GMtEgDgbIFCOjKFvUgvSiKjHoc9Iaq65aSIukPkYIvXdOSbBvnWdMUaMhDNwio50lfG6QgaJw09aavWfHtNE466SSjyWH7vYFq+EV39+64446pi6PtNEZd1qf8bA+T6qlrdPKmpU/yGqKxj89+4rf3NWVZPVgaptbrTXXSfHhqmygqMZBVwjU+dMORghtd0lBjMUrJWq91TQy8/vrrx3euqjdVN0togl7dXavfcfurxkbNVH9v1Ks26nl5j7f/xikg3W+//eLRirznDzquqg9g8o6iqO+H5WiJGzsAABAASURBVCgqvk9pD6oT+5orME9zq0bNFNTpuiVb4vrrrzd33XWXvam0ZV1grTdvzTmmmzKKJKw/oOqRUy+Ifb6CU81Urzca3SWqh3oH1XOgu9E0ZYsu7E6CCPvcIstN6mEqUv9xztE3AiR3HUZRZNSe4wyxjVOWvOfqLk/N9dbroXkce13Hpl5pnadhyLz5+HScgp8rr7zS6JpM/a3Q5Q15f3/UO28HUoPqpWBQPVuDjimyT/lr4uyf/exnRstJGppY+OijjzZl5Km/OfqblKTNMwI+CxDQ9W6dRmxVb5LujLQro2vt8l77ornWer3BaZvS1Z2XdtrJsiY5/cpXvpKsjvysu/p07ZrKb5+sNxsNBanHTo9xew7stO3lsnqY5ptvvkl3dNZ9k4ddzyqWZ82aFc+ZlqStO3oVLCTrvj5rCFXfdtDrocsUdHOMrgPTtVt2HbRNN6qol8ve7vuygjl9k4QC0nvuuWdgcfV7rt93BUm6nEM9bvq6sKWWWmrgeclOBUW6uSdZL+NZAZy+AUTfgKOA+7//+79Tyaod9f2rqY0FVtTu+raOAqdyCgLOBeZxniMZOhXIfn2UMs87LKq7OfWHsddDd1zqYmcNpehGDPu6N+Vx/PHHm/vuu0+LhR5bbrmlUY+B5rvKm4AuINcf+rzH9zuurB4mvYll5wDUm6HeTPvlHfJ21UuBvHpIVA+9JvSVXE3p4dDNMAoi9IFG9UseF154odHdzMl6CM/6YKQPXvqQZJd31VVXNQr0NPGwPvypTfV7rt93XU+nD1v6oGKfM2xZ7a/r74Ydl3d/FEVGd08rmIuiKB4m1vW+CjyTNFSvPffcM/4Ks2Rbked8vXxFUuYcBMoXIKAr37RVKaoXTTdiaEjUDqZ07dill146loXu1tXFz5oHbpNNNklNkKy8NOGueg70nZR333230cXcmlV/nEzL7mHKzmOl3lFd8zdKGXVNjC6M18SvmpRX3zLh4xuNggT1nCZ1U+CjACBZb8KzXu+77babsS8JUA+Obt4JpX567SjwVrmTMqteumRBEwBrImNdH6jXXLJ/nGd9sNGHrXHSsM9VgKjr/aIo6m7W9C6ao7G7obOgoXANySoo7ayW8qO66G/PuInp2xxUrioeSnvc8nF+mAIEdGG2W+5S97qRQDce5E4g54EKuLLBlL7DNOfpfQ/TG43+QOmmBwVCyR9AXaOnSYfVc/C///u/Rj15475p6FO93ujK7GFabbXVUnVT76jKndo4ZEXXJuoGC91ZqMBZ1wwNOcX5bvU86i7qJEjQVybp66GiaO6brvNCVZSh7jxVwGMnP2qb2ue6XtaHCl0jauer3rqtttoqvkjf3t5vWfV97LHH+u1Obdf1kxp2TTbqNaJev2S9rGd9sNQQsp2eevL0QcPeNsqyfl/t4zXRd7bX3d7PMgJ1ChDQ1alfcd76JJ792ikNg+mC5rKz1qd5vdHZ6YZ2XZF6J8ruYVKvmnoSExd9H6Su/UvWhz3rer7s8XrTUk/BsHNd7r/oootS36ahiayXXXZZl0VwllcURWbcDw+mxn8KpnTtX1KEKIqMpguKovzBd3ItXZLGoGf9bdBd8PYxKoO9Xsay8tHd1fobl6Sn4FGvRf0eJdtGedZIg328/sYpH3sbywj4IjCPMb4UhXKULaCLgjWMYqf7X//1X0bDE/a2Mpafe+45Y79JKE31ruk5hId6/zRkozcAlbesHiZ9os/2XOr6Qg3tKp9hDwVzdg+Dhvr0VWDDztN+TT8x6vVOOm/Uh970ZKfeU52r+mrKCy038aEL5dVbatct7w0C9jl1Let3VT3cSf5qt1E+fOnyBk0unJw/7FkBUDagUy/hsPOK7NcQv+Y8tM/VHdcnn3yyvSnXsj4QZwPP7CUUuRLiIAQcCdBD5wjadTY33HCD2XbbbY2GEe28p02bZhZaaCF7UynLmg5FdwPaiekaOHvd5+Wbb745NYedPtWX0cOknjRdc2VfFK4hXc2rN6zXQG+cuthbb7iJnaahUa9fsj7oWUNDyn/QMWXsU9Cp65WUlq4v0jQlVbzGlH7dDwVC6sW1v4hePUJ526Tu8it/TcGiIEvLyUMf/PIEdXfffbeZmJgwmoMyOTd57nd+FEVGd8wnx+lZ8/cpsNRymY8oiozuWNb0SXa6uhzglltusTcNXX7qqaeMruG1D8xeQmHvYxmBugUI6OpugZLy15u+bgrQtWaak2299dab1GOmAEt3rpaUZZyMgpKjjjrKbLrppkZ3vMYbO/9pmHHjjTfuLIX3U3YP0zrrrGOy010oCJo6dWp8d6TazlZS0KB21ETN9jQn6nHTnXu9gjS9mepaOzudOpZH/TaNOspYJE+1kQJs/f7o9W6noYmwq7gu1c6jzGV9UMmW95RTTjG777676XXNrfLW35ZDDz3U6LwkeNd2+2G/Vu3tWlbPmf261U0k+tuhfWU/dM2ePlRE0dwhZAVn6kXWtZ5581PPs+YaTI5fYoklDD10iQbPPgoQ0PnYKi+WScMSut4tiqL4YuUo6v+snhG94SuYUzDwYhLdpylTphjNbq+pF7obhyzoeys1gW+vh4IUTeqrdPfdd99JX82lwGO55ZYbksOk3bVvkKPeDMrsYYqiyGiuMs2XZVdQvRSrrLKK0RvFRz7yESNn9X4ob7WjPYStculu3qTnQUO2egPWOfoWBk0OqxtE7PSVtr1e9bJef6N+m0bVZcqbvu6GlGX2obuK1fv28pe/3OhbPs4777xUknr96/WiOy9TOzxe0etr1113nVTCE0880ejmhbe97W1GrylZ6HWpD2dq24MOOqj7e67LKXQ9mZ2IPojY6/ayDN/85jd3N+lv26AAsHtgwQVNe6SbPOzTdT3xOeecY28auKz5+TR1S3LQ6quvbvT3OFnnGQHfBObxrUCUp3wB/THWHzJ9Sh4ldQ1Danip10MXRWsG+F7p7bLLLkbDjL32+b5NE5RuuOGGpRdTb6Jqg+ybjDLSNVka8pKzvoNXd7Rqe/JQMKeJlvUmlWxTj4muC9I5msZEbz7JPj2rzXXnsZZdPRTMJQGnqzzLyueyyy4zssw+dFexrpdTD2g2L7WL2mDU36tsOnWsK1DT72k2b12ioTno9JqShV6X2evIdEe55ojM/o6r5049mdk0ta4PkraTrk/T8dpXxUMBpwJQ/R7Y6WsuPfW02tv6Lc+cOTO1Sx+y5ptvvtQ2VuoUIO+sAAFdVqRB6/qjpjdZvdlrWKjqqqmXQj0d6glU3lXnV3b6+uOvnkV7aKjMPBTUnXHGGeb00083vSZ87pWXhsn1Bjtt2rS4l7bXMdltCjT0HZwaHsvuq2pdgZyC4arS9y1dBTX62ixd0+hb2fKUR7+fX/3qV42+pk/Lec7Ra1bn6PWo16V68qIo6p6qIC8b/CU7oygyCiKjaO7xml+yiuvokjz1mtQ1qMm6nnXt3xFHHNHtadS2Xg/1juuyiGSfemKnTp2arPKMgJcCBHReNkuxQuliZw2zKSjRHyP19OiNXX+Ii6U4+CwFDhqO0ZuaPslrXioN5YQ6pYOCX70JDK71eHtloztA9YahNzTZqd3sVDWso6E+vUHq5pZegZluspC9fZ7emPVVW+o9HSUAtNMoshxFkdH1Vbp2qcj5vp5jl0u2un5KvVK6VlG9dprqwz4mtGXVSTf/KMjR/Itrr712avJu1Ud3p+q1eMkll8TX5OqGA31w0z7dMS8TLesxe/ZsozvrtdzrscYaaxhdGpDs0zRB/QLA5Jhxn3Xzka6JtdNRr6um2bG3ZZd1jd9dd93V3axrhDVs3N3AAgIeChDQedQomtxTQxZFHxq603VZmkxTPXL6gz1K9aZPn25GyVvXzGiC0bPPPtvoYnHdVdkvP93lpgAzSV9//O2v6ul33ijbdeeehkmSPPSsSYl7paHt2m8/5N/r2F7bsvVR3bSt17G9tqltVAbZqd3scuhibF2krhtbFAD2Ol9vpnrDsc/TTSm6TkhvnL3OGbRNbaE2SdIbVB85JcfpWcN09nDwoHy0T/XWeclD+Sp/7cvzkLPKl5yvZW3Lc66O6fU6SdLq9yxbvcnrq78U+PRrF6U/ziNrq9/JUdLLnq/fB9V3UBoaDtX1mApUNX2PbaC20WtRNzjpNWuns/jii8d3gdrHa3Jf+xh7WT3g+juRbNOdwhrqTtb7Peu1oXIk+YzS3uoVv/rqq1N/1/R3a9j3Cyvg07CwyhRFkVFQW1XPvfLw9ZH9Xc3zevK1Lm0oFwFdba1MxggggEC7BBQY2T3LuslklDtPXWg98sgj5txzz+1mpWv/dMd5dwMLCHgqQEDnacNQLAQQQKBpApoyxb4xSEO0GlXwqZ4qk3pjkzLpMhL19CXrtTyTKQI5BAjociBxCAIIIIDA+AJRFJmddtrJaPhVqWko+4c//GE8JKr1uh/qLdQQc1IO3fyhu1uTdZ4R8FmAgM7n1qFsCLgRIBcEnAnoJh97yhQNb+pOfGcFGJDRTTfdlLqxQzfB6BrDAaewCwFvBAjovGkKCoIAAgg0XyCKongS7eQ7pXWXrW7+0E0PddZecw1q2iX1GqocG220Ufw1Z1rmgUAIAm4CuhAkKCMCCCCAgBOBpZde2mji3yQzTZxddy+d7vLVxN4qk6YF0jeADLtDWMfyQMAXAQI6X1qCciCAAAItEtBEw8k0Juql04Tk6qWrg0DXzmmS5aR3Tt8osf7669dRFPJEoLAAAV1hOk5EAAEEECgqoHntjjzySKN55pSGvmpMkw1r2fVDk3xfeOGFcbaaiFiTjEfR3G+1iHfwHwKeCxDQed5AFK9sAdJDAAFfBHQdna5b07fOPPvss+bggw826i1zWT5N7H3YYYfFd9rqK76OO+44wzQlLluAvMoSIKArS5J0EEAAAQRGFtDX3+nbGzTcev7555vkq8VGTqjgCfrKuttvvz0O6J588kmjiYQLJsVpTRMIrD4EdIE1GMVFAAEEEEAAAQSyAgR0WRHWEUAAATcC5IIAAgiUJkBAVxolCSGAAAIIIIAAAvUIENDV4+4mV3JBAAEEEEAAgVYIENC1opmpJAIIIIAAAv0F2BO+AAFd+G1IDRBAAAEEEECg5QIEdC1/AVB9BNwIkAsCCCCAQJUCBHRV6pI2AggggAACCCDgQKAxAZ0DK7JAAAEEEEAAAQS8FCCg87JZKBQCCCCAQEUCJItAIwUI6BrZrFQKAQQQQAABBNokQEDXptamrm4EyAUBBBBAAAHHAgR0jsHJDgEEEEAAAQQQkECZDwK6MjVJCwEEEEAAAQQQqEGAgK4G9H5ZHn300SaKokKPl73sZWb55Zc306ZNMxdffLF57rnn+mXDdgQQ8FQg+zdghx12GLOkvU9/5plnzNSpU1N/a84///zeB1e89ZxzzjHzzjtvXJbNN9/c/OMf/0jl+NBDD5nXv/718f4oiswCCyxgbr755tQx46z7/x3UAAAQAElEQVQ88MADZqWVVorTf/WrX21++ctfjpNco87VayKK5r4n6TWj106jKtmgyhDQNaQx//Wvf5l7773XTJ8+3Wy22WZmwQUXNMccc8ykP44NqS7VQACBBgjMnj3b7LvvvuY///mP0YfSvffe28w///xOa7bUUkuZ/fffP87zqaeeMvvtt595+umn43X+QyAkgXlCKixlzS+gAG+fffYxm2yyiXn44YfznzjikRyOAAIIFBHQ36iDDz7Y/PGPf4xP//jHP27WXXfdeNn1fxMTE2aDDTaIs73iiivMN7/5TfPCCy/E6/yHQCgCBHShtFTBcl5zzTVmu+224xNnQT9OQwCBagTOPffceERBqS+yyCJmzz33NC95yUu06vzxyle+Mu6lm2eeOW+Jhx9+OEOv5bcCKVYsMOfVW3EmJF9MYJllljF//vOf40+K+rTY7/HPf/4z7oW77LLLjD7lZnPTJ85vfetb2c2sI4AAArUI6Lo19c7pb5oKsMsuu5iVV15Zi7U9dH3Yhz70oTj/Z5991hxwwAGG68ViDv4LRICALpCGGlTMl770pWbxxRc3733ve82pp55qrrvuOjNlypTUKV/72tfMfffdl9rGCgKNEqAyQQgoiPv2t79t/vCHP8Tlfd3rXmf+53/+J74pId5Q03/6O/qZz3wmvpZPRdAH5BkzZmixtQ/dpKL2Sh4zZ8406s1sLYjnFSeg87yBihRvvfXWM1/84hdTpz744IPm+uuvT21jBQEEEHAtcMcddxh7xOATn/iEWW655VwXo2d+uoZvyy237O476qijzKOPPtpdZwEBnwUI6PK3TlBH6pOVbvW3C33VVVfZqywjgAACTgXU03PSSSeZxx9/PM5XIwlbbbVVvOzDf7qGT1PFRFEUF+d3v/ud0bV+8Qr/IeC5AAGd5w1UtHgLL7ywectb3pI6fdasWebvf/97ahsrCCCAgCsB9c798Ic/7Ga36aabmhVXXLG77sOCeunWWmutblG+/vWvF+il657OAgLOBAjonFG7zWi++eYzunPMzvXf//53fIOFvc1eTj6ZRlEUX8+iSU7t/eMsayJQTQgaRXPSVu+hJgy109QFyLowOYrmHBNFkdHElvYxg5ZHOV/pRtHcfJSvzh+UfrJP0y1svfXWsVEUzUlDdVMdk2OGPSuNSy+9NJ4IWhZRNCedKIrMYostZtRroTLquGFpJfvVXlE0N50oKr48qD7ZfPS6Scow7PmJJ54werOMorllU/3t14IclX8UzT0mioovKy2lmZRN7az2jqK5aco62e/r8/PPP28uv/xy89GPftS85jWv6b7+NCnv2972tnjeSdtxnHroettPf/rTRte3RdEcJ80Tt84665gTTjjBqB2LpH/WWWd1e+eiKDJ67ahXrEhaw86RlSYKjqI55Y+iyGh92KUnCy20kPngBz/YTV69dFdeeWV3vU0L+r2Iorl++r3R70+bDEKq6zwhFZay5hdQ8JbtjdMbJxe05jfsd6QuDNbs9v32D9quN+Uf/ehH8Rul5gicPn26uf/++1OnPPbYY0bpf+ADH4iPu+CCCyYF4qkTAlrRG/qvfvWrgErsR1F//vOfmxVWWMFstNFG5swzzzRPPvlkt2CalPe2224zmndyySWXNHvttVfhCcX1LQ06/w1veEM8F5vusk8y0oeLX/ziF2aPPfaIP3ToOfs3Jjm21/MjjzwSlz3Zp/qsttpqyWqpz/q2hw9/+MNGEwUnCWt498ILLzS6xjjZ1u9ZN5i94hWv6O4+5ZRTCpt2E2EBgYoFCOgqBq4reX2C1idLO/88f8js41meLCBXzSqvN9HJewdv+ctf/mLe9773mW233dYoaBt89Jy9Ok7XQx5yyCFGb6hztob5/913320OPfTQMAtfU6l1zZmG/N797nebe+65J1cpjjvuOKML+0f9tgMFPzpP5w/LSK9/9dSpx0ZTkAw7XvsVDCZ3tmpdvX3qjdZymQ8Fc/qwpPok6SqY04eJvH8DFWyuueaayelG1x/feuut3fVxF7I9X1E0txcsisZbVtrjlo/zwxToE9CFWRlKPVdAt9zbfzw1dLLxxhvPPYClQgJ6UyjSw6Q3Vw3Tapg1m7GGBLfYYguz0047GR3T601OAd1Xv/rV7KkD1zXkPm3atDhdpT3ooSBTQ2oDExxjZxKY5BkS1PWfuvOxX3knJibi4cakOFEUGW3rd7zSUprJ8SE9q6d29913j78aKym3Xh96nai+73nPe4ym20j2Jc8XX3xx3MMm92TbsGf1uOk8+7g11lgjfv1sv/32Rr1/9j4t33TTTfFlA3p9a73fQyMG6pm296sXLIoie9PYy7///e/NNttsY3oFc8ovbwYayXjHO97RPVxzfV5yySXddRYQ8FGAgM7HVhmzTLp2RPMp2cnoephll13W3sTyiAJFe5j0Zvb5z3/eaIJnO8vll1/eKMDTm+GMGTPMd77znXhISsNc5513Xvx9vPbxmkIh2+tq788u66YYzT+odIc91CuzxBJLZJMobf3aa681J554Yq709DpV70+/Mn/hC19Ifd+nvvtT2/odr7SUZq7MPTtIE9yqN0zFUo+R2j8ZulR99buu14+mKUq+5UDH6vGNb3zDzJo1S4u5HupBTg785Cc/GX+7jD68KB9dGqCeuFtuucVkb2K44oorzEEHHWQGBY8q8w033GCSf6961avMW9/61mS1lOfZs2cbfTC69957u+lp2PQHP/hBPEdnd2POhbXXXjt15MyZM5loOCXCim8CBHS+tUiB8ui6LM2VpE/Xm222WXydjf0JVZ/iP/WpT6V6NQpk0+pT9Galoa88PUxZKL0pfu9730tt3nDDDeOvFtI1Ubqo3d6p9YmJCaNe1ilTpnR3aaoHBUUqS3djAAu6LuuYY44x6uUIoLheFlG9cZowvNe3KSig1fVzCurswmvuSV1bZ2/Ls6ybXhQMLrjggqnDoygyq666ajxxuV6/9k5NRfLrX//a3pRaVs+Zfa2ohjT1TTipg8ZYUTCn36Xke2GVlIK5H//4x+b973+/Vkd+vOlNb4pvPklOlOWf/vSnZJVnBLwTIKDzrknmFkh/ADXMEUVRHIxFUe9n3SWmb4pQMKegbm4KxkzrDLn95Cc/Mbpzy94e0LIXRc32ML397W9P9RL1K6SCL03TYAczuuBcAZ7uVOx3nrbrblD17Gk5eagnb5Rel+S8Op81bKgbO5IybLDBBskizzkE3vnOd5pjjz2259BqcnoUzbljNNt7dvvttyeH5HpW4LjnnnvGf2/6naDXrXrtXvva13YPUU/i97///b69dLquTb8LyQm6QUu9dMn6OM8PP/xw/JWHZQZzKs8SnR5r/a5qWQ/1YCow1fK4D10XK48qHkp73PJxfpgCBHRhttvQUquXRz1KJ598stE1WkNP8PSAv/71r7WXLNvDpDeyz33ucwPf9JJCa/jUDma0feeddzbLLrusFoc+dK2Urn9MDlSvi31tZLLd12f1HGuoOCmfhg01VUWyzvNwAfWu5/lApmvrVl999VSCd955Z2p90IpeZ/vuu+/AwDE5/41vfKPR6zhZ17MuKVB7a9l+6JKDbO+dyqkPovZxRZY13LzddtuZa665pnu6rik87bTTCvfMJQkp4FTgmazrOaTfPZW3fY9215iArqHtr2HYXXfd1eii5quvvrrvJ2ffq6/rduou409/+lOj6Q6Schx44IFGwzHJ+qBnfaJXT2tyzJQpU0Z6o1l66aWNLs5WEKnrg5R33mDQ1PxPvQ/f/e53ja77UlF0jdcRRxwxaX5E7ePRW0C9ROqp7b03vTWKIqP56OytCqbUDva2fssTExNmlNeWeoI0rJmkp2tM7V6yZLs+EOkaumRdz9lASdtGfSiY+9CHPpS6NlXB3BlnnBHf5TtqetnjFXBqaNjertdyXk/7PJYRcCFAQOdCucY8dKu9hrg0t5Tv017ozrLsH/pebxAuOdXjcNhhh3UDYvUwaX6rvGX47W9/2z1X5+hC8Gwdtb3fQ28qmndMPX0zZswwutt1pZVW6ne4V9v1rQBf/vKXu2XSm+/UqVO76yEuuC6zesIWXXTRwtmqRzfvXHGaGiWKotx5aTjSvqZPwaOGVrMJaCJa+0ON9mvYVs9FH0pTH1jVK5ikEUWROfXUU0sJ5pI0s3dHj+KZpMEzAq4ECOhcSRfIRxcN641cnwiHPf72t7/Fd7RpqEFBRza7L33pS+bwww9PBRfZY3xYX2WVVVLF0IXg2U/3qQMqXJF5rx6m7B/5QUX4zW9+k9qtNlXgmtrYwBV9eNCds7qRQ9XTFCq6E1I9KFr37aFJnKMoiofRoyj9rMsXlltuOfOxj33MaNoa9Qy5Kr/yjqKo8uzU0zbKBw0VqNeQpIJ47bMf+huWvA60XXlpeFjLRR66HlV34eruVft8/b7qe1f12rO3j7Oc7YnXTRF5A+Rx8uVcBIoIENAVUavsnOIJK0jQH2RdT6IJPHUjhP5w2ikqoNM0B/a2Qcu6ID+Kop5vclEUxfNSaW4nBYv6Qzcorbz71Jtol1vXrBxwwAG1TKqrNye7h0lzcY3Sw6Q3GPVaGOuf7kiMosja0sxFTfGg3pKkdp/97GeN3ZuTbA/hWdOG6EaU008/PZ4nUMPmmhbIxfWd+p3W73bVTvpKLN1YNUo+6j3OXp9bZjDVryz6ndKlDL32n3322UZBXa99ZWxT3no9lJEWaSBQtgABXdmiHqQXRZFRj4PeUHXdUlIk/SFS8KVrWpJt4zxrCg8NeegGAfU8rbvuukZB0Dhp6k1fQz92GpoSQZPD9nsD1fCL7u7dcccdUxdH22mMuqw3pmwPk+o5Sg+TPslriMbOO/uJ397XlGX1YGmYWq831Unz4altoqg5gaxuONLwuS5pUB1Df6gnUI9R65G9xqzX+fp7o161XvvK2Gb/jdOHqP322y8erSgj7ao+gOnbHKIo6vthOYpy7OtzjNIuo+6kEZ7APOEVmRLnFVBQp+uW7OOvv/56c9ddd9mbSlu+8cYbjd68NeeYbsookrD+gKpHTr0g9vkKTtWLoMk+dXedHuod1LU4GvrRlC2acyoJIuxziyw3qYepSP3HOUffCJDcdRhFkVF7jjPENk5Z8p6rOcw0ZUevh+Zx7HUdm3qldZ4ulM+bT9OO04eWYXXS986qZ2vYcaPuVyCnibN/9rOfGS0n52tiYc2lV0ae+pujv0lJ2jwj4LMAAZ3PrTNm2dSbpDsj7WR0rV32AmV7v72sudZ6vcFpm9LVnZf28cmyJjn9yle+kqyO/Ky7+nTtmspvn6xgTRddq8dOD/UO6s3CPqaM5bJ6mOabb75Jd3TWfZPHCD6FDp01a1Y8Z1pysiZ11QeLZN3XZw2ham61Xg9dpqCbY3QdmK7dsuugbbpRRT269vbQlvUBTI9Ry53nLnQFRRqeHTXtQccrgNM3gOgbcBRw//d/mmLergAAEABJREFU/3fqcLXjVVddldpWZEXtrjn2ipzLOQi4FpjHdYbk51YgO9u7cs87LKq7OfWHsddDd1zqYmcNpehGDPu6N+Vx/PHHm/vuu0+LhR5bbrllPCO9vh4rbwIaMtIf+rzH9zuurB4mvYllrzHS8JOGhfrlHfJ21UuBvHpIVA+9JvSVXE3p4dDNMAoi9IFG9UsemtJGdzMn6yE+64PRqDcfqQcs20O31FJLTaq+2r/M7wmOosjo2lYFc1EUGf2e6Xpf+wOmPvxpgmQFZJMKNMIG1XGEwzkUgVoF6gvoaq02mZcloF403YihIVE7mNK1Y5deeulY2ehuXV38rHngNtlkk9QEycpLE6Gqp/Bb3/qW0RxYTzzxhNGs+uNkWnYPU/YaI/WO6pq/Ucqoa2J0Yby+BUCT8upbJnx8o0l6T5O6KfBRb2uy3oRnvd532203Y18SoB4c3bwTcv1Uh1GDH329oH4/7XrrGlh7XcsKuPRhS8tlPBQgrr/++vH1Z0l6mt5FczQm63rWULiGZPVBQ+tlPFQX/e0ZNy3N4adyVfFQ2uOWj/PDFCCgC7Pdcpe6140Evf7o5k6wz4EKuLLBlL7DtM/huTfrDVR/oHTTgwKh5A+ghoc03KOewv/93/816skb901Dn+rL7mFabbXVUnVV76jKndo4ZEXXJqonRLP+K3DWNUNDTnG+Wz2PuotagYEy1xxle+yxR+pNV9ub8NCdp7ohwq7LqG1qn+vLsr7ebpSy6PIBfZBKzlGPrD50JOvJs66f1LBrsq7XiHr3k/U8z3mO0QdLXdNoH6uePH3QsLeNsqzfV/t4TfSd7XW397OMQJ0CBHR16lect3pxsl87pT+6Sy65ZOk5qwdJb3R2wqFdV6SvJ9K1eUkdyuhh0hucehKTNPV9kLr2L1kf9qzr+bLH601LPQXDznW5/6KLLkp9m4Ymsl522WVdFsFZXlEUmXE/PBgP/+l1ptdbnqLpg1X2O4r/67/+y6inLHu+/jboLnh7exUBnfLR3dX6G5fkpeBRr8W89UrOS5410pAs61l/45SPlnkg4JsAAZ1vLVJieXRRsO78tJPs90fXPqbI8nPPPWd0gbh9rnrX7HV/l41R75+GbPQGoHKW1cOkT/TZnktdX6ihXeUz7KE3WbuHQUN9+iqwYedpvybz1Y0ZWq7yoTc92elNXvmovttss40WG/nQ0KR6S+3K9bp2zN4fwrLmr9T1o3nKqtfk97///dSh6iFbaKGFUtu0ogAoG9Dp0gPtK/uhIX7NeWinqzuuTz75ZHtTrmV9IM4GntlLKHIlxEEIOBIgoHME7TqbG264wWy77bZGw4h23tOmTTO9/ujaxxRZ1nQouhvQPlfXwNnrPi/ffPPNqTns9Km+jB4m9aTpmiv7onDdNKB59Yb1Gmg4Sxd7J4GS/DQNjXr9tDzsoaEh5T/suHH3K+jU9UpKR9cXaZqSKl5jSr/uh4b61Yv78MMPd4uiHqG8bdI9ydOFfffd1+h3eVDx9Lr8+Mc/bpIPPzpWPXO6nlXL2UcURUZ3zNvbNX+fPgTa28pYjqLI6I5lTZ9kp6fLAW655RZ709DlXtcIZi+hGJoIBzRPwOMaEdB53DijFE1v+ropQNeaaU629dZbb1KPmQIs3bk6SrrDjlVQctRRR5lNN93U6I7X5HgNM2688cbJalDPZfcwrbPOOiY73YWCoKlTpxrdHam2s4EUNKgdNVGzrlNK9qnHTXfu9QrSNLyta+2SY+t6HvXbNOoq56j5qo0UyOj3R693+3xNhF3Fdal2Hq6WFcTodalpg/SasvPt97qMoij+WkH1RtvH28vqObNft7qJRH877GPKWtY1e/pQEUVRN0nVS73Iutazu3HIgnqeNddgctgSSyxh6KFLNHj2UYCAzsdWebFMGpbQ9W5RFMUXl0dR/2f1jOgNX8GcgoEXk+g+TZkyxWh2e0290N04ZEHfW6kJfHs9FKRoUl+lq0/12T/+CjyWW265ITn4t1uOejMos4cpiiKjuco0X5ZdY/VS6Ltr9UbxkY98xMh5YmIi7kFVO9pD2CqX7uZNeh40ZLv77rvH5+hbGFZaaSUzY8YMO3mjtFMbKl7R62/Ub9OouEi5k9fdkPLPPnRXsXrfXv7ylxt9y8d5552XSlOvf71edOdlakfxlVrO1MTJG264YZy3fpfVg6weXr0eZaLXp9o3+7rUCRri1DRDWu73kOGb3/zm7m79bbM/rHR3lLSg8my11Vap1HQ98TnnnJPaNmjlnnvuMZq3Mzlm9dVXj7/uMFnnGQHfBAjofGuRCsqjP8T6Q6ZPyaMkr2FIDS/1euh6G81d1Su9XXbZxWiYsdc+37dpgtLkja3MsipAVBtk32SUh67J0rWOctZ38OqOVm1PHgrm1GOiN6lkm3pjdV2QztE0JnrzSfbpWW2uO4+17OqhYC4JOF3lWVY+l112mZFl9qG7inW9nIKcbF5qF7XBqL9X2XR8WFdAqm9XWGONNbrFUZ31epSJXp/q5erufHFBNyF88YtfNMOul9UHSdtJ16clw/QvJlXqk8pz0EEHTZrYe++9946nOMqTmb4txj5OwayLa1LtPFlGYBQBArpRtAI7Vn/U9CarN3sNC8XFr/A/vSmop0M9gcq7wqwqSVpBkHoW7aGhMjNSUHfGGWeY008/3fSa8LlXXhomv+2228y0adPiXtpex2S3KdA49thjjcthQAVyCoazZWnquqbJufLKK42uaWxKHXVjxyWXXGI0rDysTqq/LhvYf//9hwZzSiuKIqNeviiKtBo/NL9kFdfRxYl3/tNrUtegdha7Pw899JA54ogjjILV7sYeC+odV/2SXVM6IxxTp05NVnlGwEsBAjovm6VYoTRsomE2BSX6Y6SeHr2x5w0eRs1VgYOuldObmj7BP/bYY2bXXXcNdkoHBb96ExjVYZTjNd2F7gDVG4be0GSndrPT0DC7hvquu+46o5tbegVmuslC9vZ5CqL1VVvqPR0lALTTKLIcRZE59NBDja5dKnJ+COfIVtdPqedZ1yqq126DDTYIoegjlVGXUZx55plGdVQAZs8fpyFY9frqdasJhfUhMYrmBmjDMlLvny4NSI7TNEHZu0iTfWU9a+hY18Ta6anXVdPs2Nuyy7rGz/7Oa10jrGHj7HFNX6d+YQkQ0HnUXvvss4/RxddFHxq603VZmkxTf2z1JjRK9aZPnz5S/rpIWhOqnn322fGnev3B75ef7nJTgJnUbfbs2cb+qp5+542yXdMjaJgkyUPPmpS4Vxrarv32Q/69ju21LVsf1U3beh3ba5vaRmWQndrNLocuxj7llFOMbmxRANjrfE0/ozcc+zzdlKLrhPTG2eucQdvUFmqTJL1B9ZFTcpyedSe1PRw8KB/tU711XvJQvspf+/I85KzyJedrWdvynKtjer1OkrT6PctWb/L66q+11167sg8tWVv9TqrMeR/Z82fOnGlU3+z52qZ9SX3tNoiiyKiO6k3WvInJMZraR9fnqv30+s2mOWxdPeB275/uFNZQ97Dz9NpQ+ZJyjNLe6hW/+uqrU3/X9Hdr2PcLK+DTsLDKFkWR0QesqnrulQcPBMoQIKArQ5E0EECggACntE1AgZHds6ybTEa589SF1yOPPGLOPffcbla69k93nHc3sICApwIEdJ42DMVCAAEEmiaw7LLLGvvGIE1+rlEFn+qpMqk3NimTLiNRT1+yzjMCvgo0OqDzFZ1yIYAAAm0UiKLI6Cv1NPyq+msoW18hpuFUrdf9UG+hLndIyqGbknR3a7Letufsd9nqshqGnv19FRDQ+ds2lAwBBBBonIBu8tHURknFNLypO/GT9Zqe42xvuukmox66eKXzn26C0ZQrncVW/uh6XrviCsSZusUW8WuZgM6v9qA0CCCAQKMFoiiKJ8TW14WpoppKRDd/1N1Lp6lMNO2Seg1Vro022shoYmUtt/GhycsvvPDCVNU1i0JqAyteCRDQedUcFKaxAlQMAQS6AvqaME38m2zQxNl199JpqhZNpKwyaVogfQOI7gbWehseCqw1FY+mq9FDPan33ntvt+oy4eaQLoeXCwR0XjYLhUIAAQSaLaCgIZnGRMGEJiSvq5dO184dc8wx3e+j1jdKrL/++s1ugEztFFBff/31RnOK6iET+5AtttjCFJkSyU6D5XwCRY8ioCsqx3kIIIAAAoUFNJfdkUce2Z2PUl8xpsmGCyc4xomaLDkZXtRExJpkPIryT5o8RtbenKqvYkvm3ssWSoGc5jdVm2X3se6PAAGdP21BSRBAAAEHAv5koevodN2avnXm2WefNQcffLDJ9gxVXVpN7H3YYYfFkw/rK76OO+4408ZpSuS/zDLLpLj1zTm6vlGTM+ur4VI7WfFOgIDOuyahQAgggEB7BPT1d/r2Bg23nn/++UbfCe2y9vrKuttvvz0O6J588kmjiYRd5u9LXvrKSPsbOdQectl+++2dt4kvJqGVg4AutBYLoLwUEQEEEEAAAQTcChDQufUmNwQQQAABBBCYI8D/JQoQ0JWISVIIIIAAAggggEAdAgR0daiTJwIIuBEgFwQQQKAlAgR0LWloqokAAggggAACzRUgoBuvbTkbAQQQQAABBBCoXYCArvYmoAAIIIAAAs0XoIYIVCtAQFetL6kjgAACCCCAAAKVCxDQVU5MBgi4ESAXBBBAAIH2ChDQtbftqTkCCCCAAAIINERghICuITWmGggggAACCCCAQMMECOga1qBUBwEEEKhdgAIggIBzAQI65+RkiAACCCCAAAIIlCtAQFeuJ6m5ESAXBBBAAAEEELAECOgsDBYRQAABBBBAoEkC7akLAV172pqaIoAAAggggEBDBQjoGtqwVAsBBNwIkAsCCCDggwABnQ+tQBkQQAABBBBAAIExBAjoxsBzcyq5IIAAAggggAACgwUI6Ab7sBcBBBBAAIEwBChlqwUI6Frd/FQeAQQQQAABBJogQEDXhFakDgi4ESAXBBBAAAFPBQjoPG0YioUAAggggAACCOQV8Cugy1tqjkMAAQQQQAABBBDoChDQdSlYQAABBBAIRYByIoBAWoCALu3BGgIIIIAAAgggEJwAAV1wTUaB3QiQCwIIIIAAAuEIENCF01aUFAEEEEAAAQR8E/CkPAR0njQExUAAAQQQQAABBIoKENAVleM8BBBAwI0AuSCAAAJDBQjohhJxAAIIIIAAAggg4LcAAZ3f7eOmdOSCAAIIIIAAAkELENAF3XwUHgEEEEAAAXcC5OSvAAGdv21DyRBAAAEEEEAAgVwCBHS5mDgIAQTcCJALAggggEARAQK6ImqcgwACCCCAAAIIeCTQuoDOI3uKggACCCCAAAIIlCJAQFcKI4kggAACCDRMgOogEJQAAV1QzUVhEUAAAQQQQACByQIEdJNN2IKAGwFyQQABBBBAoCQBArqSIEkGAQQQQAABBBCoQiBPmgR0eZQ4Btf8MmMAABAASURBVAEEEEAAAQQQ8FiAgM7jxqFoCCCAgBsBckEAgdAFCOhCb0HKjwACCCCAAAKtFyCga/1LwA0AuSCAAAIIIIBAdQIEdNXZkjICCCCAAAIIjCbA0QUFCOgKwnEaAggggAACCCDgiwABnS8tQTkQQMCNALkggAACDRQgoGtgo1IlBBBAAAEEEGiXAAFd+e1NiggggAACCCCAgFMBAjqn3GSGAAIIIIBAIsAzAuUJENCVZ0lKCCCAAAIIIIBALQIEdLWwkykCbgTIBQEEEECgHQIEdO1oZ2qJAAIIIIAAAg0WGDOga7AMVUMAAQQQQAABBAIRIKALpKEoJgIIIBC0AIVHAIFKBQjoKuUlcQQQQAABBBBAoHoBArrqjcnBjQC5IIAAAggg0FoBArrWNj0VRwABBBBAoI0CzawzAV3Odo2iyEQRjyjCIIowiCIMogiDKMIgijCIonINcr4tc1hGgIAuA8IqAgggMK4A5yOAAAKuBQjoXIuTHwIIIIAAAgggULIAAV3JoG6SIxcEEEAAAQQQQGCuAAHdXIvsUtTZwMMYDDAI8TVgMv9CrANlNvz9MWZMg2acb/g3XICAbrgRRyCAAAIIIIAAAl4LENB53TwUDgHvBSggAggggIAHAgR0HjQCRUAAAQQQQAABBMYR8D+gG6d2nIsAAggggAACCLRAgICuBY1MFRFAAIE2CFBHBNosQEDX5tan7ggggAACCCDQCAECukY0I5VwI0AuCCCAAAII+ClAQOdnu1AqBBBAAAEEEAhVoIZyE9DVgE6WCCCAAAIIIIBAmQIEdGVqkhYCCCDgRoBcEEAAgZQAAV2KgxUEEEAAAQQQQCA8AQK68NrMTYnJBQEEEEAAAQSCESCgC6apKCgCCCCAAAL+CVAiPwQI6PxoB0qBAAIIIIAAAggUFiCgK0zHiQgg4EaAXBBAAAEEhgkQ0A0TYj8CCCCAAAIIIOC5AAGdMcbzNqJ4CCCAAAIIIIDAQAECuoE87EQAAQQQQKArwAIC3goQ0HnbNBQMAQQQQAABBBDIJ0BAl8+JoxBwI0AuCCCAAAIIFBAgoCuAxikIIIAAAggggECdAtm8CeiyIqwjgAACCCCAAAKBCRDQBdZgFBcBBBBwI0AuCCAQkgABXUitRVkRQAABBBBAAIEeAgR0PVDY5EaAXBBAAAEEEECgHAECunIcSQUBBBBAAAEEqhEg1RwCBHQ5kDgEAQQQQAABBBDwWYCAzufWoWwIIOBGgFwQQACBwAUI6AJvQIqPAAIIIIAAAggQ0Ll5DZALAggggAACCCBQmQABXWW0JIwAAggggMCoAhyPQDEBArpibpyFAAIIIIAAAgh4I0BA501TUBAE3AiQCwIIIIBA8wQI6JrXptQIAQQQQAABBFomUEFA1zJBqosAAggggAACCNQsQEBXcwOQPQIIINBaASqOAAKlCRDQlUZJQggggAACCCCAQD0CBHT1uJOrGwFyQQABBBBAoBUCBHStaGYqiQACCCCAAAL9BcLfQ0AXfhtSAwQQQAABBBBouQABXctfAFQfAQTcCJALAgggUKUAAV2VuqSNAAIIIIAAAgg4ECCgc4DsJgtyQQABBBBAAIG2ChDQtbXlqTcCCCCAQDsFqHUjBQjoGtmsVAoBBBBAAAEE2iRAQNem1qauCLgRIBcEEEAAAccCBHSOwckOAQQQQAABBBAoWyDMgK5sBdJDAAEEEEAAAQQCFiCgC7jxKDoCCCCAwGAB9iLQFgECura0NPVEAAEEEEAAgcYKENA1tmmpmBsBckEAAQQQQKB+AQK6+tuAEiCAAAIIIIBA0wUqrh8BXcXAJI8AAggggAACCFQtQEBXtTDpI4AAAm4EyAUBBFosQEDX4san6ggggAACCCDQDAECuma0o5takAsCCCCAAAIIeClAQOdls1AoBBBAAAEEwhWg5O4FCOjcm5MjAggggAACCCBQqgABXamcJIYAAm4EyAUBBBBAwBYgoLM1WEYAAQQQQAABBAIUIKDr02hsRgABBBBAAAEEQhEgoAulpSgnAggggICPApQJAS8ECOi8aAYKgQACCCCAAAIIFBcgoCtux5kIuBEgFwQQQAABBIYIENANAWI3AggggAACCCDgu4ACOt/LSPkQQAABBBBAAAEEBggQ0A3AYRcCCCCAgC3AMgII+CpAQOdry1AuBBBAAAEEEEAgpwABXU4oDnMjQC4IIIAAAgggMLoAAd3oZpyBAAIIIIAAAvUKkHtGgIAuA8IqAggggAACCCAQmgABXWgtRnkRQMCNALkggAACAQkQ0AXUWBQVAQQQQAABBBDoJUBA10vFzTZyQQABBBBAAAEEShEgoCuFkUQQQAABBBCoSoB0ERguQEA33IgjEEAAAQQQQAABrwUI6LxuHgqHgBsBckEAAQQQCFuAgC7s9qP0CCCAAAIIIICAcRTQIY0AAggggAACCCBQlQABXVWypIsAAgggMLoAZyCAQCEBArpCbJyEAAIIIIAAAgj4I0BA509bUBI3AuSCAAIIIIBA4wQI6BrXpFQIAQQQQAABBMYXCCsFArqw2ovSIoAAAggggAACkwQI6CaRsAEBBBBwI0AuCCCAQFkCBHRlSZIOAggggAACCCBQkwABXU3wbrIlFwQQQAABBBBogwABXRtamToigAACCCAwSIB9wQsQ0AXfhFQAAQQQQAABBNouQEDX9lcA9UfAjQC5IIAAAghUKEBAVyEuSSOAAAIIIIAAAi4EmhPQudAiDwQQQAABBBBAwEMBAjoPG4UiIYAAAghUJ0DKCDRRgICuia1KnRBAAAEEEECgVQIEdK1qbirrRoBcEEAAAQQQcCtAQOfWm9wQQAABBBBAAIE5AiX+T0BXIiZJIYAAAggggAACdQgQ0NWhTp4IIICAGwFyQQCBlggQ0LWkoakmAggggAACCDRXgICuuW3rpmbkggACCCCAAAK1CxDQ1d4EFAABBBBAAIHmC1DDagUI6Kr1JXUEEEAAAQQQQKByAQK6yonJAAEE3AiQCwIIINBeAQK69rY9NUcAAQQQQACBhggQ0I3QkByKAAIIIIAAAgj4KEBA52OrUCYEEEAAgZAFKDsCzgUI6JyTkyECCCCAAAIIIFCuAAFduZ6khoAbAXJBAAEEEEDAEiCgszBYRAABBBBAAAEEQhToF9CFWBfKjAACCCCAAAIItFKAgK6VzU6lEUAAgbIESAcBBHwQIKDzoRUoAwIIIIAAAgggMIYAAd0YeJzqRoBcEEAAAQQQQGCwAAHdYB/2IoAAAggggEAYAq0uJQFdq5ufyiOAAAIIIIBAEwQI6JrQitQBAQTcCJALAggg4KkAAZ2nDUOxEEAAAQQQQACBvAIEdHml3BxHLggggAACCCCAwMgCBHQjk3ECAggggAACdQuQPwJpAQK6tAdrCCCAAAIIIIBAcAIEdME1GQVGwI0AuSCAAAIIhCNAQBdOW1FSBBBAAAEEEECgp0CNAV3P8rARAQQQQAABBBBAYEQBAroRwTgcAQQQQMCxANkhgMBQAQK6oUQcgAACCCCAAAII+C1AQOd3+1A6NwLkggACCCCAQNACBHRBNx+FRwABBBBAAAF3Av7mREDnb9tQMgQQQAABBBBAIJcAAV0uJg5CAAEE3AiQCwIIIFBEgICuiBrnIIAAAggggAACHgkQ0HnUGG6KQi4IIIAAAggg0DQBArqmtSj1QQABBBBAoAwB0ghKgIAuqOaisAgggAACCCCAwGQBArrJJmxBAAE3AuSCAAIIIFCSAAFdSZAkgwACCCCAAAII1CXQ7ICuLlXyRQABBBBAAAEEHAoQ0DnEJisEEEAAAT8FKBUCoQsQ0IXegpQfAQQQQAABBFovQEDX+pcAAG4EyAUBBBBAAIHqBAjoqrMlZQQQQAABBBBAYDSBgkcT0BWE4zQEEEAAAQQQQMAXAQI6X1qCciCAAAJuBMgFAQQaKEBA18BGpUoIIIAAAggg0C4BArp2tbeb2pILAggggAACCDgVIKBzyk1mCCCAAAIIIJAI8FyeAAFdeZakhAACCCCAAAII1CJAQFcLO5kigIAbAXJBAAEE2iFAQNeOdqaWCCCAAAIIINBgAQK6MRuX0xFAAAEEEEAAgboFCOjqbgHyRwABBBBogwB1RKBSAQK6SnlJHAEEEEAAAQQQqF6AgK56Y3JAwI0AuSCAAAIItFaAgK61TU/FEUAAAQQQQKApAqMEdE2pM/VAAAEEEEAAAQQaJUBA16jmpDIIIICADwKUAQEEXAsQ0LkWJz8EEEAAAQQQQKBkAQK6kkFJzo0AuSCAAAIIIIDAXAECurkWLCGAAAIIIIBAswRaUxsCutY0NRVFAAEEEEAAgaYKENA1tWWpFwIIuBEgFwQQQMADAQI6DxqBIiCAAAIIIIAAAuMIENCNo+fmXHJBAAEEEEAAAQQGChDQDeRhJwIIIIAAAqEIUM42CxDQtbn1qTsCCCCAAAIINEKAgK4RzUglEHAjQC4IIIAAAn4KEND52S6UCgEEEEAAAQQQyC3gWUCXu9wciAACCCCAAAIIIPCiAAHdixA8IYAAAggEJEBREUAgJUBAl+JgBQEEEEAAAQQQCE+AgC68NqPEbgTIBQEEEEAAgWAECOiCaSoKigACCCCAAAL+CfhRIgI6P9qBUiCAAAIIIIAAAoUFCOgK03EiAggg4EaAXBBAAIFhAgR0w4TYjwACCCCAAAIIeC5AQOd5A7kpHrkggAACCCCAQMgCBHQhtx5lRwABBBBAwKUAeXkrQEDnbdNQMAQQQAABBBBAIJ8AAV0+J45CAAE3AuSCAAIIIFBAgICuABqnIIAAAggggAACPgm0L6DzSZ+yIIAAAggggAACJQgQ0JWASBIIIIAAAs0ToEYIhCRAQBdSa1FWBBBAAAEEEECghwABXQ8UNiHgRoBcEEAAAQQQKEeAgK4cR1JBAAEEEEAAAQSqEciRKgFdDiQOQQABBBBAAAEEfBYgoPO5dSgbAggg4EaAXBBAIHABArrAG5DiI4AAAggggAACBHS8BtwIkAsCCCCAAAIIVCZAQFcZLQkjgAACCCCAwKgCHF9MgICumBtnIYAAAggggAAC3ggQ0HnTFBQEAQTcCJALAggg0DwBArrmtSk1QgABBBBAAIGWCRDQVdDgJIkAAggggAACCLgUIKBzqU1eCCCAAAIIzBVgCYHSBAjoSqMkIQQQQAABBBBAoB4BArp63MkVATcC5IIAAggg0AoBArpWNDOVRAABBBBAAIEmC4wb0DXZhrohgAACCCCAAAJBCBDQBdFMFBIBBBAIXYDyI4BAlQIEdFXqkjYCCCCAAAIIIOBAgIDOATJZuBEgl8YIrNypyaGdx5TOo+4fleGwTiFUps4TPwgggICfAgR0frYLpUKgzQJ3dCq/ducxq/M4uPNYsPNw/aNA7pBOprM7jzU7D5Wp88QPAgg0QKCRVSCga2SzUikEghc4qFPVVYfBAAAQAElEQVSDhToPPSuoOrCz7CKwUx7KU8FkkqeCyk72/CCAAAL+ChDQ+ds2lAyBNgvc2Kn8pZ2HfpLeMgVZX+hsUNDVeSr1R2kqbQWPCuAUTCqDSzr/qSydpxF+OBQBBBBwLEBA5xic7BBAILeAAiv74Fd3VnQ92/2d5/06j1d2HuP+KA31xClNpa3g0U4zWwZ7H8sIIICANwIEdN40xUgF4WAE2iBwQ6eSV3Qe2R/1nh3R2ageu307zwrKOk8j/egcBYXqkdO1ckozm4B6COmdy6qwjgACXgoQ0HnZLBQKAQReFFDv2YuLk54W7mw5svNQYLd35/kVncewnySQ0zkKCl8z4ARdSzdgN7sQCEGAMrZFgICuLS1NPREIU+D6TrGv7DwG/SiwO7pzgIK0vTrPvQI7bduns+++zkOBnM7pLPb9oXeuLw07EEDARwECOh9bhTIhEJCAg6IO6qWzs1+0s3JM56HArvOU+tHQ6lGdLYt0Hnl+6J3Lo8QxCCDgjQABnTdNQUEQQKCPwHWd7b2upets7vmjwC67I28gp/O4s1UKPBBAICiBAAK6oDwpLAIIVCOgKUWqSXlyqtzZOtmELQgg4LkAAZ3nDUTxEEAgFtDdplfFS9X+x7Vz1fpWmzqpI9BiAQK6Fjc+VUcgMAF9v2vVRebauaqFSR8BBCoRIKCrhJVEGypAteoVmNnJ/prOo6ofrp2rSpZ0EUCgcgECusqJyQABBEoUqLIHjWvnSmwokkKg3QLua09A596cHBFAoLiArqPT9XTFU+h95uWdzVWk20mWHwQQQKB6AQK66o3JAQEEyhXYv9zk4tQOiP8P6D+KigACCNgCBHS2BssIIBCCgL45oszeNHrnQmh1yogAAgMFCOgG8rR5J3VHwGuBMnvUykzLazQKhwACzRUgoGtu21IzBJosUFavmr6BoszeviabUzcEeguw1QsBAjovmoFCIIBAAYG83/E6KGmX30AxqBzsQwABBMYSIKAbi4+TEUDAgUC/LC7r7Bind43euQ4gPwgg0AwBArpmtCO1QKCtAuPMS0fvXFtfNdQbgQYKENCpUXkggECoApd2Cl6kl67sO2U7xeAHAQQQqE+AgK4+e3JGAIFyBIp8w0MVc9mVUxtS8VqAwiHgqwABna8tQ7kQQCCvgL6D9Za8B3eOo3eug8APAgg0S4CArlntSW2CF6ACBQX2G+E8eudGwOJQBBAIQ4CALox2opQIIDBY4OLO7jy9dFV9F2wne34QQAABhwKZrAjoMiCsIoBAsAJ5et64szXY5qXgCCAwSICAbpAO+xBAICSBizqFHdRLp9656zvH8JNPgKMQQCAgAQK6gBqLoiKAwFCBQd/LOsp1dkMz4gAEEEDAJwECOp9ao21lob4IlC9wYSfJmzqP7A93tmZFWEcAgUYJENA1qjmpDAIIdAQO6TyyP4N67rLHso4AAp4JUJzhAgR0w404AgEEwhK4oFNcu5eOa+c6IPwggECzBQjomt2+1A6BtgrYd7PmuHaurUzUGwEEmiLgc0D3QgeZhzEYYMBrYPTXgOal6/wJiX9u6PyP4eiGmGHGa2DOa6DzJ8T/H58DOv/1RighhyKAAAIIIIAAAlUJENBVJUu6CCCAAAIIjC7AGQgUEiCgK8TGSQgggAACCCCAgD8CwQR0L7zwguGBAa+BEl4D/C7xt4TXAK8BXgN9XwP+hGijlSSYgG60anE0AggggAACCCDQHoEqArr26FFTBBBAAAEEEEDAAwECOg8agSIggAAC7RSg1gggUJYAAV1ZkqSDAAIIIIAAAgjUJEBAVxM82boRIBcEEEAAAQTaIEBA14ZWpo4IIIAAAgggMEgg+H0EdME3IRVAAAEEEEAAgbYLENC1/RVA/RFAwI0AuSCAAAIVChDQVYhL0ggggAACCCCAgAsBAjoXym7yIBcEEEAAAQQQaKkAAV1LG55qI4AAAgi0VYB6N1GAgK6JrUqdEEAAAQQQQKBVAgR0rWpuKouAGwFyQQABBBBwK0BA59ab3BBAAAEEEEAAgdIFAg3oSncgQQQQQAABBBBAIFgBArpgm46CI4AAAggMFeAABFoiQEDXkoammggggAACCCDQXAECuua2LTVzI0AuCCCAAAII1C5AQFd7E1AABBBAAAEEEGi+QLU1JKCr1pfUEUAAAQQQQACBygUI6ConJgMEEEDAjQC5IIBAewUI6Nrb9tQcAQQQQAABBBoiQEDXkIZ0Uw1yQQABBBBAAAEfBQjofGwVyoQAAggggEDIApTduQABnXNyMkQAAQQQQAABBMoVIKAr15PUEEDAjQC5IIAAAghYAgR0FgaLCCCAAAIIIIBAiAIEdP1aje0IIIAAAggggEAgAgR0gTQUxUQAAQQQ8FOAUiHggwABnQ+tQBkQQAABBBBAAIExBAjoxsDjVATcCJALAggggAACgwUI6Ab7sBcBBBBAAAEEEPBeIA7ovC8lBUQAAQQQQAABBBDoK0BA15eGHQgggAACGQFWEUDAUwECOk8bhmIhgAACCCCAAAJ5BQjo8kpxnBsBckEAAQQQQACBkQUI6EYm4wQEEEAAAQQQqFuA/NMCBHRpD9YQQAABBBBAAIHgBAjogmsyCowAAm4EyAUBBBAIR4CALpy2oqQIIIAAAggggEBPAQK6nixuNpILAggggAACCCBQhgABXRmKpIEAAggggEB1AqSMwFABArqhRByAAAIIIIAAAgj4LUBA53f7UDoE3AiQCwIIIIBA0AIEdEE3H4VHAAEEEEAAAQSMcRXQYY0AAggggAACCCBQkQABXUWwJIsAAgggUESAcxBAoIgAAV0RNc5BAAEEEEAAAQQ8EiCg86gxKIobAXJBAAEEEECgaQIEdE1rUeqDAAIIIIAAAmUIBJUGAV1QzUVhEUAAAQQQQACByQIEdJNN2IIAAgi4ESAXBBBAoCQBArqSIEkGAQQQQAABBBCoS4CAri55N/mSCwIIIIAAAgi0QICArgWNTBURQAABBBAYLMDe0AUI6EJvQcqPAAIIIIAAAq0XIKBr/UsAAATcCJALAggggEB1AgR01dmSMgIIIIAAAggg4ESgQQGdEy8yQQABBBBAAAEEvBMgoPOuSSgQAggggEClAiSOQAMFCOga2KhUCQEEEEAAAQTaJUBA1672prZuBMgFAQQQQAABpwIEdE65yQwBBBBAAAEEEEgEynsmoCvPkpQQQAABBBBAAIFaBAjoamEnUwQQQMCNALkggEA7BAjo2tHO1BIBBBBAAAEEGixAQNfgxnVTNXJBAAEEEEAAgboFCOjqbgHyRwABBBBAoA0C1LFSAQK6SnlJHAEEEEAAAQQQqF6AgK56Y3JAAAE3AuSCAAIItFaAgK61TU/FEUAAAQQQQKApAgR0o7QkxyKAAAIIIIAAAh4KENB52CgUCQEEEEAgbAFKj4BrAQI61+LkhwACCCCAAAIIlCxAQFcyKMkh4EaAXBBAAAEEEJgrQEA314IlBBBAAAEEEEAgSIG+AV2QtaHQCCCAAAIIIIBACwUI6FrY6FQZAQQQKFGApBBAwAMBAjoPGoEiIIAAAggggAAC4wgQ0I2jx7luBMgFAQQQQAABBAYKENAN5GEnAggggAACCIQi0OZyEtC1ufWpOwIIIIAAAgg0QoCArhHNSCUQQMCNALkggAACfgoQ0PnZLpQKAQQQQAABBBDILUBAl5vKzYHkggACCCCAAAIIjCpAQDeqGMcjgAACCCBQvwAlQCAlQECX4mAFAQQQQAABBBAIT4CALrw2o8QIuBEgFwQQQACBYAQI6IJpKgqKAAIIIIAAAgj0FqgzoOtdIrYigAACCCCAAAIIjCRAQDcSFwcjgAACCLgXIEcEEBgmQEA3TIj9CCCAAAIIIICA5wIEdJ43EMVzI0AuCCCAAAIIhCxAQBdy61F2BBBAAAEEEHAp4G1eBHTeNg0FQwABBBBAAAEE8gkQ0OVz4igEEEDAjQC5IIAAAgUECOgKoHEKAggggAACCCDgkwABnU+t4aYs5IIAAggggAACDRNoRUB39NFHmyiKCj1e9rKXmeWXX95MmzbNXHzxxea5555r2EuA6iCAQJkCO+yww9C/NfqbZOd5/vnnp86ZOnWqeeaZZ7qHPPTQQ+b1r3996pgoSv9NW2CBBczNN9/cPWechVmzZsV/96Jobh7zzDOPOfPMM8dJNj73X//6l9l5551TdXn5y19urrnmmnj/qP8pvRtvvNF89rOfNauuuqp55StfmUpb6yuuuKLZfffdzeWXXz7233AZyzqK5tpE0ejL8847r1lqqaXMe9/7XnPQQQeZ3//+9+b5558ftfojHa/XlF5bUTS3vHrt9U+k+J5eeUXR3HyjaM6ynX+vc+z9Kk0ef/2u6HdGx7fp0YqAbpwG1R+Le++910yfPt1sttlmZsEFFzTHHHOM+cc//jFOspyLAAIIeCuw7LLLxn/nFMQlhXzhhRfMrrvuan73u98lm0Z+VhrHH3+8Oemkk1LnHnbYYWb99ddPbRu2ojfs//u//zMLLbSQWXfddY3S/c1vfmP+/ve/p07V+p133mm++tWvmo022sgoGNtxxx3NfffdlzrO9cp//vMf8+CDD5orrrjCHHrooWbllVc2K6ywgrnyyiuNnFyXh/zCFyCgG7ENFeDts88+ZpNNNjEPP/zwiGdzOAII2AIs+yvwgQ98wCjwsUv4+OOPxz1dTz/9tL059/Ivf/lLc8ghh6SOV5D1qU99Ku5VS+3os6IP0/pQrV6YL3/5yyN/uFYg9b3vfc+84Q1vMLvtttukALBPtk4233PPPeY973mPUb0I6pyQNyoTArqCzanhge22284U/cNWMFtOQwCBwATe/va3m5122in1eNvb3jZSLeaff36zzTbbpNLYdtttjS4JGSmhEQ5+6Utfag4//HDzlre8JXWWepS+/e1vj9yLNHv2bPPxj3/cPPvss930FFR95zvfiYdJuxsHLOhD9Oabb270oVofrvsd+trXvtYsvfTS5nWve52xexmzx3/ta18za6yxRjzcmd03yvqrX/3qOD/lmeeh8g1Kf++99zbnnnvuoEOC3KfgPfu7IK9RKrPwwgubT3ziE6nfhYmJidwfCEbJK7RjGx7Q9W6OZZZZxvz5z3+O/yDpU1C/xz//+c+4F+6yyy6L/xBlU9Mftm9961vZzawjgAACXYEPf/jDRkGL/dDlG90DcixMmTLFHHXUUal0jjvuOLPEEkvkOLv4IYsttpg58cQTJwWO6mVTb1velNWrpuHaP/7xj91TFGipp03Du92NAxYUEOp6M/3dzR626KKLGl2XqCFM9cDp7/v9999vHnjggfi6NPUsfv/734+vC8ye+4c//MG8613vMjfddFN2V+716dOnG+WX96HyqZwa9t1zzz2Ngmc7M+3TNX/ab28Pffkzn/lM6jWs3wld9zhKvfR6OeGEE1LpfOELXzD60DNKeFI63wAAEABJREFUOk08tpUBXd6G1C/Z4osvHl+0euqpp5rrrrvOTOn8YbXP1ye8pv3S2fVjGQEEqhdQr5P9wXLmzJm5e62qLp2ubTv44INT2aiXTcOxjz76aGp7rxXVS38nL7jggtRuvblvueWWqW39VjQSovyy1++94hWvMKeddlp8LZp6tZZccsmePTXq1Zk2bZrRtXQXXXSRWWSRRVJZKeDbttPjObvTi5jaUeFKFEVGwYmGV3Xtn3or7ewUnCpQtLc1fVk3sOi1r9dM8tDvRtPrXVb9COhGkFxvvfXMF7/4xdQZ+qW7/vrrU9tYQQABBJoiEEWR0TVuurbLrpOCK/WMDBr61PG6S3HffffVYvehtNTLF0VRd1u/BaW/1157xTcP2MdoqFRl0KUv+vBt7+u3rDtLN910U3PbbbeZd77znanD1HuooFHBY2qHg5WVVlrJnHLKKZN6QjWzQh3lcVBlsqhAgIBuRFR9WtDFuPZpV111lb3KMgK9BNiGQLACupP0yCOPnDRC8d3vftf89Kc/7Vsv9Xh97nOfMxpCTA7SKIfSUprJtkHP6lFTPvYxCsYUKKqHy96ed1lD1TpfgaV9joZzTz75ZHuTs2Xdqav3FztDBZkanrW3sYxAPwECun4yfbar6z57kfCsWbO8ulOqT9HZjAACCBQWWGuttYx65OwEFKhpqFN/A+3tWlbPknq8FJRoXY8oioyuO1ZaWh/2UBoK/pRPcqwCQl1DpaAs2VbkWQGl0skOv2r6kzouo3nJS15i1lxzzVRVNO+phrdTG1lpgUCxKhLQjeg233zzTbr+4t///nd8g0W/pLITjeri3X7Hjro9O8mieg81P5OdTp7JGu3js8ujnK9PvVEUxdexRFFkpk5NT5CaTdte19DK1ltv3T03iqJ4zijV0T5u0LLSuPTSS820adOMLKJobll0gfdWW21lVEYdNygde5/aK4rmphNFxZc1B1a/+mTz0evGLseg5SeeeMLoTTKK5pZN9bdfC8pX+UfR3GOiqPiy0lKaSblGeZ0k59T1rOtzFIR86Utfiq+R1WsjitIW2qaL8NU7JN8qy6rXZBTNzX/qCL83VZYrm7am+dBNHvZ2zdOp6+F040OyXb66E1Y9Xsk2PevuxLzXzen4G264wWRvvvj85z9vVlttNe0e+6EP5+pBtBPSZTQXXnihvak1ywpkP/3pT8d3B0fRnNej7qReZ511jILfqn8PQvob4uOLYh4fC+VzmRS8aaJKu4x649TFnPY2lkcXmDlzpjnnnHNGP7FzhmZY/9GPfhT/IdIcgbqYWHecdXZ1fx577LE4fc2vpekMdJG23ni6BwS8cNZZZ5lf/epXAdfATdHV3ldffbVZffXVzXLLLWf0Zq6gQ6+NbAm0TfsUhKgXR0HLX//61+xhQa4XLbSuVdOdqdkL+PW7pN+5JF0FqNnr5hQ8aRoUpZEcN+hZf2uVptosOU6/t/rQl6yX8azpX974xjemkvrBD35Qy5RUdb2+FIzrOkW16ze/+c14FogERB9+f/GLX5g99tjD6EOOnrPvgcmxPNcrQEA3or8+oehCXPs03Sxhr7M8uoBc999//9S1NnlT+ctf/mLe9773Gf1h1ptwnvN0nK5X0YXZ+oOV5xxfj7n77rvjmeZ9LZ8v5VI7601rgw02MLfeeuvIxfr6179u9Luu68JGPrlBJyy77ORvkVD1DjjggPhbJDRViOaJyw6TajJfBQQ6Ns/jT3/606SvA9O1c6POWzYsL6WXnUbmlltuMXfcccewU0vdr7+BmiLLTlTDyvp6MHtb2ctPPfWUUa+ppsEZlrbaVD11Uzs9yGrnYcez360AAd2I3vqF07xFyWn6xLjxxhsnqzzHAqP/V7SHSdfY6BO7hlmzuWpIcIsttognoNQxvd5MFNDpK4Gy5w5aV2+NhnSzE2T2WleQqSGLQemNs0+9Fwo07KHVfunp+k/1NvUqp7ZNTEzEw93J+VEUGW3Tvl4PpaU0k+N9fpaTro3SEGu2nHqdrL322vHrRPXcfvvte85XpvP0YU5fU6XeI6239aFebl0fZ9dfU3/oGruDDjrI2H8jdYx667LXh2n7oIe+NSF7Q4ACCV1rNui8IvtUnyiKuqdqDtLf/va33fWqF/T61NB+tpdd8+P1+rtVZnnU46a7ae00dQdx8rugqWDsfVrWnH3Tpk2rpRdT+fPoLUBA19ul59bLL7/caNjF3qnrDfSJ1d7G8mgCRXuY9Kaq62k0LGbnuPzyyxsFeAr2ZsyYEU9AeeaZZ8bDCOedd178fbz28ZqwVW/U9rZByxo60rxamhRz2EOfevUpe1B64+y79tpr44lf86Sh16k+Xfcrs96M7ck5taxt/Y5XWkozT951H/PrX/960ldOqWcmeZ3ceOON8etEddUwn16Tev2opylbdl0WkA1Yssc0fV3DpgceeKBZccUVU1XV75t64uyNuuZOk+dG0dyAyd7fb1kBlQKdZL8COf3uJetlPmuoUXOO2mm6mo5Kl4voQ6WCXjt/fRDceeedUx+y7P1lLWuEI0nrk5/8ZBykKbBMfhfUE6cey2xb6++ugne7jZJ0Rnrm4NIECOgGUOoXTRNn6tOLuuT1tSXqnk5O0S3vmp8pikb7Q5Wcz7Mx+mOQt4cp66U/Otk3jw033DC+iFptpTmn7HO0rh4n9bJOmTKlu0s9C5oNX2XpbgxgQde96Hom9SYEUNzaiqh21bcE2HcL6quXrrzyStPrdZIUdMEFF4znndS5yTY962+AJoLVcpsfGgpUIKJvfOjn8KY3vckce+yxk74Jod/x9vbskKd6xnv1FtnnFF3WN01kr6PT0Lou0i+a5qDz9Bq6/fbbje7gXWGFFeLr0zScaZ+jnmDdjGBvq3JZN2V94xvfmPSBN4ois+qqq8YT6+vvq12Gk046yejDkr2N5foEWhnQ6WJ5/WH4/+ydS8wlQxuAuzbYSMTKSsbGwjVYEEMyYyESFm6JuCUzNiSEIEHYIJGxITaEFXEnyIjERCRCZGKDjYRkEsxyxMLCxvL3nF99X52aPud0n9P383yZnlNdXdenuqvfeuut6hDCbPQTQvkvI0JGbQhzCHVpM6Fu/vTTTwuWvqf+uusRyDVMl112WaVPuPCSfuedd4pUmGGUjYB35plnLi0Eq0HR7KWB0Cyw6jH1G7obTRHG6LGc2IZFt7+7BLBNyveKfPLJJ4v8Bb4bY9cVQiiYtmcKate3KHjZp+fb6mYVMAsdyuqPoIeAwKKxsuvL/NC+I/SkYdBYoTVO/Zpyo3FEgE/Tw86WbUNSv0XuOGUbQvm7JIR5f779euGFFxbYDTO1nKd73333FetoNfN0qp4zvboqP/pVtHYMhmK6DJIY8NAfRz9/+yOwlQLdJrjR8qBRYvNJbG82SavPuH2tpkrrnGuY6ChYdRhCSIOVurGtSYUZAjE9sWfPHpwrD2zqsH+MAdmqYEzTaGiOmSqO5cc+qc42JzHeNvwiWNx+++0zwYw2R8BgEU3VuvPyPe+88+aC8wmpOY8tPQkhFAgfbIqbI7jnnnuKa665JveudI4gheY8Dcyq5NNPPz31asxdth0V2jkW0vyXSSc/CKyYc/COQcjsIlOeCaZ7q+THIIh+Ni0XU6/0R6mf7n4IKNDV5M407AMPPFAwYmf7g7GOTLCLqFn1xoOzw3y63xM2OUzRVMnol19+KdC0xrBnnHFGcf3118fTlb/YT+3du7dAiEQDQ95VhcGVibccgHsOA+po94fA8txzz520P2LLxRhN8mgWsAVEC8t9jyYWbe5oKjDwgrJxMM9jXsw333yz6MoOLc97bOdMu2Jve+LEiYL3C4qDruqAGUqdvo/dAfiGbiwf9qbcA/Hc3/4IKNCtyZ5tD5jiYhuErkdxdYvMHnloJdJ4fT+AjOiwEUE4oVxomDCexl3lyA2mL7jggtlGwlXiEobp9LhQghc9q135niLXejlqZIpt0YsvvrgT45Zbbin27du3c65DAl0R4DlGE5dPj5I/5hBocxCiOZ/ygRaXQWLZwbWyuiNEff7558Xff/89WxX86KOPnmS/VhavaT+0qCGsnhWJ+TIYSjXWTI/nmz/HsP52S2ArBbqzzz57tuIRYWLVwcPGiP6tt9466bMsNBXbIGBDQjqcD/W4+OKL54p29OjR4o8//pjz6+oEVmUapjpbYORG6bQpgmtXdegrHwYPjOTjdBSG4qw0qzJd0keZl9kWoYVgGu3OO+8s2LaGVaV9lLEsT+5RpvXZYJaNqvktC7fNftyLaD6jpriMBWYMzz77bEHYsuuL/EIIBYOu9DqzI7RL6teUG6Ek3yyX/NF+V8mDldHMGJQdrCLleWXQmD6nvFf4cg2mI23Va1XZ0bTlg/1VcZj2zuMwyFwVz+vNEViU0lYKdItglPkjJHDz3nXXXQW7ZbMQgocgDYtAx5Ymqd8yNwb5IYSFCzJYsIGxMcIim2suS6vqNbSJabnpaNkItG5HWzW/ZeF4+FMNE/t+1dEw0fnRAad5YHsSQki9JunmaxpMZcXKPfLII0U6Wo7+Y/hlVR8vtXfffbfAppFpc7YF6tK+EzsptNVoaVkxfNttt800vbzIsS26++67Z1vgUNbCvzkCn3zySYEtcerJlkFpP8M1Bm+YV+CuemCfDP80PMIS7ZX6NeXGnjcf4KJtoxxN5MFgFbMONFmkG9NkUQH2nQh7ffTFaA9Z+BfLU+UXQTfn0kfZq5R128Io0NVo8RBCgcaBFyodfoxKZ4/wRacQ/Tb5ZZNYDE1ZIIDmCYNjhKBN0uSlj2o9TYMl52wOu+gFSufJ6l42EP3222/TqGu7efBzDRP1TEeuqxJnJM0ihjRcVdu7NM7Y3GiwmKbmfqPs7MlF24QwHUEWY3CmzzFpoI5NHwwGeJYOHjxYMFhD23DuuecWN910U8Gecx9++OGcbWbT+Y8jvdWlZF8yFkPAM4ZGW4xgzCAj+vHL/frYY48VCO+cVz3os9Kwf/31V8EUb+rXlJtn6/fff59LDoEyF1zmAqxxwvYfH330UcHgJY2OQMfG1ynP9HpbbrTkHHXTx+avbhzDt09AgW4Nxgh12C2lUTH+PXbsWOrVmJtNT3l5o0Fg2mGdhNFgoZHLOxKEU0Zp7JSPvQsH2kEMyXnZsWULLzk65XXyzeNMScOU163tc75VGwXrEEJBe7a9i/ymdWKfN7ZEKDvYx5H9v/I80EoTb9lUXh6nyjm2XDy3PEtvvPFGwcCgSjyemXxLiyrxphoG4Qfb4dxujpkHhHG+PIBNbFr/3377bbYpe51BL1sYhbA7WMH8hb3b0nSbcjNjwRR7ml6ef3ptEzfbJrGSNU+DlaZoPXP/IZ5XfXaGWPYpl0mBbo3WRZvEysg0Kp0NUwKp3yI3HUXZCw4/0mXlZVlcNAgvvfRS2aVKfnQkTH9Q/jQCwhpTAWjsONAOMhpOwzTh5kWAhon8SF/3gNcAABAASURBVI8X6zoaprItBpg2I82pHsePH59t0Brrx4peBhbxfKi/TKGyd1XZgZkCGhfsi9ihPq0Dfmgt0Oim/uu60fhdeeWVBV8KWZZGHNwgsGCwTjl4FlgJuCzetlxDg4SGnT4irTMC+L333jvzYnoRTSuC8Mzjv/+wFXvllVf+O1v9wyIlZijSkKSRm1uk19d1s08hdYvxmVakv4znTf8ytX/gwIG5ZOkXEeq63OMQBQHHXEEqnDA4qhDMIB0TUKBbE3jZiJ2pnCrJsZqz7AWH3+HDh2cLNlghxkKM3B4FtXw+NVAlzxjm5ptvnu34ja1L9Fv1i0o+nWJeFX7R9aY0THS2+VQII/+0Q15UhjH6Uy8EebQclJ97AmN0tK6cj/1AAOAzYgxo0rqwpQ2rmVO/ddwMJB588MECzV8aH+0gU4G8zBHceKFiwI5GHG042mnKlsbZdjcaJL5ukHJgAIqgxhR29EdDh3ASz+Mv9sYMHuP5sl9suzA3ScN88803tadu0/hlbmznqFd6jUE3G/+mfk26GVSzmIkVo2m6DEyffvrp2otI0jTquBmsUP86cRCocw0dXw2pk0aNsAatQUCBrgasLoPywLMQgynRVJjCdozvT25SFjpb9o3CUJkVfKlwRF7YjqApfPXVVwv2GGKn/auvvnqTLGedMJ8AiolsqmHKbTjQjmLzF9Ov8vvZZ5/N7Kj4RiGb8vKVCTqrKnG7DMMLEM1pzBPBp03tQcyny1/ud4SuVKuDwThTYZuW48iRI0Wcqo5poU1CE8Lnjvbt21cguIWwO70Xw/m7SwBeCGkIvtGX/oLpQzacjX78hhAKPouI5o7zeDBNi80sQnb0W/TLwI3nMoTddsG+mBWlDHIWxavrj9Y2v8+wqWz7K0B79uw56fvClJ0+n3sWd9sHzxha8jr50Ia8P9I4ub1jek13dwQU6NZkXbaQoI2bGoErF6b4humaxd6JxguUDSJZ9IAgRAfJgfoddTqaQl56aPLQ0O1EXMPBC6BpDdMll1wyVxK0o5R7znPFCZoYRprs+k8nyhTbiiidX0bziFaDjpfMGdFjoxTC7ksO/ykcrCbHBiutS902TePiRkDHCB13PBjQsBHzTMMZPZf8Yk4RtaNLgk36EvchG96iQUoris0tg7/UL7rR2KG5Q4MX/fhFuGbalv6G82UHq/OvvfbauSCskGeQM+e55gkDVrZVSaMzoGXVderXlhubzhtuuGEuefpLPk1XV9CaS6TGCZ9frBG84B6AW4zDjAGD4njub38EFOjWYM9LAluONCo3NduNpH5NuOkUedGlaTVlV5Sm2ab7xx9/LJrWMNGB0PHGcjNVltv1xGtlv2gI8vBoE9AKlIXvy4+ROlOPMX9suxjZx/Mp/YYQik0HD0X2hzCGZin1vuKKK2YaudRvmZv4bRnjL8t3KNcQvNDC5X0egjGDjWXPDJo7zERCmB+AMG2LDeWqOiJ0s+EumsAYlsEN28nQLtFvnV/6AFbqovVL42P3ec4556RerbmpHwJlqpkmMxYEYe8Me87bPOgHYVElD8qTf0ObqWnauUp8w7RLQIFuDb7Y3LDyM4264KZOg6zl/ueffwrse9LIaNfS8yG70f6x/xKdMOVsSsPEXk655pIXB4sHyGfVQSeWjvLpUPkU2Kp4XGd7BhZm4G7zYHoddnSi5EN92bMK9xQPNBJoS9O6bWqbg8Y53nsx3fw8+pf9Mnjihcs0U9n1bfDjOXnmmWfmqsrzwsIHpqrnLpScYLfL9kjpJbRQ999/f1FFKNu/f3+BJjCNj5aIbZjyqb80zDI3n9hihoJ+IA3HymuEvNSvbTdbmaD9zPPBjpPFPLl/0+fsr4p9c5V0uRdef/31uaCYBrU9PT2XoScLCSjQLURTfuG7774r7rjjjoIOKQ3BiqU2bmq2Q8lHsoyM07yH7P7hhx/m7Jea0jChFcDm6pRTTtmpPtNivDhWjTaZLmCLhSgokQBTH2j9cK86sDkk/1XhNr3Oy4aROumgoWCbkjbuMdLv+0DwQovLizaWBa131TaJcfJfNCD5lB8DsiqCP9OMaGv4ikWeLlr69P7Jr0/lnClv+rZcCMaWrmo/xACUgUnelghlTH0jNC/jxbP2/PPPFwhbaTied76pzcbU3D/ptUVu2uyrr74qsEFl6jcNh5CK5rDrZyyEMNvS5fzzz0+LUzCIOHToUCcLJGhP3jVzBchO6DfRjKb3Apq5RVPuWXRPOyCgQLcCMh0AiwKwNWPVG1sf5BozOjZWrq5IqtZlhBI6seuuu65gxWuMzDRjblMSrw39t2kNE1Nn+XYXCEH79u0rWB1J26VM6PRpR1bO8TKJ19C4Pfzwwyd9aojrvGywtcPd51H3axp9lrVO3rQRLwqeH+73NC4amE3tUhG+r7rqqjTZAkEAo3fsLucu/HdCm2NDitb9tdde+893/gftKfaX877TOoMD2sl8wQBtxfMSwvw06rLao2llFX86ACM8X5rIV5jinx8IWewdiACXXkO44NNxaP5pK/aS455Kw+CmD0cwv/TSS2eCYb7iGWEO0wYEPcJ3fbCfJAO2EOaZYv9Zhc+m5UV4pN9kmpd2T9Nb1G+GEAqm3JktScPr7o/AVgp0rIjE3i2EsPDzWyH8/xqaEV74CHMIA3lT0RFUnXqIcelYmEIoOxBS2NSXdBk15Q8XHWlX9h2xvE38wpEOi465ifRII4QwWyWWj9yZpuDbtWeddVbBfk9wvvHGGwvyph1TgZxysZqXPfFIE83NQw89NJviYY889sLi5c61eJB2dHfxy/3HykA0HZvk10dcbK/gnx+sXkRjc+qppxZ85YOVhmn5uP+5X9Cwpf7ruJkSyrV03CO0OQOkeI/Q3hdddFHBdDoC36+//rqTHZqIEMLOOS+5MsFhJ8AEHB988MGc7StVoq1Yrb7OvYhgzZYcpBMPGDLdGDXR0b/sF6Hwiy++KJjCza/TpzNVSnvyTNO/s4cdB0IkzxALHWj3PC73IdopBuv5tS7P2VeS1f9pnvBh707MEVL/ptxs3cOUNunxrmGGg0EQ/SXPLM8G7PJ+k/B8EaSsLbjm0Q+BrRTomkLNjf7xxx/P1Pd10mQakumlsgN7BvYGKkuPDotpxrJrQ/c7ePBgsX///saLiZBGG9x6660npU0niK0jnPkGb65RoeNnRJp2Sozk0RoQh21M0pc6GdDmrDzG3dWBMIfw0VV+Tebz5ZdfzoQCeKYHq4qxl+MlkudHu9AGTWlLEMYYdJUJIWh04j1Ce//0009z5hTEYY88hBsWKMWyshckWvR4PrVfbKWYbk7rRbswBZgv0krDLHOH8P+tTPIBGAMsBqrY2y6LzzUGu7QX06xle4EShoOFDmjhOMruMcJwIEzS5zJw47zPg8ELGlEGM2k5EHYZGCHcpf5NuMmTrXtSzSe86C95XmGN9i7PCyGTe4HnI7/meX8EGhTo+qtE1zlzE/OS5WXPtFDb+fPQ8UAveim1nf+m6SME0WFjC7NpWmXxEeref//9YlUnn8ZlmpyX94EDB2Za2vTaIjcvNLQTm04DLkq/zB9BDmG47NoU/dgmBxsnbBqbrB9CO8Il6VdNl3uD6VkGUWh60qklplxZvV01rTGFQ1Bl24z8RY6AB8dN6sKzyjOUCy20DVucVBFaWAnN4iCENQQL+sc6ZeI5Zo88hHn61WWCYZ10mwi7aIEEfX+ZdrGJPKPmk6n0Venx/GDW8tRTTxW8B1eF93q3BBToKvBGLc00G0IJNzOaHjqltjoCOhymDnipMUL6888/C0aSdGQViju4IAi/CCZtFgw2dPKM9tkwGXa0W5on0zBM9R09erRgcUuZYMb0DOzTeHRcTIUwkuclH8Lu1Fsarml3CKFgxI59TdNpDyU92LJJNEITtopo7dh7rI3ykS6rIhfdH3z2C+0R2kHuI1bz8bKjLKzmzDXMb7/9dicG6+Tf1YFAxRcM6OfSPOHCStcQNr/32UPy0KFDafIzN+mjGZydVPiP/pcvprA1zffff18ghNJP045pdKYQ8af/5rln54CXX365yKfh0zh9uUNYvECChSUs1GmjbGg+0ULzDDLNmjKEH7MSPDc8PygxQtj8PmijHtue5lYIdI8//nhBR7XuwdQdoyM2tORm5iVU58aJO5tXzR/7HFaXYRDLqIkHalF+fKIGATOmzTYATXdUTDV9/fXXcwxZ8l9WJvxjWeIv/MvClvnl9aFu+JWFLfOjbSgD7Gi3WAZ+0apgWI2tDAJgWXwM4Y8dOzZXVxalsAdXOi1RFrfMj7agTcifY1l94ESYeLCSuo5GhHrHuPySL/mXlavMD86Uj7gcuPErC1vmV3afkM6yA7YY3TOtefnllze+D11ezmX3B3sZsqIcWzoEuDRuCKFAS5LWhcEW6aXh1nXnbcfzBs9101s3XgihYBPwtJ644YJ2bd1083iYj5BuenC/cQ/kYVed8yxzn7Jiln6adkzTZSoXf/pvbJQ3bTPyoqxpHrTfqnJWvc4Ajn0P0/Rx82WbutrIPE/uKe4t0uNI+4gQQgF/ZjtShvDDfpw6bsouL4/nzRLYCoGuWWSmNgICFlECEpCABCSwVQQU6Laqua2sBCQgAQlIQAK7BKbjUqCbTltaEwlIQAISkMBoCWAPyQryWIEQQrHpNHNMaxt+Fei2oZWtowQk0BsBM5aABKoRYGU1NnsxNMJcukAj+vtbTkCBrpyLvhKQgAQkIAEJdESARRps4s6CjJglm8PHlebRz9/FBBToFrMZyRWLKQEJDJlA2Zdhjhw5UqvIaC6eeOKJ2RdM2MGfg+2ATpw4USsdA0ugTwLs+8e9G4+9e/cWfJ2Fcz7LxtYzafnYXDxfcX78+PEifs2HeBx8gqytLV3S8gzdrUA39BayfBKQwKgJlH0Zhm8N16kUL6v33ntv7qsbbKTNti910jHslhPoufpsIM0XKOLBJ9fY4J1ztpZJi8eeoGwAnW9In37Nh3gchw8fnm01lcbfRrcC3Ta2unWWgAQkIAEJDJQAm+u/8MILBd//HWgRB1ksBbpBNouFksAoCVhoCUhAArUInHbaaTvh2USfr/H8/PPPs68jheAXKXbgVHAo0FWAZBAJSEACVQlU+TIMXwWpmh7h+OIHu/pjOL7o4OsFfMWA8B4S6JtA/lWKRfct5gTxGitc+eQenwNcVH7uce71GKfsl2eFZ2ZRGlP1H5dAN9VWsF4SkIAEJCABCUhgAwIKdBvAM6oEJCABCQyTgKWSwLYRUKDbtha3vhKQgAQkIAEJTI6AAt3kmtQKdUPAXCQgAQlIQALDIaBAN5y2sCQSkIAEJCABCUyNQEf1UaDrCLTZSEACEpCABCQggbYIKNC1RdZ0JSABCXRDwFwkIAEJFAp03gQSkIAEJCABCUhg5AQU6EbegJ0U30wkIAEJSEACEhg0AQW6QTePhZOABCQgAQmMh4Al7Y9rck0GAAAJhUlEQVSAAl1/7M1ZAhKQgAQkIAEJNEJAga4RjCYiAQl0Q8BcJCABCUigjIACXRkV/SQgAQlIQAISkMCICCjQZY3lqQQkIAEJSEACEhgbAQW6sbWY5ZWABCQggSEQsAwSGBQBBbpBNYeFkYAEJCABCUhAAvUJKNDVZ2YMCXRDwFwkIAEJSEACFQko0FUEZTAJSEACEpCABCQwRAKUSYEOCh4SkIAEJCABCUhgxAQU6EbceBZdAhKQQDcEzEUCEhg6AQW6obeQ5ZOABCQgAQlIQAIrCCjQrQDk5W4ImIsEJCABCUhAAusTUKBbn50xJSABCUhAAhLoloC5LSCgQLcAjN4SkIAEJCABCUhgLAQU6MbSUpZTAhLohoC5SEACEhghAQW6ETaaRZaABCQgAQlIQAIpAQW6lEY3bnORgAQkIAEJSEACjRJQoGsUp4lJQAISkIAEmiJgOhKoTkCBrjorQ0pAAhKQgAQkIIFBElCgG2SzWCgJdEPAXCQgAQlIYBoEFOim0Y7WQgISkIAEJCCBLSbQskC3xWStugQkIAEJSEACEuiIgAJdR6DNRgISkIAElhDwkgQksBEBBbqN8BlZAhKQgAQkIAEJ9E9Aga7/NrAE3RAwFwlIQAISkMBkCSjQTbZprZgEJCABCUhAAvUJjDOGAt04281SS0ACEpCABCQggR0CCnQ7KHRIQAIS6IaAuUhAAhJomoACXdNETU8CEpCABCQgAQl0TECBrmPg3WRnLhKQgAQkIAEJbBMBBbptam3rKgEJSEACEkgJ6J4MAQW6yTSlFZGABCQgAQlIYFsJKNBta8tbbwl0Q8BcJCABCUigAwIKdB1ANgsJSEACEpCABCTQJoHxC3Rt0jFtCUhAAhKQgAQkMAICCnQjaCSLKAEJSEACmxMwBQlMmYAC3ZRb17pJQAISkIAEJLAVBBTotqKZrWQ3BMxFAhKQgAQk0A8BBbp+uJurBCQgAQlIQALbSqCFeivQtQDVJCUgAQlIQAISkECXBBTouqRtXhKQgAS6IWAuEpDAlhFQoNuyBre6EpCABCQgAQlMj4AC3fTatJsamYsEJCABCUhAAoMhoEA3mKawIBKQgAQkIIHpEbBG3RBQoOuGs7lIQAISkIAEJCCB1ggo0LWG1oQlIIFuCJiLBCQgAQko0HkPSEACEpCABCQggZETUKCr0IAGkYAEJCABCUhAAkMmoEA35NaxbBKQgAQkMCYCllUCvRFQoOsNvRlLQAISkIAEJCCBZggo0DXD0VQk0A0Bc5GABCQgAQmUEFCgK4GilwQkIAEJSEACEhgTgVygG1PZLasEJCABCUhAAhKQwL8EFOj+heA/CUhAAhKoS8DwEpDAkAgo0A2pNSyLBCQgAQlIQAISWIOAAt0a0IzSDQFzkYAEJCABCUigGgEFumqcDCUBCUhAAhKQwDAJWKp/CSjQ/QvBfxKQgAQkIAEJSGDMBBToxtx6ll0CEuiGgLlIQAISGDgBBbqBN5DFk4AEJCABCUhAAqsIKNCtItTNdXORgAQkIAEJSEACaxNQoFsbnRElIAEJSEACXRMwPwmUE1CgK+eirwQkIAEJSEACEhgNAQW60TSVBZVANwTMRQISkIAExkdAgW58bWaJJSABCUhAAhKQwByBHgS6ufw9kYAEJCABCUhAAhLYkIAC3YYAjS4BCUhAAi0RMFkJSKAyAQW6yqgMKAEJSEACEpCABIZJQIFumO1iqbohYC4SkIAEJCCBSRBQoJtEM1oJCUhAAhKQgATaIzD8lBXoht9GllACEpCABCQgAQksJaBAtxSPFyUgAQl0Q8BcJCABCWxCQIFuE3rGlYAEJCABCUhAAgMgoEA3gEbopgjmIgEJSEACEpDAVAko0E21Za2XBCQgAQlIYB0CxhklAQW6UTabhZaABCQgAQlIQAK7BBTodlnokoAEuiFgLhKQgAQk0DABBbqGgZqcBCQgAQlIQAIS6JrANAW6rimanwQkIAEJSEACEuiRgAJdj/DNWgISkIAE+iVg7hKYCgEFuqm0pPWQgAQkIAEJSGBrCYxGoAshFCF4hCCDEMbEwLKGIIMQZBCCDEKQQQjDZzBWiXA0At1YAVtuCUhAAhKQgAQksJLAhgEU6DYEaHQJSEACEpCABCTQNwEFur5bwPwlIAEJdEPAXCQggQkTGLJAF/7l7lEUMpCB94D3gPeA94D3QH/3QDGGvyELdGPgZxlTArolIAEJSEACEuiFgAJdL9jNVAISkIAEJLC9BKx58wQU6JpnaooSkIAEJCABCUigUwIKdJ3iNjMJSKAbAuYiAQlIYLsIKNBtV3tbWwlIQAISkIAEJkhAgW7NRjWaBCQgAQlIQAISGAoBBbqhtITlkIAEJCCBKRKwThLohIACXSeYzUQCEpCABCQgAQm0R0CBrj22piyBbgiYiwQkIAEJbD0BBbqtvwUEIAEJSEACEpDA2AlUEejGXkfLLwEJSEACEpCABCZNQIFu0s1r5SQgAQl0ScC8JCCBvggo0PVF3nwlIAEJSEACEpBAQwQU6BoCaTLdEDAXCUhAAhKQgAROJqBAdzITfSQgAQlIQAISGDeBrSu9At3WNbkVloAEJCABCUhgagQU6KbWotZHAhLohoC5SEACEhgQAQW6ATWGRZGABCQgAQlIQALrEFCgW4daN3HMRQISkIAEJCABCVQioEBXCZOBJCABCUhAAkMlYLkkUBQKdN4FEpCABCQgAQlIYOQEFOhG3oAWXwJdEDAPCUhAAhIYNgEFumG3j6WTgAQkIAEJSEACKwkMRKBbWU4DSEACEpCABCQgAQksIKBAtwCM3hKQgAQkMEACFkkCEigloEBXikVPCUhAAhKQgAQkMB4CCnTjaStL2g0Bc5GABCQgAQmMjoAC3eiazAJLQAISkIAEJNA/gWGVQIFuWO1haSQgAQlIQAISkEBtAgp0tZEZQQISkEA3BMxFAhKQQFUCCnRVSRlOAhKQgAQkIAEJDJSAAt1AG6abYpmLBCQgAQlIQAJTIKBAN4VWtA4SkIAEJCCBNgmY9uAJKNANvoksoAQkIAEJSEACElhOQIFuOR+vSkAC3RAwFwlIQAIS2ICAAt0G8IwqAQlIQAISkIAEhkBgewS6IdC2DBKQgAQkIAEJSKAFAgp0LUA1SQlIQAISGC8BSy6BMRJQoBtjq1lmCUhAAhKQgAQkkBBQoEtg6JRANwTMRQISkIAEJNAsAQW6ZnmamgQkIAEJSEACEmiGQI1U/gcAAP//KxRGWgAAAAZJREFUAwATVtdu+IzemgAAAABJRU5ErkJggg=="/>
          <p:cNvSpPr>
            <a:spLocks noChangeAspect="1" noChangeArrowheads="1"/>
          </p:cNvSpPr>
          <p:nvPr/>
        </p:nvSpPr>
        <p:spPr bwMode="auto">
          <a:xfrm>
            <a:off x="612775" y="92075"/>
            <a:ext cx="3714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25191"/>
            <a:ext cx="1609895" cy="329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 descr="C:\Users\Александр\OneDrive\Рабочий стол\Я\MSU\ВКР\Рисунки\Построение БС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473" y="1205735"/>
            <a:ext cx="5627602" cy="544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C:\Users\Александр\OneDrive\Рабочий стол\Я\MSU\ВКР\Рисунки\Вставка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6" y="701675"/>
            <a:ext cx="2460624" cy="604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/>
              <a:t>Программная реализация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883015" y="1269493"/>
            <a:ext cx="2994660" cy="4704588"/>
          </a:xfrm>
        </p:spPr>
        <p:txBody>
          <a:bodyPr>
            <a:normAutofit fontScale="92500" lnSpcReduction="20000"/>
          </a:bodyPr>
          <a:lstStyle/>
          <a:p>
            <a:pPr marL="533400" lvl="1" indent="0">
              <a:buNone/>
            </a:pPr>
            <a:r>
              <a:rPr lang="ru-RU" b="1" dirty="0"/>
              <a:t>Вспомогательные модули:</a:t>
            </a:r>
          </a:p>
          <a:p>
            <a:pPr lvl="1"/>
            <a:r>
              <a:rPr lang="ru-RU" sz="2100" dirty="0"/>
              <a:t>генерация синтетических таблиц </a:t>
            </a:r>
          </a:p>
          <a:p>
            <a:pPr lvl="1"/>
            <a:r>
              <a:rPr lang="ru-RU" sz="2100" dirty="0"/>
              <a:t>запуск и агрегация экспериментов </a:t>
            </a:r>
          </a:p>
          <a:p>
            <a:pPr marL="533400" lvl="1" indent="0">
              <a:buNone/>
            </a:pPr>
            <a:r>
              <a:rPr lang="ru-RU" b="1" dirty="0"/>
              <a:t>К</a:t>
            </a:r>
            <a:r>
              <a:rPr lang="ru-RU" b="1" dirty="0" smtClean="0"/>
              <a:t>онтур обработки трассы</a:t>
            </a:r>
            <a:r>
              <a:rPr lang="ru-RU" b="1" dirty="0"/>
              <a:t>: </a:t>
            </a:r>
          </a:p>
          <a:p>
            <a:pPr lvl="1"/>
            <a:r>
              <a:rPr lang="ru-RU" sz="2100" dirty="0"/>
              <a:t>C++-</a:t>
            </a:r>
            <a:r>
              <a:rPr lang="ru-RU" sz="2100" dirty="0" err="1"/>
              <a:t>парсер</a:t>
            </a:r>
            <a:r>
              <a:rPr lang="ru-RU" sz="2100" dirty="0"/>
              <a:t> PCAP </a:t>
            </a:r>
            <a:endParaRPr lang="ru-RU" sz="2100" dirty="0" smtClean="0"/>
          </a:p>
          <a:p>
            <a:pPr lvl="1"/>
            <a:r>
              <a:rPr lang="ru-RU" sz="2100" dirty="0" err="1" smtClean="0"/>
              <a:t>Python</a:t>
            </a:r>
            <a:r>
              <a:rPr lang="ru-RU" sz="2100" dirty="0" smtClean="0"/>
              <a:t>-анализатор </a:t>
            </a:r>
          </a:p>
          <a:p>
            <a:pPr lvl="1"/>
            <a:r>
              <a:rPr lang="ru-RU" sz="2100" dirty="0" smtClean="0"/>
              <a:t>Автоматическая обработка</a:t>
            </a:r>
            <a:endParaRPr lang="ru-RU" sz="2100" dirty="0"/>
          </a:p>
          <a:p>
            <a:pPr marL="533400" lvl="1" indent="0">
              <a:buNone/>
            </a:pPr>
            <a:r>
              <a:rPr lang="ru-RU" sz="2200" b="1" dirty="0"/>
              <a:t>Объём </a:t>
            </a:r>
            <a:r>
              <a:rPr lang="ru-RU" sz="2200" b="1" dirty="0" smtClean="0"/>
              <a:t>кода: </a:t>
            </a:r>
          </a:p>
          <a:p>
            <a:pPr marL="533400" lvl="1" indent="0">
              <a:buNone/>
            </a:pPr>
            <a:r>
              <a:rPr lang="ru-RU" sz="2100" dirty="0" smtClean="0"/>
              <a:t>около </a:t>
            </a:r>
            <a:r>
              <a:rPr lang="ru-RU" sz="2100" dirty="0"/>
              <a:t>4 </a:t>
            </a:r>
            <a:r>
              <a:rPr lang="ru-RU" sz="2100" dirty="0" smtClean="0"/>
              <a:t>800 </a:t>
            </a:r>
            <a:r>
              <a:rPr lang="ru-RU" sz="2100" dirty="0"/>
              <a:t>строк.</a:t>
            </a:r>
          </a:p>
          <a:p>
            <a:pPr marL="533400" lvl="1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 dirty="0"/>
          </a:p>
        </p:txBody>
      </p:sp>
      <p:pic>
        <p:nvPicPr>
          <p:cNvPr id="3076" name="Picture 4" descr="C:\Users\Александр\OneDrive\Рабочий стол\Я\MSU\ВКР\Рисунки\Классы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1" y="1188357"/>
            <a:ext cx="8460739" cy="56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16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/>
              <a:t>Экспериментальное исследование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8811" y="1312334"/>
            <a:ext cx="11250729" cy="5080000"/>
          </a:xfrm>
        </p:spPr>
        <p:txBody>
          <a:bodyPr>
            <a:noAutofit/>
          </a:bodyPr>
          <a:lstStyle/>
          <a:p>
            <a:pPr marL="50800" indent="0" algn="just">
              <a:buNone/>
            </a:pPr>
            <a:r>
              <a:rPr lang="ru-RU" sz="1600" b="1" dirty="0" smtClean="0"/>
              <a:t>Цель</a:t>
            </a:r>
            <a:r>
              <a:rPr lang="en-GB" sz="1600" dirty="0" smtClean="0"/>
              <a:t>: </a:t>
            </a:r>
            <a:endParaRPr lang="ru-RU" sz="1600" dirty="0"/>
          </a:p>
          <a:p>
            <a:pPr algn="just"/>
            <a:r>
              <a:rPr lang="ru-RU" sz="1600" dirty="0" smtClean="0"/>
              <a:t>оценить </a:t>
            </a:r>
            <a:r>
              <a:rPr lang="ru-RU" sz="1600" dirty="0"/>
              <a:t>практическую применимость модифицированного метода Отелло хеширования для таблицы классификации MAC-VLAN;</a:t>
            </a:r>
            <a:endParaRPr lang="ru-RU" sz="1600" dirty="0" smtClean="0"/>
          </a:p>
          <a:p>
            <a:pPr algn="just"/>
            <a:r>
              <a:rPr lang="ru-RU" sz="1600" dirty="0"/>
              <a:t>в</a:t>
            </a:r>
            <a:r>
              <a:rPr lang="ru-RU" sz="1600" dirty="0" smtClean="0"/>
              <a:t>ыполнить сравнительную оценку измеряемых метрик для модифицированного Отелло </a:t>
            </a:r>
            <a:r>
              <a:rPr lang="ru-RU" sz="1600" dirty="0" smtClean="0"/>
              <a:t>и Кукушкиного </a:t>
            </a:r>
            <a:r>
              <a:rPr lang="ru-RU" sz="1600" dirty="0" smtClean="0"/>
              <a:t>хеширования.</a:t>
            </a:r>
          </a:p>
          <a:p>
            <a:pPr marL="50800" indent="0" algn="just">
              <a:buNone/>
            </a:pPr>
            <a:endParaRPr lang="ru-RU" sz="1600" dirty="0"/>
          </a:p>
          <a:p>
            <a:pPr marL="50800" indent="0" algn="just">
              <a:buNone/>
            </a:pPr>
            <a:r>
              <a:rPr lang="ru-RU" sz="1600" b="1" dirty="0"/>
              <a:t>Используемые </a:t>
            </a:r>
            <a:r>
              <a:rPr lang="ru-RU" sz="1600" b="1" dirty="0" smtClean="0"/>
              <a:t>данные:</a:t>
            </a:r>
            <a:endParaRPr lang="ru-RU" sz="1600" b="1" dirty="0"/>
          </a:p>
          <a:p>
            <a:pPr algn="just"/>
            <a:r>
              <a:rPr lang="ru-RU" sz="1600" dirty="0" smtClean="0"/>
              <a:t>синтетические </a:t>
            </a:r>
            <a:r>
              <a:rPr lang="ru-RU" sz="1600" dirty="0"/>
              <a:t>таблицы MAC-VLAN заданного размера;</a:t>
            </a:r>
          </a:p>
          <a:p>
            <a:pPr algn="just"/>
            <a:r>
              <a:rPr lang="ru-RU" sz="1600" dirty="0"/>
              <a:t>т</a:t>
            </a:r>
            <a:r>
              <a:rPr lang="ru-RU" sz="1600" dirty="0" smtClean="0"/>
              <a:t>аблицы и профиль нагрузки, полученные </a:t>
            </a:r>
            <a:r>
              <a:rPr lang="ru-RU" sz="1600" dirty="0"/>
              <a:t>на основе </a:t>
            </a:r>
            <a:r>
              <a:rPr lang="ru-RU" sz="1600" dirty="0" smtClean="0"/>
              <a:t>анализа сетевой </a:t>
            </a:r>
            <a:r>
              <a:rPr lang="ru-RU" sz="1600" dirty="0"/>
              <a:t>трассы. </a:t>
            </a:r>
            <a:endParaRPr lang="ru-RU" sz="1600" dirty="0" smtClean="0"/>
          </a:p>
          <a:p>
            <a:pPr algn="just"/>
            <a:endParaRPr lang="ru-RU" sz="1600" dirty="0"/>
          </a:p>
          <a:p>
            <a:pPr marL="50800" indent="0" algn="just">
              <a:buNone/>
            </a:pPr>
            <a:r>
              <a:rPr lang="ru-RU" sz="1600" b="1" dirty="0"/>
              <a:t>Сценарии </a:t>
            </a:r>
            <a:r>
              <a:rPr lang="ru-RU" sz="1600" b="1" dirty="0" smtClean="0"/>
              <a:t>нагрузки:</a:t>
            </a:r>
          </a:p>
          <a:p>
            <a:pPr algn="just"/>
            <a:r>
              <a:rPr lang="ru-RU" sz="1600" dirty="0" err="1" smtClean="0"/>
              <a:t>construct</a:t>
            </a:r>
            <a:r>
              <a:rPr lang="ru-RU" sz="1600" dirty="0" smtClean="0"/>
              <a:t> - построение структуры;</a:t>
            </a:r>
          </a:p>
          <a:p>
            <a:pPr algn="just"/>
            <a:r>
              <a:rPr lang="ru-RU" sz="1600" dirty="0" err="1" smtClean="0"/>
              <a:t>find</a:t>
            </a:r>
            <a:r>
              <a:rPr lang="ru-RU" sz="1600" dirty="0" smtClean="0"/>
              <a:t> - </a:t>
            </a:r>
            <a:r>
              <a:rPr lang="ru-RU" sz="1600" dirty="0"/>
              <a:t>поиск по существующим </a:t>
            </a:r>
            <a:r>
              <a:rPr lang="ru-RU" sz="1600" dirty="0" smtClean="0"/>
              <a:t>ключам;</a:t>
            </a:r>
          </a:p>
          <a:p>
            <a:pPr algn="just"/>
            <a:r>
              <a:rPr lang="ru-RU" sz="1600" dirty="0" err="1" smtClean="0"/>
              <a:t>insert</a:t>
            </a:r>
            <a:r>
              <a:rPr lang="ru-RU" sz="1600" dirty="0" smtClean="0"/>
              <a:t> - </a:t>
            </a:r>
            <a:r>
              <a:rPr lang="ru-RU" sz="1600" dirty="0"/>
              <a:t>вставка новых правил</a:t>
            </a:r>
            <a:r>
              <a:rPr lang="ru-RU" sz="1600" dirty="0" smtClean="0"/>
              <a:t>;</a:t>
            </a:r>
          </a:p>
          <a:p>
            <a:pPr marL="50800" indent="0" algn="just">
              <a:buNone/>
            </a:pPr>
            <a:endParaRPr lang="ru-RU" sz="1600" b="1" dirty="0" smtClean="0"/>
          </a:p>
          <a:p>
            <a:pPr marL="50800" indent="0" algn="just">
              <a:buNone/>
            </a:pPr>
            <a:r>
              <a:rPr lang="ru-RU" sz="1600" b="1" dirty="0" smtClean="0"/>
              <a:t>Параметры исследования</a:t>
            </a:r>
            <a:r>
              <a:rPr lang="ru-RU" sz="1600" b="1" dirty="0" smtClean="0"/>
              <a:t>:</a:t>
            </a:r>
            <a:endParaRPr lang="en-GB" sz="1600" b="1" dirty="0" smtClean="0"/>
          </a:p>
          <a:p>
            <a:pPr lvl="0" algn="just"/>
            <a:r>
              <a:rPr lang="ru-RU" sz="1600" dirty="0" smtClean="0"/>
              <a:t>Размеры таблиц: </a:t>
            </a:r>
            <a:r>
              <a:rPr lang="en-GB" sz="1600" dirty="0" smtClean="0"/>
              <a:t>{1000</a:t>
            </a:r>
            <a:r>
              <a:rPr lang="en-GB" sz="1600" dirty="0"/>
              <a:t>, </a:t>
            </a:r>
            <a:r>
              <a:rPr lang="en-GB" sz="1600" dirty="0" smtClean="0"/>
              <a:t>10000</a:t>
            </a:r>
            <a:r>
              <a:rPr lang="en-GB" sz="1600" dirty="0"/>
              <a:t>, </a:t>
            </a:r>
            <a:r>
              <a:rPr lang="en-GB" sz="1600" dirty="0" smtClean="0"/>
              <a:t>20000</a:t>
            </a:r>
            <a:r>
              <a:rPr lang="en-GB" sz="1600" dirty="0"/>
              <a:t>, </a:t>
            </a:r>
            <a:r>
              <a:rPr lang="en-GB" sz="1600" dirty="0" smtClean="0"/>
              <a:t>50000, 100000, 160_000</a:t>
            </a:r>
            <a:r>
              <a:rPr lang="en-GB" sz="1600" dirty="0"/>
              <a:t>, 200_000, </a:t>
            </a:r>
            <a:r>
              <a:rPr lang="en-GB" sz="1600" dirty="0" smtClean="0"/>
              <a:t>250_000}</a:t>
            </a:r>
            <a:r>
              <a:rPr lang="ru-RU" sz="1600" dirty="0" smtClean="0"/>
              <a:t>;</a:t>
            </a:r>
            <a:endParaRPr lang="ru-RU" sz="1600" dirty="0"/>
          </a:p>
          <a:p>
            <a:pPr lvl="0" algn="just"/>
            <a:r>
              <a:rPr lang="ru-RU" sz="1600" dirty="0" smtClean="0"/>
              <a:t>Параметр усреднения: 5</a:t>
            </a: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5" name="Google Shape;24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Гудис</a:t>
            </a:r>
            <a:r>
              <a:rPr lang="ru-RU" dirty="0"/>
              <a:t> А.В.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72132" y="3528060"/>
            <a:ext cx="43618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800" indent="0" algn="just">
              <a:buNone/>
            </a:pPr>
            <a:r>
              <a:rPr lang="ru-RU" sz="1600" b="1" dirty="0">
                <a:latin typeface="Calibri" panose="020F0502020204030204" pitchFamily="34" charset="0"/>
                <a:cs typeface="Calibri" panose="020F0502020204030204" pitchFamily="34" charset="0"/>
              </a:rPr>
              <a:t>Измеряемые метрики: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Clr>
                <a:srgbClr val="3B0076"/>
              </a:buClr>
              <a:buSzPct val="175000"/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время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выполнения</a:t>
            </a: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285750" indent="-285750" algn="just">
              <a:buClr>
                <a:srgbClr val="3B0076"/>
              </a:buClr>
              <a:buSzPct val="175000"/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занимаемая память</a:t>
            </a: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285750" indent="-285750" algn="just">
              <a:buClr>
                <a:srgbClr val="3B0076"/>
              </a:buClr>
              <a:buSzPct val="175000"/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число вызовов хеш-функций</a:t>
            </a: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285750" indent="-285750" algn="just">
              <a:buClr>
                <a:srgbClr val="3B0076"/>
              </a:buClr>
              <a:buSzPct val="175000"/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число обращений к памяти</a:t>
            </a: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285750" indent="-285750" algn="just">
              <a:buClr>
                <a:srgbClr val="3B0076"/>
              </a:buClr>
              <a:buSzPct val="175000"/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число </a:t>
            </a: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перестроений структуры;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70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</a:t>
            </a:r>
            <a:r>
              <a:rPr lang="ru-RU" dirty="0" smtClean="0"/>
              <a:t>сетевой </a:t>
            </a:r>
            <a:r>
              <a:rPr lang="ru-RU" dirty="0"/>
              <a:t>трассы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41533" y="3412067"/>
            <a:ext cx="5350933" cy="301449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/>
              <a:t>Использована реальная сетевая трасса из жилого сегмента сети.</a:t>
            </a:r>
          </a:p>
          <a:p>
            <a:pPr algn="just"/>
            <a:r>
              <a:rPr lang="ru-RU" dirty="0"/>
              <a:t>Основная операция в наблюдаемом профиле </a:t>
            </a:r>
            <a:r>
              <a:rPr lang="ru-RU" dirty="0" smtClean="0"/>
              <a:t>- </a:t>
            </a:r>
            <a:r>
              <a:rPr lang="ru-RU" dirty="0"/>
              <a:t>поиск.</a:t>
            </a:r>
          </a:p>
          <a:p>
            <a:pPr algn="just"/>
            <a:r>
              <a:rPr lang="ru-RU" dirty="0"/>
              <a:t>Новые правила появляются </a:t>
            </a:r>
            <a:r>
              <a:rPr lang="ru-RU" dirty="0" smtClean="0"/>
              <a:t>редко.</a:t>
            </a:r>
          </a:p>
          <a:p>
            <a:pPr algn="just"/>
            <a:r>
              <a:rPr lang="ru-RU" dirty="0" smtClean="0"/>
              <a:t>Новые </a:t>
            </a:r>
            <a:r>
              <a:rPr lang="ru-RU" dirty="0"/>
              <a:t>ключи MAC-VLAN появляются крайне редко, таблица быстро насыщается.</a:t>
            </a:r>
          </a:p>
          <a:p>
            <a:pPr algn="just"/>
            <a:endParaRPr lang="ru-RU" dirty="0" smtClean="0"/>
          </a:p>
          <a:p>
            <a:pPr algn="just"/>
            <a:r>
              <a:rPr lang="ru-RU" dirty="0" smtClean="0"/>
              <a:t>Трасса </a:t>
            </a:r>
            <a:r>
              <a:rPr lang="ru-RU" dirty="0"/>
              <a:t>нехарактерна по размеру для </a:t>
            </a:r>
            <a:r>
              <a:rPr lang="ru-RU" dirty="0" smtClean="0"/>
              <a:t>высоконагруженной сети, для дальнейших экспериментов взяты пропорции </a:t>
            </a:r>
            <a:r>
              <a:rPr lang="ru-RU" dirty="0"/>
              <a:t>между операциями </a:t>
            </a:r>
            <a:r>
              <a:rPr lang="ru-RU" dirty="0" err="1"/>
              <a:t>find</a:t>
            </a:r>
            <a:r>
              <a:rPr lang="ru-RU" dirty="0"/>
              <a:t> / </a:t>
            </a:r>
            <a:r>
              <a:rPr lang="ru-RU" dirty="0" err="1"/>
              <a:t>update</a:t>
            </a:r>
            <a:r>
              <a:rPr lang="ru-RU" dirty="0"/>
              <a:t> / </a:t>
            </a:r>
            <a:r>
              <a:rPr lang="ru-RU" dirty="0" err="1"/>
              <a:t>insert</a:t>
            </a:r>
            <a:r>
              <a:rPr lang="ru-RU" dirty="0" smtClean="0"/>
              <a:t>,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6282268" y="1227666"/>
            <a:ext cx="5444064" cy="1786467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88476" y="3953933"/>
            <a:ext cx="6100657" cy="2211071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88476" y="1227666"/>
            <a:ext cx="6100657" cy="24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4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/>
              <a:t>Результаты </a:t>
            </a:r>
            <a:r>
              <a:rPr lang="ru-RU" b="0" dirty="0" smtClean="0"/>
              <a:t>исследования. Построение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967133" y="1273018"/>
            <a:ext cx="3767667" cy="4814515"/>
          </a:xfrm>
        </p:spPr>
        <p:txBody>
          <a:bodyPr>
            <a:noAutofit/>
          </a:bodyPr>
          <a:lstStyle/>
          <a:p>
            <a:pPr algn="just"/>
            <a:r>
              <a:rPr lang="ru-RU" sz="1600" dirty="0"/>
              <a:t>Э</a:t>
            </a:r>
            <a:r>
              <a:rPr lang="ru-RU" sz="1600" dirty="0" smtClean="0"/>
              <a:t>ффективнее </a:t>
            </a:r>
            <a:r>
              <a:rPr lang="ru-RU" sz="1600" dirty="0"/>
              <a:t>по числу </a:t>
            </a:r>
            <a:r>
              <a:rPr lang="ru-RU" sz="1600" dirty="0" err="1"/>
              <a:t>хеш</a:t>
            </a:r>
            <a:r>
              <a:rPr lang="ru-RU" sz="1600" dirty="0"/>
              <a:t>-вызовов и обращений к памяти.</a:t>
            </a:r>
          </a:p>
          <a:p>
            <a:pPr algn="just"/>
            <a:endParaRPr lang="ru-RU" sz="1600" dirty="0" smtClean="0"/>
          </a:p>
          <a:p>
            <a:pPr algn="just"/>
            <a:r>
              <a:rPr lang="ru-RU" sz="1600" dirty="0"/>
              <a:t>П</a:t>
            </a:r>
            <a:r>
              <a:rPr lang="ru-RU" sz="1600" dirty="0" smtClean="0"/>
              <a:t>остроение </a:t>
            </a:r>
            <a:r>
              <a:rPr lang="ru-RU" sz="1600" dirty="0"/>
              <a:t>выполняется как глобальная </a:t>
            </a:r>
            <a:r>
              <a:rPr lang="ru-RU" sz="1600" dirty="0" smtClean="0"/>
              <a:t>функция формирования структуры представления</a:t>
            </a:r>
            <a:r>
              <a:rPr lang="ru-RU" sz="1600" dirty="0"/>
              <a:t>, а не как серия </a:t>
            </a:r>
            <a:r>
              <a:rPr lang="ru-RU" sz="1600" dirty="0" smtClean="0"/>
              <a:t>вставок.</a:t>
            </a:r>
            <a:endParaRPr lang="ru-RU" sz="1600" dirty="0"/>
          </a:p>
          <a:p>
            <a:pPr algn="just"/>
            <a:endParaRPr lang="ru-RU" sz="1600" dirty="0" smtClean="0"/>
          </a:p>
          <a:p>
            <a:pPr algn="just"/>
            <a:r>
              <a:rPr lang="ru-RU" sz="1600" dirty="0"/>
              <a:t>П</a:t>
            </a:r>
            <a:r>
              <a:rPr lang="ru-RU" sz="1600" dirty="0" smtClean="0"/>
              <a:t>о </a:t>
            </a:r>
            <a:r>
              <a:rPr lang="ru-RU" sz="1600" dirty="0"/>
              <a:t>времени </a:t>
            </a:r>
            <a:r>
              <a:rPr lang="ru-RU" sz="1600" dirty="0" smtClean="0"/>
              <a:t>Отелло уступает, так как много накладных расходов: построение </a:t>
            </a:r>
            <a:r>
              <a:rPr lang="ru-RU" sz="1600" dirty="0"/>
              <a:t>двудольного графа, проверка корректности, инициализация </a:t>
            </a:r>
            <a:r>
              <a:rPr lang="ru-RU" sz="1600" dirty="0" smtClean="0"/>
              <a:t>массивов.</a:t>
            </a:r>
            <a:endParaRPr lang="ru-RU" sz="1600" dirty="0"/>
          </a:p>
          <a:p>
            <a:pPr marL="50800" indent="0" algn="just">
              <a:buNone/>
            </a:pPr>
            <a:r>
              <a:rPr lang="ru-RU" sz="1600" dirty="0" smtClean="0"/>
              <a:t>.</a:t>
            </a:r>
            <a:endParaRPr lang="ru-RU" sz="1600" dirty="0"/>
          </a:p>
          <a:p>
            <a:pPr marL="50800" indent="0" algn="just">
              <a:buNone/>
            </a:pPr>
            <a:r>
              <a:rPr lang="ru-RU" sz="1600" dirty="0" smtClean="0"/>
              <a:t>Отелло </a:t>
            </a:r>
            <a:r>
              <a:rPr lang="ru-RU" sz="1600" dirty="0"/>
              <a:t>переносит сложность на этап </a:t>
            </a:r>
            <a:r>
              <a:rPr lang="ru-RU" sz="1600" dirty="0" smtClean="0"/>
              <a:t>построения, </a:t>
            </a:r>
            <a:r>
              <a:rPr lang="ru-RU" sz="1600" dirty="0"/>
              <a:t>чтобы упростить </a:t>
            </a:r>
            <a:r>
              <a:rPr lang="ru-RU" sz="1600" dirty="0" smtClean="0"/>
              <a:t>последующие поиск и вставку.</a:t>
            </a: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3018"/>
            <a:ext cx="3606800" cy="20429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381" y="1273018"/>
            <a:ext cx="3506152" cy="204290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01314" y="3437467"/>
            <a:ext cx="6062133" cy="335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4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idx="1"/>
          </p:nvPr>
        </p:nvSpPr>
        <p:spPr>
          <a:xfrm>
            <a:off x="304377" y="4284133"/>
            <a:ext cx="5351356" cy="231139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/>
              <a:t>Время поиска  остаётся </a:t>
            </a:r>
            <a:r>
              <a:rPr lang="ru-RU" dirty="0"/>
              <a:t>стабильным при росте размера таблицы.</a:t>
            </a:r>
          </a:p>
          <a:p>
            <a:pPr algn="just"/>
            <a:r>
              <a:rPr lang="ru-RU" dirty="0"/>
              <a:t>П</a:t>
            </a:r>
            <a:r>
              <a:rPr lang="ru-RU" dirty="0" smtClean="0"/>
              <a:t>оиск </a:t>
            </a:r>
            <a:r>
              <a:rPr lang="ru-RU" dirty="0"/>
              <a:t>выполняется по жёстко фиксированной </a:t>
            </a:r>
            <a:r>
              <a:rPr lang="ru-RU" dirty="0" smtClean="0"/>
              <a:t>схеме: две </a:t>
            </a:r>
            <a:r>
              <a:rPr lang="ru-RU" dirty="0"/>
              <a:t>хеш-функции, два обращения к массивам, один XOR.</a:t>
            </a:r>
          </a:p>
          <a:p>
            <a:pPr algn="just"/>
            <a:r>
              <a:rPr lang="ru-RU" dirty="0" smtClean="0"/>
              <a:t>Времени </a:t>
            </a:r>
            <a:r>
              <a:rPr lang="ru-RU" dirty="0"/>
              <a:t>поиска Отелло уступает </a:t>
            </a:r>
            <a:r>
              <a:rPr lang="ru-RU" dirty="0" smtClean="0"/>
              <a:t>Кукушке, так как алгоритм </a:t>
            </a:r>
            <a:r>
              <a:rPr lang="ru-RU" dirty="0"/>
              <a:t>всегда делает полный набор операций, тогда как у </a:t>
            </a:r>
            <a:r>
              <a:rPr lang="ru-RU" dirty="0" smtClean="0"/>
              <a:t>Кукушки в среднем получается меньше операций.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idx="2"/>
          </p:nvPr>
        </p:nvSpPr>
        <p:spPr>
          <a:xfrm>
            <a:off x="6070599" y="4241800"/>
            <a:ext cx="5511799" cy="2336799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Для модифицированного Отелло вставка </a:t>
            </a:r>
            <a:r>
              <a:rPr lang="ru-RU" sz="1800" dirty="0" smtClean="0"/>
              <a:t>эффективнее по времени, чем </a:t>
            </a:r>
            <a:r>
              <a:rPr lang="ru-RU" sz="1800" dirty="0"/>
              <a:t>у кукушкиного </a:t>
            </a:r>
            <a:r>
              <a:rPr lang="ru-RU" sz="1800" dirty="0" err="1"/>
              <a:t>хеша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Причина </a:t>
            </a:r>
            <a:r>
              <a:rPr lang="ru-RU" sz="1800" dirty="0" smtClean="0"/>
              <a:t>- </a:t>
            </a:r>
            <a:r>
              <a:rPr lang="ru-RU" sz="1800" dirty="0"/>
              <a:t>локальный характер </a:t>
            </a:r>
            <a:r>
              <a:rPr lang="ru-RU" sz="1800" dirty="0" smtClean="0"/>
              <a:t>вставки: изменяется </a:t>
            </a:r>
            <a:r>
              <a:rPr lang="ru-RU" sz="1800" dirty="0"/>
              <a:t>только одна компонента связности.</a:t>
            </a:r>
          </a:p>
          <a:p>
            <a:pPr algn="just"/>
            <a:r>
              <a:rPr lang="ru-RU" sz="1800" dirty="0"/>
              <a:t>В </a:t>
            </a:r>
            <a:r>
              <a:rPr lang="ru-RU" sz="1800" dirty="0" smtClean="0"/>
              <a:t>Кукушкином </a:t>
            </a:r>
            <a:r>
              <a:rPr lang="ru-RU" sz="1800" dirty="0" err="1"/>
              <a:t>хеше</a:t>
            </a:r>
            <a:r>
              <a:rPr lang="ru-RU" sz="1800" dirty="0"/>
              <a:t> вставка может запускать цепочки вытеснений и </a:t>
            </a:r>
            <a:r>
              <a:rPr lang="ru-RU" sz="1800" dirty="0" smtClean="0"/>
              <a:t>перестроения.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/>
              <a:t>Результаты исследования. </a:t>
            </a:r>
            <a:r>
              <a:rPr lang="ru-RU" b="0" dirty="0" smtClean="0"/>
              <a:t>Поиск и вставка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4377" y="1263650"/>
            <a:ext cx="5351356" cy="286808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011332" y="1263651"/>
            <a:ext cx="5571067" cy="286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5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/>
              <a:t>Результаты исследования. </a:t>
            </a:r>
            <a:r>
              <a:rPr lang="ru-RU" b="0" dirty="0" smtClean="0"/>
              <a:t>Память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40132" y="1405467"/>
            <a:ext cx="3589868" cy="5078035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Модифицированный Отелло занимает существенно меньше </a:t>
            </a:r>
            <a:r>
              <a:rPr lang="ru-RU" dirty="0" smtClean="0"/>
              <a:t>памяти: для операции поиска достаточно использовать поисковую структуру.</a:t>
            </a:r>
          </a:p>
          <a:p>
            <a:endParaRPr lang="ru-RU" dirty="0"/>
          </a:p>
          <a:p>
            <a:r>
              <a:rPr lang="ru-RU" dirty="0" smtClean="0"/>
              <a:t>Вся </a:t>
            </a:r>
            <a:r>
              <a:rPr lang="ru-RU" dirty="0"/>
              <a:t>служебная логика сопровождения вынесена в </a:t>
            </a:r>
            <a:r>
              <a:rPr lang="ru-RU" dirty="0" smtClean="0"/>
              <a:t>структуру управления.</a:t>
            </a:r>
          </a:p>
          <a:p>
            <a:endParaRPr lang="ru-RU" dirty="0"/>
          </a:p>
          <a:p>
            <a:r>
              <a:rPr lang="ru-RU" dirty="0" smtClean="0"/>
              <a:t>У </a:t>
            </a:r>
            <a:r>
              <a:rPr lang="ru-RU" dirty="0"/>
              <a:t>кукушки </a:t>
            </a:r>
            <a:r>
              <a:rPr lang="ru-RU" dirty="0" smtClean="0"/>
              <a:t>память растёт быстрее, поскольку структура неделима и для поиска нужна целиком.</a:t>
            </a:r>
          </a:p>
          <a:p>
            <a:endParaRPr lang="ru-RU" dirty="0" smtClean="0"/>
          </a:p>
          <a:p>
            <a:r>
              <a:rPr lang="ru-RU" dirty="0" smtClean="0"/>
              <a:t>Ступенчатый </a:t>
            </a:r>
            <a:r>
              <a:rPr lang="ru-RU" dirty="0"/>
              <a:t>рост у Отелло объясняется дискретным изменением размера массивов</a:t>
            </a:r>
            <a:r>
              <a:rPr lang="ru-RU" dirty="0" smtClean="0"/>
              <a:t>.</a:t>
            </a:r>
          </a:p>
          <a:p>
            <a:pPr marL="5080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6266" y="1405467"/>
            <a:ext cx="7416801" cy="41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6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>
            <a:spLocks noGrp="1"/>
          </p:cNvSpPr>
          <p:nvPr>
            <p:ph type="title"/>
          </p:nvPr>
        </p:nvSpPr>
        <p:spPr>
          <a:xfrm>
            <a:off x="308811" y="239997"/>
            <a:ext cx="10515600" cy="7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0" dirty="0"/>
              <a:t>Результаты </a:t>
            </a:r>
            <a:r>
              <a:rPr lang="ru-RU" b="0" dirty="0" smtClean="0"/>
              <a:t>работы</a:t>
            </a:r>
            <a:endParaRPr dirty="0"/>
          </a:p>
        </p:txBody>
      </p:sp>
      <p:sp>
        <p:nvSpPr>
          <p:cNvPr id="260" name="Google Shape;260;p32"/>
          <p:cNvSpPr txBox="1">
            <a:spLocks noGrp="1"/>
          </p:cNvSpPr>
          <p:nvPr>
            <p:ph type="body" idx="1"/>
          </p:nvPr>
        </p:nvSpPr>
        <p:spPr>
          <a:xfrm>
            <a:off x="308811" y="1185333"/>
            <a:ext cx="11290522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 algn="just">
              <a:spcBef>
                <a:spcPts val="600"/>
              </a:spcBef>
              <a:buSzPct val="100000"/>
            </a:pPr>
            <a:r>
              <a:rPr lang="ru-RU" sz="1600" dirty="0" smtClean="0"/>
              <a:t>Разработан </a:t>
            </a:r>
            <a:r>
              <a:rPr lang="ru-RU" sz="1600" dirty="0"/>
              <a:t>и реализован модифицированный метод Отелло хеширования для таблицы </a:t>
            </a:r>
            <a:r>
              <a:rPr lang="ru-RU" sz="1600" dirty="0" smtClean="0"/>
              <a:t>MAC-VLAN;</a:t>
            </a:r>
          </a:p>
          <a:p>
            <a:pPr marL="285750" indent="-285750" algn="just">
              <a:spcBef>
                <a:spcPts val="600"/>
              </a:spcBef>
              <a:buSzPct val="100000"/>
            </a:pPr>
            <a:r>
              <a:rPr lang="ru-RU" sz="1600" dirty="0" smtClean="0"/>
              <a:t>Введено </a:t>
            </a:r>
            <a:r>
              <a:rPr lang="ru-RU" sz="1600" dirty="0"/>
              <a:t>разделение на </a:t>
            </a:r>
            <a:r>
              <a:rPr lang="ru-RU" sz="1600" dirty="0" smtClean="0"/>
              <a:t>поисковую </a:t>
            </a:r>
            <a:r>
              <a:rPr lang="ru-RU" sz="1600" dirty="0"/>
              <a:t>и управляющую </a:t>
            </a:r>
            <a:r>
              <a:rPr lang="ru-RU" sz="1600" dirty="0" smtClean="0"/>
              <a:t>структуры;</a:t>
            </a:r>
          </a:p>
          <a:p>
            <a:pPr marL="285750" indent="-285750" algn="just">
              <a:spcBef>
                <a:spcPts val="600"/>
              </a:spcBef>
              <a:buSzPct val="100000"/>
            </a:pPr>
            <a:r>
              <a:rPr lang="ru-RU" sz="1600" dirty="0" smtClean="0"/>
              <a:t>Реализована операция обновления, а также двудольный граф и структура управления компонентами связности;</a:t>
            </a:r>
          </a:p>
          <a:p>
            <a:pPr marL="285750" indent="-285750" algn="just">
              <a:spcBef>
                <a:spcPts val="600"/>
              </a:spcBef>
              <a:buSzPct val="100000"/>
            </a:pPr>
            <a:r>
              <a:rPr lang="ru-RU" sz="1600" dirty="0" smtClean="0"/>
              <a:t>Проведён анализ сетевой трассы;</a:t>
            </a:r>
          </a:p>
          <a:p>
            <a:pPr marL="285750" indent="-285750" algn="just">
              <a:spcBef>
                <a:spcPts val="600"/>
              </a:spcBef>
              <a:buSzPct val="100000"/>
            </a:pPr>
            <a:r>
              <a:rPr lang="ru-RU" sz="1600" dirty="0" smtClean="0"/>
              <a:t>Построен </a:t>
            </a:r>
            <a:r>
              <a:rPr lang="ru-RU" sz="1600" dirty="0"/>
              <a:t>экспериментальный </a:t>
            </a:r>
            <a:r>
              <a:rPr lang="ru-RU" sz="1600" dirty="0" smtClean="0"/>
              <a:t>стенд, реализованы дополнительные алгоритмы для сравнения;</a:t>
            </a:r>
          </a:p>
          <a:p>
            <a:pPr marL="285750" indent="-285750" algn="just">
              <a:spcBef>
                <a:spcPts val="600"/>
              </a:spcBef>
              <a:buSzPct val="100000"/>
            </a:pPr>
            <a:r>
              <a:rPr lang="ru-RU" sz="1600" dirty="0" smtClean="0"/>
              <a:t>Выполнено сравнительное экспериментальное исследование с Кукушкиным </a:t>
            </a:r>
            <a:r>
              <a:rPr lang="ru-RU" sz="1600" dirty="0" err="1" smtClean="0"/>
              <a:t>хешем</a:t>
            </a:r>
            <a:r>
              <a:rPr lang="ru-RU" sz="1600" dirty="0" smtClean="0"/>
              <a:t>.</a:t>
            </a:r>
          </a:p>
          <a:p>
            <a:pPr marL="0" indent="0" algn="just">
              <a:spcBef>
                <a:spcPts val="600"/>
              </a:spcBef>
              <a:buSzPct val="100000"/>
              <a:buNone/>
            </a:pPr>
            <a:endParaRPr lang="ru-RU" sz="1600" dirty="0" smtClean="0"/>
          </a:p>
          <a:p>
            <a:pPr marL="0" indent="0" algn="just">
              <a:spcBef>
                <a:spcPts val="600"/>
              </a:spcBef>
              <a:buSzPct val="100000"/>
              <a:buNone/>
            </a:pPr>
            <a:r>
              <a:rPr lang="ru-RU" sz="1600" b="1" dirty="0"/>
              <a:t>Вывод</a:t>
            </a:r>
          </a:p>
          <a:p>
            <a:pPr marL="0" indent="0" algn="just">
              <a:spcBef>
                <a:spcPts val="600"/>
              </a:spcBef>
              <a:buSzPct val="100000"/>
              <a:buNone/>
            </a:pPr>
            <a:r>
              <a:rPr lang="ru-RU" sz="1600" dirty="0" smtClean="0"/>
              <a:t>По </a:t>
            </a:r>
            <a:r>
              <a:rPr lang="ru-RU" sz="1600" dirty="0"/>
              <a:t>сравнению с классическим </a:t>
            </a:r>
            <a:r>
              <a:rPr lang="ru-RU" sz="1600" dirty="0" smtClean="0"/>
              <a:t>Кукушкиным </a:t>
            </a:r>
            <a:r>
              <a:rPr lang="ru-RU" sz="1600" dirty="0" err="1"/>
              <a:t>хешем</a:t>
            </a:r>
            <a:r>
              <a:rPr lang="ru-RU" sz="1600" dirty="0"/>
              <a:t> модифицированный Отелло обеспечивает:</a:t>
            </a:r>
          </a:p>
          <a:p>
            <a:pPr marL="171450" indent="-171450" algn="just">
              <a:spcBef>
                <a:spcPts val="600"/>
              </a:spcBef>
              <a:buSzPct val="100000"/>
            </a:pPr>
            <a:r>
              <a:rPr lang="ru-RU" sz="1600" dirty="0"/>
              <a:t>более </a:t>
            </a:r>
            <a:r>
              <a:rPr lang="ru-RU" sz="1600" dirty="0" smtClean="0"/>
              <a:t>предсказуемую стоимость операции поиска;</a:t>
            </a:r>
            <a:endParaRPr lang="ru-RU" sz="1600" dirty="0"/>
          </a:p>
          <a:p>
            <a:pPr marL="171450" indent="-171450" algn="just">
              <a:spcBef>
                <a:spcPts val="600"/>
              </a:spcBef>
              <a:buSzPct val="100000"/>
            </a:pPr>
            <a:r>
              <a:rPr lang="ru-RU" sz="1600" dirty="0"/>
              <a:t>более эффективную </a:t>
            </a:r>
            <a:r>
              <a:rPr lang="ru-RU" sz="1600" dirty="0" smtClean="0"/>
              <a:t>по времени вставку</a:t>
            </a:r>
            <a:r>
              <a:rPr lang="ru-RU" sz="1600" dirty="0"/>
              <a:t>;</a:t>
            </a:r>
          </a:p>
          <a:p>
            <a:pPr marL="171450" indent="-171450" algn="just">
              <a:spcBef>
                <a:spcPts val="600"/>
              </a:spcBef>
              <a:buSzPct val="100000"/>
            </a:pPr>
            <a:r>
              <a:rPr lang="ru-RU" sz="1600" dirty="0"/>
              <a:t>более компактную </a:t>
            </a:r>
            <a:r>
              <a:rPr lang="ru-RU" sz="1600" dirty="0" smtClean="0"/>
              <a:t>по памяти поисковую </a:t>
            </a:r>
            <a:r>
              <a:rPr lang="ru-RU" sz="1600" dirty="0"/>
              <a:t>структуру;</a:t>
            </a:r>
          </a:p>
          <a:p>
            <a:pPr marL="0" indent="0" algn="just">
              <a:spcBef>
                <a:spcPts val="600"/>
              </a:spcBef>
              <a:buSzPct val="100000"/>
              <a:buNone/>
            </a:pPr>
            <a:r>
              <a:rPr lang="ru-RU" sz="1600" dirty="0" smtClean="0"/>
              <a:t>Тем </a:t>
            </a:r>
            <a:r>
              <a:rPr lang="ru-RU" sz="1600" dirty="0"/>
              <a:t>самым модифицированный Отелло можно рассматривать как перспективную структуру данных для задач сетевой классификации, где важны компактность, стабильность поиска и </a:t>
            </a:r>
            <a:r>
              <a:rPr lang="ru-RU" sz="1600" dirty="0" smtClean="0"/>
              <a:t>поддержка динамических операций над таблицами классификаций.</a:t>
            </a:r>
            <a:endParaRPr lang="ru-RU" sz="1600" dirty="0" smtClean="0"/>
          </a:p>
          <a:p>
            <a:pPr marL="0" lvl="0" indent="0" algn="just">
              <a:spcBef>
                <a:spcPts val="600"/>
              </a:spcBef>
              <a:buSzPct val="100000"/>
              <a:buNone/>
            </a:pPr>
            <a:endParaRPr lang="ru-RU" sz="1400" dirty="0"/>
          </a:p>
          <a:p>
            <a:pPr marL="0" lvl="0" indent="0" algn="just">
              <a:spcBef>
                <a:spcPts val="600"/>
              </a:spcBef>
              <a:buSzPct val="100000"/>
              <a:buNone/>
            </a:pPr>
            <a:endParaRPr lang="ru-RU" sz="1400" dirty="0" smtClean="0"/>
          </a:p>
          <a:p>
            <a:pPr marL="0" lvl="0" indent="0" algn="just">
              <a:spcBef>
                <a:spcPts val="600"/>
              </a:spcBef>
              <a:buSzPct val="100000"/>
              <a:buNone/>
            </a:pPr>
            <a:endParaRPr lang="ru-RU" sz="1400" dirty="0"/>
          </a:p>
          <a:p>
            <a:pPr marL="0" lvl="0" indent="0" algn="just">
              <a:spcBef>
                <a:spcPts val="600"/>
              </a:spcBef>
              <a:buSzPct val="100000"/>
              <a:buNone/>
            </a:pPr>
            <a:endParaRPr lang="ru-RU" sz="1400" dirty="0" smtClean="0"/>
          </a:p>
          <a:p>
            <a:pPr marL="228600" lvl="0" indent="-228600" algn="just">
              <a:spcBef>
                <a:spcPts val="600"/>
              </a:spcBef>
              <a:buSzPct val="100000"/>
            </a:pPr>
            <a:endParaRPr sz="1400" dirty="0"/>
          </a:p>
        </p:txBody>
      </p:sp>
      <p:sp>
        <p:nvSpPr>
          <p:cNvPr id="261" name="Google Shape;261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Гудис А.В.</a:t>
            </a: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ldNum" idx="12"/>
          </p:nvPr>
        </p:nvSpPr>
        <p:spPr>
          <a:xfrm>
            <a:off x="9226617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</TotalTime>
  <Words>952</Words>
  <Application>Microsoft Office PowerPoint</Application>
  <PresentationFormat>Произвольный</PresentationFormat>
  <Paragraphs>140</Paragraphs>
  <Slides>12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Исследование модифицированного метода Отелло-хеширования для доступа к таблицам классификации в архитектуре сетевого процессорного устройства</vt:lpstr>
      <vt:lpstr>Постановка и описание задачи</vt:lpstr>
      <vt:lpstr>Мотивация к модификации</vt:lpstr>
      <vt:lpstr>Отелло хеширование</vt:lpstr>
      <vt:lpstr>Отелло хеширование. Операции</vt:lpstr>
      <vt:lpstr>Программная реализация</vt:lpstr>
      <vt:lpstr>Экспериментальное исследование</vt:lpstr>
      <vt:lpstr>Анализ сетевой трассы</vt:lpstr>
      <vt:lpstr>Результаты исследования. Построение</vt:lpstr>
      <vt:lpstr>Результаты исследования. Поиск и вставка</vt:lpstr>
      <vt:lpstr>Результаты исследования. Память</vt:lpstr>
      <vt:lpstr>Результаты работы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метода Отелло-хеширования для доступа к таблицам классификации в архитектуре сетевого процессорного устройства</dc:title>
  <dc:creator>Александр</dc:creator>
  <cp:lastModifiedBy>Александр</cp:lastModifiedBy>
  <cp:revision>56</cp:revision>
  <dcterms:modified xsi:type="dcterms:W3CDTF">2026-04-27T18:33:36Z</dcterms:modified>
</cp:coreProperties>
</file>